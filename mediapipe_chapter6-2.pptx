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5" autoAdjust="0"/>
    <p:restoredTop sz="94610"/>
  </p:normalViewPr>
  <p:slideViewPr>
    <p:cSldViewPr snapToGrid="0" snapToObjects="1">
      <p:cViewPr>
        <p:scale>
          <a:sx n="169" d="100"/>
          <a:sy n="169" d="100"/>
        </p:scale>
        <p:origin x="130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206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0F9B8E">
              <a:alpha val="60000"/>
            </a:srgbClr>
          </a:solidFill>
          <a:ln w="12700">
            <a:solidFill>
              <a:srgbClr val="0F9B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2011680" cy="4114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6장 빅데이터 실습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랜드마크와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인식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5029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</a:rPr>
              <a:t>MediaPipe Hands · 랜드마크 좌표 · 손가락 펴짐 판단 · 양손 인식 · 제스처 확장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118872" cy="118872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0" y="1463040"/>
            <a:ext cx="118872" cy="118872"/>
          </a:xfrm>
          <a:prstGeom prst="ellipse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498080" y="1188720"/>
            <a:ext cx="118872" cy="118872"/>
          </a:xfrm>
          <a:prstGeom prst="ellipse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223760" y="1051560"/>
            <a:ext cx="118872" cy="118872"/>
          </a:xfrm>
          <a:prstGeom prst="ellipse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995160" y="1005840"/>
            <a:ext cx="118872" cy="118872"/>
          </a:xfrm>
          <a:prstGeom prst="ellipse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46720" y="228600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0" y="19202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726680" y="16916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589520" y="155448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228600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046720" y="19202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909560" y="16916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772400" y="155448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21040" y="23774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201168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046720" y="178308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909560" y="164592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412480" y="246888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321040" y="21488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83880" y="192024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046720" y="1783080"/>
            <a:ext cx="118872" cy="118872"/>
          </a:xfrm>
          <a:prstGeom prst="ellipse">
            <a:avLst/>
          </a:prstGeom>
          <a:solidFill>
            <a:srgbClr val="0F9B8E">
              <a:alpha val="7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6858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Hands 구조 이해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261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 랜드마크, (x,y,z) 좌표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731520" cy="6858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펴짐 판단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066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/ PIP 좌표 비교 알고리즘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731520" cy="6858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523744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569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인식 코드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871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손 기반 실시간 카운팅 구현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82296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731520" cy="6858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3741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인식 및 구분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multi_hand_landmarks, handedness 활용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731520" cy="6858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413308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178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제스처 확장 코드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4480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주먹·가위·보 등 제스처 패턴 설계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B8E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Hands 구조 이해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5303520" cy="4160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 모델 특징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21개의 랜드마크를 추출하여 손의 형태를 정밀하게 분석합니다.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랜드마크는 (x, y, z) 좌표 형태로 표현됩니다.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손목, 손가락 마디, 손가락 끝점 등 손의 주요 구조를 나타냅니다.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손가락의 방향, 굽힘 정도, 손 전체의 형태를 분석할 수 있습니다.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내부의 세부 구조를 함께 추출하여 다양한 응용이 가능합니다.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응용 분야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554480" cy="640080"/>
          </a:xfrm>
          <a:prstGeom prst="rect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인식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76272" y="3977640"/>
            <a:ext cx="1554480" cy="640080"/>
          </a:xfrm>
          <a:prstGeom prst="rect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176272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제스처 분류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95344" y="3977640"/>
            <a:ext cx="1554480" cy="640080"/>
          </a:xfrm>
          <a:prstGeom prst="rect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95344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기반 인터페이스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822960"/>
            <a:ext cx="3246120" cy="4160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52160" y="868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 랜드마크 구조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9480" y="429768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949440" y="3657600"/>
            <a:ext cx="13716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086600" y="310896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2651760"/>
            <a:ext cx="457200" cy="41148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269480" y="4297680"/>
            <a:ext cx="914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269480" y="251460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223760" y="205740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78040" y="1691640"/>
            <a:ext cx="457200" cy="132588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269480" y="4297680"/>
            <a:ext cx="32004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589520" y="242316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543800" y="192024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498080" y="1536192"/>
            <a:ext cx="365760" cy="1527048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269480" y="4297680"/>
            <a:ext cx="59436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863840" y="246888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818120" y="196596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772400" y="1572768"/>
            <a:ext cx="320040" cy="1581912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269480" y="4297680"/>
            <a:ext cx="850392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119872" y="2560320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092440" y="2084832"/>
            <a:ext cx="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269480" y="2514600"/>
            <a:ext cx="320040" cy="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589520" y="2423160"/>
            <a:ext cx="274320" cy="4572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7863840" y="2468880"/>
            <a:ext cx="256032" cy="91440"/>
          </a:xfrm>
          <a:prstGeom prst="line">
            <a:avLst/>
          </a:prstGeom>
          <a:noFill/>
          <a:ln w="19050">
            <a:solidFill>
              <a:srgbClr val="4A7B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178040" y="4206240"/>
            <a:ext cx="173736" cy="1737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159752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58000" y="356616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83971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995160" y="3017520"/>
            <a:ext cx="173736" cy="17373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97687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812280" y="2560320"/>
            <a:ext cx="173736" cy="1737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793992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269480" y="297180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251192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78040" y="242316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159752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132320" y="1965960"/>
            <a:ext cx="173736" cy="17373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114032" y="1947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086600" y="1600200"/>
            <a:ext cx="173736" cy="1737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068312" y="1581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543800" y="292608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7525512" y="2907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498080" y="233172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479792" y="2313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52360" y="1828800"/>
            <a:ext cx="173736" cy="17373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7434072" y="1810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406640" y="1444752"/>
            <a:ext cx="173736" cy="1737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7388352" y="1426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772400" y="297180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754112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12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772400" y="237744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7754112" y="2359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13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726680" y="1874520"/>
            <a:ext cx="173736" cy="17373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7708392" y="1856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14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680960" y="1481328"/>
            <a:ext cx="173736" cy="1737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662672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15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001000" y="306324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7982712" y="3044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16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28432" y="2468880"/>
            <a:ext cx="173736" cy="17373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8010144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17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001000" y="1993392"/>
            <a:ext cx="173736" cy="17373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982712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973568" y="1627632"/>
            <a:ext cx="173736" cy="1737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7955280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19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852160" y="411480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6035040" y="40873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(0)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852160" y="4315968"/>
            <a:ext cx="128016" cy="128016"/>
          </a:xfrm>
          <a:prstGeom prst="ellipse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035040" y="42885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 (MCP/IP)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852160" y="4517136"/>
            <a:ext cx="128016" cy="12801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6035040" y="44897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중간관절 (PIP)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852160" y="4718304"/>
            <a:ext cx="128016" cy="12801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6035040" y="46908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끝 (TIP)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펴짐 판단 원리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원리: </a:t>
            </a: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좌표계에서 위쪽일수록 y값이 작습니다. 따라서 손가락 끝점(TIP)의 y좌표가 중간 관절(PIP)의 y좌표보다 작으면 손가락이 펴진 상태입니다.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719072"/>
            <a:ext cx="64008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71600" y="17190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INDEX_FINGER_TIP.y  </a:t>
            </a:r>
            <a:r>
              <a:rPr lang="en-US" sz="17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</a:t>
            </a:r>
            <a:r>
              <a:rPr lang="en-US" sz="1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INDEX_FINGER_PIP.y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411480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4114800" cy="320040"/>
          </a:xfrm>
          <a:prstGeom prst="rect">
            <a:avLst/>
          </a:prstGeom>
          <a:solidFill>
            <a:srgbClr val="1A4731"/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펴짐 (TIPy &lt; PIPy)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274320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331720" y="2761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#8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y = 75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93976" y="3063240"/>
            <a:ext cx="54864" cy="5029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965960" y="3566160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33172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 #7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84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y = 175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788920"/>
            <a:ext cx="27432" cy="10972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CC71"/>
                </a:solidFill>
              </a:rPr>
              <a:t>TIPy &lt; PIPy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487168"/>
            <a:ext cx="411480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09160" y="2487168"/>
            <a:ext cx="4114800" cy="320040"/>
          </a:xfrm>
          <a:prstGeom prst="rect">
            <a:avLst/>
          </a:prstGeom>
          <a:solidFill>
            <a:srgbClr val="4A1A1A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0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접힘 (TIPy &gt; PIPy)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2743200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720840" y="2761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 #7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y = 125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333756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720840" y="3355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4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#8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y = 170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엄지손가락은 방향이 달라 x좌표를 기준으로 판단합니다. (이 예제에서는 검지/중지/약지/새끼 4개 손가락 분석)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비교 알고리즘 흐름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920240" cy="1463040"/>
          </a:xfrm>
          <a:prstGeom prst="rect">
            <a:avLst/>
          </a:prstGeom>
          <a:solidFill>
            <a:srgbClr val="0F9B8E">
              <a:alpha val="30000"/>
            </a:srgbClr>
          </a:solidFill>
          <a:ln w="12700">
            <a:solidFill>
              <a:srgbClr val="0F9B8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920240" cy="4114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① 입력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랜드마크 추출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 점 (x,y,z)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95728" y="1435608"/>
            <a:ext cx="155448" cy="5486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60320" y="822960"/>
            <a:ext cx="1920240" cy="1463040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560320" y="822960"/>
            <a:ext cx="1920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② 비교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126187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/ PIP 비교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손가락 각각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8848" y="1435608"/>
            <a:ext cx="155448" cy="5486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1920240" cy="1463040"/>
          </a:xfrm>
          <a:prstGeom prst="rect">
            <a:avLst/>
          </a:prstGeom>
          <a:solidFill>
            <a:srgbClr val="9B59B6">
              <a:alpha val="30000"/>
            </a:srgbClr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192024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③ 판별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126187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판별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펴짐=1 / 접힘=0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01968" y="1435608"/>
            <a:ext cx="155448" cy="5486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766560" y="822960"/>
            <a:ext cx="1920240" cy="1463040"/>
          </a:xfrm>
          <a:prstGeom prst="rect">
            <a:avLst/>
          </a:prstGeom>
          <a:solidFill>
            <a:srgbClr val="E94560">
              <a:alpha val="30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766560" y="822960"/>
            <a:ext cx="192024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④ 출력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126187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 합산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sum([1,0,1,1]) =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2514600"/>
            <a:ext cx="850392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11480" y="2560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손가락별 랜드마크 인덱스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8321040" cy="1920240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손가락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끝점 (TIP) 인덱스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중간관절 (PIP) 인덱스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조건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B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검지 (Index)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lm[8].y &lt; lm[6].y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중지 (Middle)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lm[12].y &lt; lm[10].y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약지 (Ring)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lm[16].y &lt; lm[14].y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새끼 (Pinky)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ED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lm[20].y &lt; lm[18].y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계산 원리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97680" cy="4206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0과 1로 표현하는 손가락 상태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474720" cy="475488"/>
          </a:xfrm>
          <a:prstGeom prst="rect">
            <a:avLst/>
          </a:prstGeom>
          <a:solidFill>
            <a:srgbClr val="3A1A1A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286000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 (Thumb)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325880"/>
            <a:ext cx="1097280" cy="475488"/>
          </a:xfrm>
          <a:prstGeom prst="rect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88920" y="13258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→ 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474720" cy="475488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2286000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 (Index)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1920240"/>
            <a:ext cx="1097280" cy="475488"/>
          </a:xfrm>
          <a:prstGeom prst="rect">
            <a:avLst/>
          </a:prstGeom>
          <a:solidFill>
            <a:srgbClr val="2ECC71">
              <a:alpha val="6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88920" y="19202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펴짐 →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3474720" cy="475488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2286000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2514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 (Middle)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88920" y="2514600"/>
            <a:ext cx="1097280" cy="475488"/>
          </a:xfrm>
          <a:prstGeom prst="rect">
            <a:avLst/>
          </a:prstGeom>
          <a:solidFill>
            <a:srgbClr val="2ECC71">
              <a:alpha val="6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788920" y="25146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펴짐 →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474720" cy="475488"/>
          </a:xfrm>
          <a:prstGeom prst="rect">
            <a:avLst/>
          </a:prstGeom>
          <a:solidFill>
            <a:srgbClr val="3A1A1A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2286000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약지 (Ring)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3108960"/>
            <a:ext cx="1097280" cy="475488"/>
          </a:xfrm>
          <a:prstGeom prst="rect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788920" y="3108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→ 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3474720" cy="475488"/>
          </a:xfrm>
          <a:prstGeom prst="rect">
            <a:avLst/>
          </a:prstGeom>
          <a:solidFill>
            <a:srgbClr val="3A1A1A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2286000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7033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새끼 (Pinky)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88920" y="3703320"/>
            <a:ext cx="1097280" cy="475488"/>
          </a:xfrm>
          <a:prstGeom prst="rect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788920" y="37033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→ 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3474720" cy="548640"/>
          </a:xfrm>
          <a:prstGeom prst="rect">
            <a:avLst/>
          </a:prstGeom>
          <a:solidFill>
            <a:srgbClr val="0F9B8E">
              <a:alpha val="4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343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sum([0, 1, 1, 0, 0]) = 2  →  2개 펴짐!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822960"/>
            <a:ext cx="4114800" cy="4206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가능성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00600" y="1325880"/>
            <a:ext cx="3840480" cy="777240"/>
          </a:xfrm>
          <a:prstGeom prst="rect">
            <a:avLst/>
          </a:prstGeom>
          <a:solidFill>
            <a:srgbClr val="1E2A38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68112" y="1362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입력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68112" y="1673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→ 숫자 0~5 입력 인터페이스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2240280"/>
            <a:ext cx="3840480" cy="777240"/>
          </a:xfrm>
          <a:prstGeom prst="rect">
            <a:avLst/>
          </a:prstGeom>
          <a:solidFill>
            <a:srgbClr val="1E2A38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8463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✌️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68112" y="22768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제스처 분류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68112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조합으로 주먹·가위·보 등 판별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3154680"/>
            <a:ext cx="3840480" cy="777240"/>
          </a:xfrm>
          <a:prstGeom prst="rect">
            <a:avLst/>
          </a:prstGeom>
          <a:solidFill>
            <a:srgbClr val="1E2A38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463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🖐️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468112" y="3191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실행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68112" y="3502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개수 조합으로 시스템 명령 실행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00600" y="4069080"/>
            <a:ext cx="3840480" cy="777240"/>
          </a:xfrm>
          <a:prstGeom prst="rect">
            <a:avLst/>
          </a:prstGeom>
          <a:solidFill>
            <a:srgbClr val="1E2A38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463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🤲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468112" y="4105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조합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68112" y="4416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손의 상태를 결합한 복합 입력 설계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B8E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인식 코드 (1/2)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544068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9966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mediapipe.python.solutions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hands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mp_hands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21615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mediapipe.python.solutions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drawing_utils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mp_drawing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4356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65506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카메라 열기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.VideoCapture(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0939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31343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mp_hands.Hands(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min_detection_confidence=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27523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min_tracking_confidence=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29718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hands: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319125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cap.isOpened():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success, image = cap.read()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6301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success: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38496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0690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이미지 처리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2885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 = cv2.flip(image,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거울처럼 뒤집기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5079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rgb = cv2.cvtColor(image, cv2.COLOR_BGR2RGB)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47274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hands.process(rgb)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0" y="713232"/>
            <a:ext cx="3154680" cy="4343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0" y="758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1188720"/>
            <a:ext cx="2926080" cy="493776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12070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mp_hands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1426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 모델을 불러옵니다. 손 랜드마크 추출에 사용됩니다.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1728216"/>
            <a:ext cx="2926080" cy="493776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17465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mp_drawing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랜드마크와 연결선을 화면에 그리는 기능을 제공합니다.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267712"/>
            <a:ext cx="2926080" cy="493776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89320" y="22860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VideoCapture(0)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25054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웹캠(0번 장치)을 열어 실시간 영상 입력을 시작합니다.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2807208"/>
            <a:ext cx="2926080" cy="493776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89320" y="28254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mp_hands.Hands(...)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3044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검출 및 추적 모델을 생성합니다. 신뢰도 파라미터를 설정합니다.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346704"/>
            <a:ext cx="2926080" cy="493776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89320" y="33649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min_detection_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confidence=0.7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89320" y="3584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손을 검출할 때 요구되는 최소 신뢰도 (0~1)입니다.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3886200"/>
            <a:ext cx="2926080" cy="493776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989320" y="39044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min_tracking_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confidence=0.5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89320" y="4123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후 추적할 때의 최소 신뢰도입니다.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개수 인식 코드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544068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results.multi_hand_landmarks: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921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hand_lm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results.multi_hand_landmarks: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lm = hand_lm.landmark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218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367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손가락 펴짐 감지 (TIP.y &lt; PIP.y)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516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index =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&lt;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검지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middle =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&lt;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중지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814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ring =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&lt;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약지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963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pinky =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&lt; lm[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].y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새끼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7111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손가락 개수 합산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14096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count = index + middle + ring + pinky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7073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화면에 텍스트 출력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7856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cv2.putText(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0005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image,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f"Fingers: {count}"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2153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cv2.FONT_HERSHEY_SIMPLEX,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4302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64515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손 뼈대 그리기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8600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mp_drawing.draw_landmarks(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713232"/>
            <a:ext cx="3154680" cy="4343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0" y="758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1188720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11978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multi_hand_landmarks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13898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인식된 경우에만 실행합니다. None이면 건너뜁니다.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1664208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16733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hand_lm.landmark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18653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랜드마크 21개를 배열로 저장합니다. lm[n]으로 접근합니다.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139696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89320" y="21488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lm[8].y &lt; lm[6].y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23408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 끝(TIP=8)이 중간관절(PIP=6)보다 위에 있으면 펴진 상태입니다.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2615184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89320" y="26243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lm[12].y &lt; lm[10].y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2816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중지: TIP(12) vs PIP(10) 비교입니다.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090672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89320" y="30998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lm[16].y &lt; lm[14].y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89320" y="32918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약지: TIP(16) vs PIP(14) 비교입니다.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3566160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989320" y="35753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lm[20].y &lt; lm[18].y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89320" y="37673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새끼손가락: TIP(20) vs PIP(18) 비교입니다.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4041648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989320" y="40507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index+middle+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ring+pinky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89320" y="4242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펴진 손가락 값(0또는1)을 모두 더해 개수를 계산합니다.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43600" y="4517136"/>
            <a:ext cx="2926080" cy="43891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989320" y="45262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cv2.putText(...)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89320" y="47183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계산된 손가락 개수를 화면 (50,100) 위치에 초록색으로 출력합니다.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마무리 및 실행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29768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image, hand_lm,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mp_hands.HAND_CONNECTIONS)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cv2.imshow(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"Finger Counter"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image)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cv2.waitKey(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 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 키 종료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048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 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카메라 해제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cv2.destroyAllWindows() 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창 닫기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0690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795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cv2.imshow(...)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'Finger Counter' 창에 처리된 영상을 실시간 출력합니다.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307592"/>
            <a:ext cx="40690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waitKey(5) == 27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536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5ms 대기 후 ESC(27) 키 입력 시 반복문을 종료합니다.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837944"/>
            <a:ext cx="40690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066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중인 카메라 장치를 해제합니다.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368296"/>
            <a:ext cx="40690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46320" y="23865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destroyAllWindows()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열려 있는 모든 OpenCV 창을 닫습니다.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90672"/>
            <a:ext cx="85039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354787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웹캠 영상이 화면에 실시간으로 출력됩니다.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손이 인식되면 손 랜드마크(점)와 연결선이 함께 표시됩니다.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검지, 중지, 약지, 새끼손가락의 상태가 매 프레임 분석됩니다.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화면 상단에 "Fingers: N" 형식으로 펴진 손가락 수가 표시됩니다.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예: 4개 펴면 → "Fingers: 4" 표시, 2개 펴면 → "Fingers: 2" 표시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인식: multi_hand_landmarks 이해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multi_hand_landmarks</a:t>
            </a: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하나의 프레임에서 검출된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손의 랜드마크를 담는 리스트(list)</a:t>
            </a: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손이 2개 검출되면 이 리스트에는 2개의 랜드마크 데이터가 담기며, 각각은 독립적인 손 객체(21개 랜드마크)를 의미합니다.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8503920" cy="3291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0" y="1801368"/>
            <a:ext cx="2743200" cy="475488"/>
          </a:xfrm>
          <a:prstGeom prst="rect">
            <a:avLst/>
          </a:prstGeom>
          <a:solidFill>
            <a:srgbClr val="9B59B6">
              <a:alpha val="60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0" y="1801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multi_hand_landmarks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(List)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44568" y="2286000"/>
            <a:ext cx="54864" cy="2743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97280" y="2578608"/>
            <a:ext cx="2926080" cy="475488"/>
          </a:xfrm>
          <a:prstGeom prst="rect">
            <a:avLst/>
          </a:prstGeom>
          <a:solidFill>
            <a:srgbClr val="0F9B8E">
              <a:alpha val="5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hand_landmarks[0]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32888" y="2286000"/>
            <a:ext cx="54864" cy="2743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212080" y="2578608"/>
            <a:ext cx="2926080" cy="475488"/>
          </a:xfrm>
          <a:prstGeom prst="rect">
            <a:avLst/>
          </a:prstGeom>
          <a:solidFill>
            <a:srgbClr val="0F9B8E">
              <a:alpha val="50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212080" y="25786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hand_landmarks[1]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47688" y="2286000"/>
            <a:ext cx="54864" cy="2743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1480" y="3172968"/>
            <a:ext cx="3200400" cy="457200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landmark[0] — 손목(WRIST)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x, y, z 좌표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3200400" cy="457200"/>
          </a:xfrm>
          <a:prstGeom prst="rect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landmark[1~4] — 엄지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CMC→MCP→IP→TIP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33672"/>
            <a:ext cx="3200400" cy="457200"/>
          </a:xfrm>
          <a:prstGeom prst="rect">
            <a:avLst/>
          </a:prstGeom>
          <a:solidFill>
            <a:srgbClr val="0F9B8E">
              <a:alpha val="25000"/>
            </a:srgbClr>
          </a:solidFill>
          <a:ln w="12700">
            <a:solidFill>
              <a:srgbClr val="0F9B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233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landmark[5~8] — 검지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MCP→PIP→DIP→TIP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172968"/>
            <a:ext cx="3200400" cy="457200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landmark[0] — 손목(WRIST)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x, y, z 좌표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703320"/>
            <a:ext cx="3200400" cy="457200"/>
          </a:xfrm>
          <a:prstGeom prst="rect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landmark[1~4] — 엄지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CMC→MCP→IP→TIP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4233672"/>
            <a:ext cx="3200400" cy="457200"/>
          </a:xfrm>
          <a:prstGeom prst="rect">
            <a:avLst/>
          </a:prstGeom>
          <a:solidFill>
            <a:srgbClr val="0F9B8E">
              <a:alpha val="25000"/>
            </a:srgbClr>
          </a:solidFill>
          <a:ln w="12700">
            <a:solidFill>
              <a:srgbClr val="0F9B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0" y="4233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landmark[5~8] — 검지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MCP→PIP→DIP→TIP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21개 landmark 포인트 / 각 landmark → x(가로), y(세로), z(깊이) 값 포함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왼손·오른손 구분 &amp; 양손 동시 처리 흐름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795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handedness 정보 활용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MediaPipe는 각 손과 함께 </a:t>
            </a: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handedness</a:t>
            </a:r>
            <a:r>
              <a:rPr lang="en-US" sz="12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정보를 제공합니다. 이를 통해 왼손/오른손을 식별하여 각 손에 서로 다른 기능을 부여할 수 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931920" cy="457200"/>
          </a:xfrm>
          <a:prstGeom prst="rect">
            <a:avLst/>
          </a:prstGeom>
          <a:solidFill>
            <a:srgbClr val="3498DB">
              <a:alpha val="30000"/>
            </a:srgbClr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 (Left)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선택 / 모드 전환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3931920" cy="457200"/>
          </a:xfrm>
          <a:prstGeom prst="rect">
            <a:avLst/>
          </a:prstGeom>
          <a:solidFill>
            <a:srgbClr val="E94560">
              <a:alpha val="3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 (Right)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실행 / 세부 명령 입력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749808"/>
            <a:ext cx="420624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795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동시 처리 흐름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1261872" cy="475488"/>
          </a:xfrm>
          <a:prstGeom prst="rect">
            <a:avLst/>
          </a:prstGeom>
          <a:solidFill>
            <a:srgbClr val="0F9B8E">
              <a:alpha val="35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입력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0176" y="1435608"/>
            <a:ext cx="7315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62472" y="1234440"/>
            <a:ext cx="1261872" cy="475488"/>
          </a:xfrm>
          <a:prstGeom prst="rect">
            <a:avLst/>
          </a:prstGeom>
          <a:solidFill>
            <a:srgbClr val="0F9B8E">
              <a:alpha val="35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62472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검출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33488" y="1435608"/>
            <a:ext cx="7315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15784" y="1234440"/>
            <a:ext cx="1261872" cy="475488"/>
          </a:xfrm>
          <a:prstGeom prst="rect">
            <a:avLst/>
          </a:prstGeom>
          <a:solidFill>
            <a:srgbClr val="0F9B8E">
              <a:alpha val="35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15784" y="12344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랜드마크 추출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(각 손 독립)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1261872" cy="475488"/>
          </a:xfrm>
          <a:prstGeom prst="rect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09160" y="18288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구분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0176" y="2029968"/>
            <a:ext cx="7315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062472" y="1828800"/>
            <a:ext cx="1261872" cy="475488"/>
          </a:xfrm>
          <a:prstGeom prst="rect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062472" y="18288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손별 특징 분석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(handedness)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33488" y="2029968"/>
            <a:ext cx="73152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415784" y="1828800"/>
            <a:ext cx="1261872" cy="475488"/>
          </a:xfrm>
          <a:prstGeom prst="rect">
            <a:avLst/>
          </a:prstGeom>
          <a:solidFill>
            <a:srgbClr val="E94560">
              <a:alpha val="3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415784" y="18288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통합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8503920" cy="1783080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제스처 패턴 설계 예시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397764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520440" y="3730752"/>
            <a:ext cx="914400" cy="530352"/>
          </a:xfrm>
          <a:prstGeom prst="rect">
            <a:avLst/>
          </a:prstGeom>
          <a:solidFill>
            <a:srgbClr val="0F9B8E">
              <a:alpha val="45000"/>
            </a:srgbClr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1208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왼손: 주먹 (0개) + 오른손: 검지 펴기 (1개)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38728" y="3730752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"시작" 명령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730752"/>
            <a:ext cx="397764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772400" y="3730752"/>
            <a:ext cx="914400" cy="530352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773168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왼손: 2개 펴기 + 오른손: 모두 펼치기 (5개)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90688" y="3730752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"모드 전환"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352544"/>
            <a:ext cx="397764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520440" y="4352544"/>
            <a:ext cx="914400" cy="530352"/>
          </a:xfrm>
          <a:prstGeom prst="rect">
            <a:avLst/>
          </a:prstGeom>
          <a:solidFill>
            <a:srgbClr val="2ECC71">
              <a:alpha val="45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21208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모두 펼치기 + 10개 손가락 전부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38728" y="4352544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"초기화"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4352544"/>
            <a:ext cx="397764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772400" y="4352544"/>
            <a:ext cx="914400" cy="530352"/>
          </a:xfrm>
          <a:prstGeom prst="rect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773168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모두 주먹 + 0개 손가락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90688" y="4352544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"종료"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인식 제스처 확장 코드 (1/3)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544068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7863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cv2, numpy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np, 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98525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PIL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ImageFont, ImageDraw, Image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1066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mediapipe.python.solutions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hands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mp_hands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2280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mediapipe.python.solutions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drawing_utils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mp_drawing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34947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detect_finger_states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(hand_landmarks, handedness):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05922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"""엄지: x좌표, 나머지: TIP.y &lt; PIP.y"""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27137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lm = hand_landmarks.landmark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48351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fingers = []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695651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엄지 (오른손/왼손 방향 구분)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9077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handedness ==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119933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fingers.append(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lm[THUMB_TIP].x &lt; lm[THUMB_IP].x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3207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54421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fingers.append(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lm[THUMB_TIP].x &gt; lm[THUMB_IP].x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756355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검지,중지,약지,새끼 (TIP.y &lt; PIP.y → 펴짐)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9684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finger_tips = [INDEX_TIP, MIDDLE_TIP, RING_TIP, PINKY_TIP]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180637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finger_pips = [INDEX_PIP, MIDDLE_PIP, RING_PIP, PINKY_PIP]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39277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tip, pip in</a:t>
            </a: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zip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(finger_tips, finger_pips):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0491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fingers.append(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lm[tip].y &lt; lm[pip].y else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81705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fingers 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[엄지,검지,중지,약지,새끼]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713232"/>
            <a:ext cx="3154680" cy="4343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43600" y="758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0" y="118872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989320" y="1207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detect_finger_states()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143560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손의 랜드마크와 handedness를 받아 5개 손가락 상태를 리스트로 반환합니다.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182880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989320" y="1847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handedness == 'Right'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20756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오른손과 왼손은 엄지 방향이 다릅니다. 오른손은 TIP.x &lt; IP.x이면 펴진 상태입니다.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246888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989320" y="2487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엄지 왼손 조건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TIP.x &gt; IP.x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27157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왼손의 경우 반대입니다. TIP.x &gt; IP.x이면 엄지가 펴진 상태입니다.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310896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989320" y="31272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finger_tips / finger_pips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89320" y="33558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손가락의 끝점과 중간관절 인덱스를 리스트로 정리하여 반복 처리합니다.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374904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989320" y="3767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zip(finger_tips, finger_pips)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399592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끝점과 중간관절을 쌍으로 묶어 반복문으로 처리합니다. 코드가 간결해집니다.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438912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989320" y="4407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fingers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[엄지,검지,중지,약지,새끼]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9320" y="463600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손가락의 펴짐 상태(0 또는 1)를 담은 리스트를 반환합니다.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인식 제스처 확장 코드 (2/3) - 제스처 딕셔너리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544068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get_gesture_text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(fingers):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98525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thumb, index, middle, ring, pinky = fingers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1066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</a:t>
            </a: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(fingers)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2280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gestures =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34947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(0,0,0,0,0):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"주먹 (0)"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(1,0,0,0,0):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"엄지척 (1)"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5922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(0,1,0,0,0):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"검지 (1)"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7137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(0,1,1,0,0):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"가위 (2)"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8351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(1,1,0,0,0):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"총 모양 (2)"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95651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(1,1,1,1,1):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"보 (5)"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(0,1,1,1,1):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"넷 (4)"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119933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(0,0,0,0,1):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"새끼손가락 (1)"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33207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4421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(thumb, index, middle, ring, pinky)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756355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gestures.get(key,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f"손가락 {count}개"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9684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180637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한글 텍스트 출력 함수 (PIL 사용)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39277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draw_korean_text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(image, text, x, y, font_size=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60491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 = get_font(font_size)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81705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image_pil = Image.fromarray(image)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713232"/>
            <a:ext cx="3154680" cy="4343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0" y="758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118872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1207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get_gesture_text(fingers)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143560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손가락 상태 리스트를 받아 해당하는 제스처 이름 문자열을 반환합니다.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182880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1847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gestures = { tuple: str 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20756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(엄지,검지,중지,약지,새끼) 튜플을 키로 사용하는 딕셔너리로 제스처 이름을 매핑합니다.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46888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89320" y="2487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(0,1,1,0,0): '가위'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27157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검지(1)와 중지(1)만 펴진 상태를 가위로 정의합니다. 나머지는 모두 접혀(0) 있습니다.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310896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89320" y="31272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gestures.get(key, 기본값)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33558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딕셔너리에 없는 조합은 '손가락 N개' 형식으로 출력합니다. get()의 두 번째 인자가 기본값입니다.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74904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89320" y="3767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draw_korean_text()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89320" y="399592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PIL(Pillow) 라이브러리로 한글 텍스트를 이미지 위에 그립니다. OpenCV는 한글 미지원이므로 PIL을 사용합니다.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4389120"/>
            <a:ext cx="2926080" cy="576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989320" y="4407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Image.fromarray(image)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89320" y="463600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 numpy 배열을 PIL Image 객체로 변환합니다.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28600" cy="4983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인식 제스처 확장 코드 (3/3) - main 함수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5440680" cy="4343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98525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cv2.VideoCapture(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1066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mp_hands.Hands(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2280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max_num_hands=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최대 2개 손 인식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34947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min_detection_confidence=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min_tracking_confidence=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5922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7137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while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cap.isOpened():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8351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 = cv2.cvtColor(cv2.flip(img,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BGR2RGB)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95651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hands.process(image)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results.multi_hand_landmarks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results.multi_handedness: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119933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hand_lm, hand_info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zip(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33207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results.multi_hand_landmarks,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4421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results.multi_handedness):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756355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handedness = hand_info.classification[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].label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9684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fingers = detect_finger_states(hand_lm, handedness)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180637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gesture_text = get_gesture_text(fingers)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39277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결과를 손목 위치 기준으로 화면에 출력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60491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image = draw_korean_text(image, gesture_text, ...)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81705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mp_drawing.draw_landmarks(image, hand_lm, ...)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713232"/>
            <a:ext cx="3154680" cy="4343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0" y="758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1188720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11978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max_num_hands=2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14447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프레임에서 최대 2개의 손을 인식하도록 설정합니다. 기본값은 2입니다.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1755648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1764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results.multi_hand_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landmarks and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multi_handedness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89320" y="20116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정보를 함께 확인합니다. 하나라도 None이면 처리하지 않습니다.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322576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89320" y="2331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zip(multi_hand_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landmarks, multi_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handedness)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89320" y="257860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랜드마크와 손 방향 정보를 묶어 한 번에 반복합니다. 양손을 독립적으로 처리하는 핵심 구조입니다.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2889504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89320" y="2898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hand_info.classification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[0].label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89320" y="31455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'Left' 또는 'Right' 문자열을 반환합니다. 미러링된 영상 기준입니다.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456432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89320" y="34655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detect_finger_states()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89320" y="371246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손의 5개 손가락 상태를 계산합니다.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4023360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989320" y="4032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get_gesture_text()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89320" y="42793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상태를 제스처 이름으로 변환합니다.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4590288"/>
            <a:ext cx="2926080" cy="521208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989320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draw_korean_text()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89320" y="484632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위치를 기준으로 한글 결과(왼/오른손, 제스처, 개수)를 화면에 표시합니다.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 정리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66928" cy="100584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9611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 랜드마크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Hands는 손목·관절·끝점 21개 포인트를 (x,y,z) 좌표로 제공합니다.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896112"/>
            <a:ext cx="5669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09160" y="89611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펴짐 판단 = TIP.y &lt; PIP.y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y축은 위가 작은 값입니다. 끝점 y가 중간관절 y보다 작으면 손가락이 펴진 상태입니다.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039112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2039112"/>
            <a:ext cx="566928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203911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0/1 합산으로 개수 계산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손가락 상태를 0(접힘)/1(펴짐)으로 표현 후 sum()으로 개수를 계산합니다.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039112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09160" y="2039112"/>
            <a:ext cx="566928" cy="10058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09160" y="203911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multi_hand_landmarks = 리스트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손의 랜드마크를 리스트로 관리합니다. zip(landmarks, handedness)로 양손을 처리합니다.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182112"/>
            <a:ext cx="85039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3182112"/>
            <a:ext cx="566928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318211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2278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제스처 = 튜플 딕셔너리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5935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(엄지,검지,...) 튜플을 키로 사용하는 딕셔너리로 주먹·가위·보 등 제스처를 정의합니다.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435254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이제 손가락 개수 인식과 양손 제스처 시스템을 직접 구현해 보세요!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2986</Words>
  <Application>Microsoft Office PowerPoint</Application>
  <PresentationFormat>화면 슬라이드 쇼(16:9)</PresentationFormat>
  <Paragraphs>414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손 랜드마크와 손가락 개수 인식</dc:title>
  <dc:subject>PptxGenJS Presentation</dc:subject>
  <dc:creator>PptxGenJS</dc:creator>
  <cp:lastModifiedBy>은진 이</cp:lastModifiedBy>
  <cp:revision>2</cp:revision>
  <dcterms:created xsi:type="dcterms:W3CDTF">2026-05-06T23:40:56Z</dcterms:created>
  <dcterms:modified xsi:type="dcterms:W3CDTF">2026-05-06T23:45:12Z</dcterms:modified>
</cp:coreProperties>
</file>