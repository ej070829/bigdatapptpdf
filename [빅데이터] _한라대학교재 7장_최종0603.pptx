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54"/>
  </p:notesMasterIdLst>
  <p:handoutMasterIdLst>
    <p:handoutMasterId r:id="rId55"/>
  </p:handoutMasterIdLst>
  <p:sldIdLst>
    <p:sldId id="732" r:id="rId2"/>
    <p:sldId id="733" r:id="rId3"/>
    <p:sldId id="734" r:id="rId4"/>
    <p:sldId id="735" r:id="rId5"/>
    <p:sldId id="736" r:id="rId6"/>
    <p:sldId id="737" r:id="rId7"/>
    <p:sldId id="738" r:id="rId8"/>
    <p:sldId id="739" r:id="rId9"/>
    <p:sldId id="740" r:id="rId10"/>
    <p:sldId id="741" r:id="rId11"/>
    <p:sldId id="742" r:id="rId12"/>
    <p:sldId id="743" r:id="rId13"/>
    <p:sldId id="744" r:id="rId14"/>
    <p:sldId id="745" r:id="rId15"/>
    <p:sldId id="746" r:id="rId16"/>
    <p:sldId id="747" r:id="rId17"/>
    <p:sldId id="748" r:id="rId18"/>
    <p:sldId id="781" r:id="rId19"/>
    <p:sldId id="749" r:id="rId20"/>
    <p:sldId id="750" r:id="rId21"/>
    <p:sldId id="751" r:id="rId22"/>
    <p:sldId id="752" r:id="rId23"/>
    <p:sldId id="753" r:id="rId24"/>
    <p:sldId id="754" r:id="rId25"/>
    <p:sldId id="755" r:id="rId26"/>
    <p:sldId id="756" r:id="rId27"/>
    <p:sldId id="757" r:id="rId28"/>
    <p:sldId id="758" r:id="rId29"/>
    <p:sldId id="759" r:id="rId30"/>
    <p:sldId id="761" r:id="rId31"/>
    <p:sldId id="762" r:id="rId32"/>
    <p:sldId id="763" r:id="rId33"/>
    <p:sldId id="764" r:id="rId34"/>
    <p:sldId id="765" r:id="rId35"/>
    <p:sldId id="766" r:id="rId36"/>
    <p:sldId id="767" r:id="rId37"/>
    <p:sldId id="768" r:id="rId38"/>
    <p:sldId id="769" r:id="rId39"/>
    <p:sldId id="770" r:id="rId40"/>
    <p:sldId id="771" r:id="rId41"/>
    <p:sldId id="772" r:id="rId42"/>
    <p:sldId id="773" r:id="rId43"/>
    <p:sldId id="774" r:id="rId44"/>
    <p:sldId id="775" r:id="rId45"/>
    <p:sldId id="776" r:id="rId46"/>
    <p:sldId id="777" r:id="rId47"/>
    <p:sldId id="778" r:id="rId48"/>
    <p:sldId id="779" r:id="rId49"/>
    <p:sldId id="780" r:id="rId50"/>
    <p:sldId id="782" r:id="rId51"/>
    <p:sldId id="783" r:id="rId52"/>
    <p:sldId id="784" r:id="rId53"/>
  </p:sldIdLst>
  <p:sldSz cx="6551613" cy="9251950"/>
  <p:notesSz cx="6888163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5"/>
    <a:srgbClr val="E1E1E2"/>
    <a:srgbClr val="F0F0F0"/>
    <a:srgbClr val="004F8A"/>
    <a:srgbClr val="F9EFDF"/>
    <a:srgbClr val="071626"/>
    <a:srgbClr val="1E222B"/>
    <a:srgbClr val="0B1019"/>
    <a:srgbClr val="E5832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69" autoAdjust="0"/>
    <p:restoredTop sz="96233" autoAdjust="0"/>
  </p:normalViewPr>
  <p:slideViewPr>
    <p:cSldViewPr snapToGrid="0">
      <p:cViewPr varScale="1">
        <p:scale>
          <a:sx n="90" d="100"/>
          <a:sy n="90" d="100"/>
        </p:scale>
        <p:origin x="614" y="197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121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2381EF5-F270-AB10-E49E-81E9497CBE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78BEC5-1C29-87BC-899F-E669CE44E4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28FAB-55B8-4AE9-8200-35BC1B06803C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7D3BBE-2F68-622A-FA88-A6388EC75B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2024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4F5729-6DFC-2722-731A-3A9110D5D4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2024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1E299-26A2-469E-9825-D47CD762C0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569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2984871" cy="502835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702" y="0"/>
            <a:ext cx="2984871" cy="502835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r">
              <a:defRPr sz="1300"/>
            </a:lvl1pPr>
          </a:lstStyle>
          <a:p>
            <a:fld id="{A87FF208-5F8C-468A-9EA4-B433B76141F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6313" y="1252538"/>
            <a:ext cx="2395537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25" tIns="48312" rIns="96625" bIns="4831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3034"/>
            <a:ext cx="5510530" cy="3946118"/>
          </a:xfrm>
          <a:prstGeom prst="rect">
            <a:avLst/>
          </a:prstGeom>
        </p:spPr>
        <p:txBody>
          <a:bodyPr vert="horz" lIns="96625" tIns="48312" rIns="96625" bIns="4831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4" y="9519055"/>
            <a:ext cx="2984871" cy="50283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702" y="9519055"/>
            <a:ext cx="2984871" cy="50283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r">
              <a:defRPr sz="1300"/>
            </a:lvl1pPr>
          </a:lstStyle>
          <a:p>
            <a:fld id="{D9331E65-C0B2-43A3-AEA0-27572300E6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965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1pPr>
    <a:lvl2pPr marL="431002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2pPr>
    <a:lvl3pPr marL="862005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3pPr>
    <a:lvl4pPr marL="1293007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4pPr>
    <a:lvl5pPr marL="172401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5pPr>
    <a:lvl6pPr marL="2155012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6pPr>
    <a:lvl7pPr marL="2586015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7pPr>
    <a:lvl8pPr marL="3017017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8pPr>
    <a:lvl9pPr marL="344802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EE50C-0BFF-74CE-2398-88B798FF6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01304F-74E2-329F-ABB1-28327C26F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46313" y="1252538"/>
            <a:ext cx="2395537" cy="33813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4CABD1-BA92-7481-B4DD-5916B3F73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AE4CF4-0B4F-B2C3-D669-1EC2903E9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137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F6EEB-DEAF-E374-CEA0-BDDECBEB8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C25353-550C-A4A3-1232-9B9D17DAE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46313" y="1252538"/>
            <a:ext cx="2395537" cy="33813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7AD672-2B04-DA41-404F-920A486F3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F2E0C3-DBD6-B767-B9E2-E8AD49926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735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CA6E2-338F-E545-816B-3E2880184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BB63EC-393A-2006-A3B9-AE15F6F3C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46313" y="1252538"/>
            <a:ext cx="2395537" cy="33813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9A3212-87F4-ADC4-543D-622D27D7A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7AB367-72D4-1D68-40E1-DFE511BD03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416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0370D-6E8A-EF38-95CB-CC3105B19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2F14B3-5DD0-B19E-DD58-B6D48F012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F18D44-CB0E-207C-DF5B-E06DC8E95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B2A263-D52A-58F1-ED24-1B8C58BF8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652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1E258-36E7-2123-D805-07B6BA5DE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3B8520-8551-383C-90F1-73E9ADD53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46313" y="1252538"/>
            <a:ext cx="2395537" cy="33813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DC47A7-20CA-902E-8D5F-9EB6063E4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82B517-45C2-0719-085A-0C1D722F5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152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CA1DD-F8A1-2710-ACED-607898C37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8BC1A3-9C43-8565-BD62-71455257B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46313" y="1252538"/>
            <a:ext cx="2395537" cy="33813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B10674-CCDA-9329-A739-A6735917F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6644D2-6844-DE69-8003-D61207993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286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65FA4-A30A-A7BC-FB7D-A9FFA8803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1DC293-07B6-D381-C333-A29F9863B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8F7D25-120A-1B0B-4039-F31A82B6D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379F41-2B9D-D7D0-3556-15984FDF07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555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2E28-D0A3-389B-5CB7-8C440A3D0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23573B-E11D-9E7E-7F37-283523899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46313" y="1252538"/>
            <a:ext cx="2395537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294F09-FA6D-D453-3443-ED4B4F4FC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261C39-8CD8-5145-D59D-728FC7747A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736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7BB6B-3889-60D4-7A67-927A11CE0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27CD6C-A9CC-D323-BB3D-B02B6F375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63C49B-2AE5-724B-E92D-BBAE58939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3F0EFF-8DCA-900C-7E22-9B9B3C5A2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069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1371" y="1514151"/>
            <a:ext cx="5568871" cy="3221049"/>
          </a:xfrm>
        </p:spPr>
        <p:txBody>
          <a:bodyPr anchor="b"/>
          <a:lstStyle>
            <a:lvl1pPr algn="ctr">
              <a:defRPr sz="42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8952" y="4859416"/>
            <a:ext cx="4913710" cy="2233746"/>
          </a:xfrm>
        </p:spPr>
        <p:txBody>
          <a:bodyPr/>
          <a:lstStyle>
            <a:lvl1pPr marL="0" indent="0" algn="ctr">
              <a:buNone/>
              <a:defRPr sz="1720"/>
            </a:lvl1pPr>
            <a:lvl2pPr marL="327584" indent="0" algn="ctr">
              <a:buNone/>
              <a:defRPr sz="1433"/>
            </a:lvl2pPr>
            <a:lvl3pPr marL="655168" indent="0" algn="ctr">
              <a:buNone/>
              <a:defRPr sz="1290"/>
            </a:lvl3pPr>
            <a:lvl4pPr marL="982751" indent="0" algn="ctr">
              <a:buNone/>
              <a:defRPr sz="1146"/>
            </a:lvl4pPr>
            <a:lvl5pPr marL="1310335" indent="0" algn="ctr">
              <a:buNone/>
              <a:defRPr sz="1146"/>
            </a:lvl5pPr>
            <a:lvl6pPr marL="1637919" indent="0" algn="ctr">
              <a:buNone/>
              <a:defRPr sz="1146"/>
            </a:lvl6pPr>
            <a:lvl7pPr marL="1965503" indent="0" algn="ctr">
              <a:buNone/>
              <a:defRPr sz="1146"/>
            </a:lvl7pPr>
            <a:lvl8pPr marL="2293087" indent="0" algn="ctr">
              <a:buNone/>
              <a:defRPr sz="1146"/>
            </a:lvl8pPr>
            <a:lvl9pPr marL="2620670" indent="0" algn="ctr">
              <a:buNone/>
              <a:defRPr sz="11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1A11F-1625-4846-B551-B0FB2D6FBA52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68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D116-71D7-4302-AFCE-C8C6A543EB25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416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012" y="2306565"/>
            <a:ext cx="5650766" cy="3848554"/>
          </a:xfrm>
        </p:spPr>
        <p:txBody>
          <a:bodyPr anchor="b"/>
          <a:lstStyle>
            <a:lvl1pPr>
              <a:defRPr sz="42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7012" y="6191528"/>
            <a:ext cx="5650766" cy="2023863"/>
          </a:xfrm>
        </p:spPr>
        <p:txBody>
          <a:bodyPr/>
          <a:lstStyle>
            <a:lvl1pPr marL="0" indent="0">
              <a:buNone/>
              <a:defRPr sz="1720">
                <a:solidFill>
                  <a:schemeClr val="tx1"/>
                </a:solidFill>
              </a:defRPr>
            </a:lvl1pPr>
            <a:lvl2pPr marL="327584" indent="0">
              <a:buNone/>
              <a:defRPr sz="1433">
                <a:solidFill>
                  <a:schemeClr val="tx1">
                    <a:tint val="75000"/>
                  </a:schemeClr>
                </a:solidFill>
              </a:defRPr>
            </a:lvl2pPr>
            <a:lvl3pPr marL="655168" indent="0">
              <a:buNone/>
              <a:defRPr sz="1290">
                <a:solidFill>
                  <a:schemeClr val="tx1">
                    <a:tint val="75000"/>
                  </a:schemeClr>
                </a:solidFill>
              </a:defRPr>
            </a:lvl3pPr>
            <a:lvl4pPr marL="982751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4pPr>
            <a:lvl5pPr marL="1310335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5pPr>
            <a:lvl6pPr marL="1637919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6pPr>
            <a:lvl7pPr marL="1965503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7pPr>
            <a:lvl8pPr marL="2293087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8pPr>
            <a:lvl9pPr marL="2620670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80E4B-0617-45A8-859E-E6EB3F68FE94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2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0423" y="2462903"/>
            <a:ext cx="2784436" cy="58702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16754" y="2462903"/>
            <a:ext cx="2784436" cy="58702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CA9B-6EA5-40B6-9C63-673B00ADD933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163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492583"/>
            <a:ext cx="5650766" cy="178828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1277" y="2268014"/>
            <a:ext cx="2771639" cy="1111518"/>
          </a:xfrm>
        </p:spPr>
        <p:txBody>
          <a:bodyPr anchor="b"/>
          <a:lstStyle>
            <a:lvl1pPr marL="0" indent="0">
              <a:buNone/>
              <a:defRPr sz="1720" b="1"/>
            </a:lvl1pPr>
            <a:lvl2pPr marL="327584" indent="0">
              <a:buNone/>
              <a:defRPr sz="1433" b="1"/>
            </a:lvl2pPr>
            <a:lvl3pPr marL="655168" indent="0">
              <a:buNone/>
              <a:defRPr sz="1290" b="1"/>
            </a:lvl3pPr>
            <a:lvl4pPr marL="982751" indent="0">
              <a:buNone/>
              <a:defRPr sz="1146" b="1"/>
            </a:lvl4pPr>
            <a:lvl5pPr marL="1310335" indent="0">
              <a:buNone/>
              <a:defRPr sz="1146" b="1"/>
            </a:lvl5pPr>
            <a:lvl6pPr marL="1637919" indent="0">
              <a:buNone/>
              <a:defRPr sz="1146" b="1"/>
            </a:lvl6pPr>
            <a:lvl7pPr marL="1965503" indent="0">
              <a:buNone/>
              <a:defRPr sz="1146" b="1"/>
            </a:lvl7pPr>
            <a:lvl8pPr marL="2293087" indent="0">
              <a:buNone/>
              <a:defRPr sz="1146" b="1"/>
            </a:lvl8pPr>
            <a:lvl9pPr marL="2620670" indent="0">
              <a:buNone/>
              <a:defRPr sz="11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277" y="3379532"/>
            <a:ext cx="2771639" cy="4970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16754" y="2268014"/>
            <a:ext cx="2785289" cy="1111518"/>
          </a:xfrm>
        </p:spPr>
        <p:txBody>
          <a:bodyPr anchor="b"/>
          <a:lstStyle>
            <a:lvl1pPr marL="0" indent="0">
              <a:buNone/>
              <a:defRPr sz="1720" b="1"/>
            </a:lvl1pPr>
            <a:lvl2pPr marL="327584" indent="0">
              <a:buNone/>
              <a:defRPr sz="1433" b="1"/>
            </a:lvl2pPr>
            <a:lvl3pPr marL="655168" indent="0">
              <a:buNone/>
              <a:defRPr sz="1290" b="1"/>
            </a:lvl3pPr>
            <a:lvl4pPr marL="982751" indent="0">
              <a:buNone/>
              <a:defRPr sz="1146" b="1"/>
            </a:lvl4pPr>
            <a:lvl5pPr marL="1310335" indent="0">
              <a:buNone/>
              <a:defRPr sz="1146" b="1"/>
            </a:lvl5pPr>
            <a:lvl6pPr marL="1637919" indent="0">
              <a:buNone/>
              <a:defRPr sz="1146" b="1"/>
            </a:lvl6pPr>
            <a:lvl7pPr marL="1965503" indent="0">
              <a:buNone/>
              <a:defRPr sz="1146" b="1"/>
            </a:lvl7pPr>
            <a:lvl8pPr marL="2293087" indent="0">
              <a:buNone/>
              <a:defRPr sz="1146" b="1"/>
            </a:lvl8pPr>
            <a:lvl9pPr marL="2620670" indent="0">
              <a:buNone/>
              <a:defRPr sz="11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16754" y="3379532"/>
            <a:ext cx="2785289" cy="4970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B5553-0EF7-4222-AD4D-B9DF44803BAD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903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03357-7D8F-4C3E-B154-BD95DF5D8AD2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670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0BF9E-2460-47D7-A97E-9F3DFD456E55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1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616797"/>
            <a:ext cx="2113066" cy="2158788"/>
          </a:xfrm>
        </p:spPr>
        <p:txBody>
          <a:bodyPr anchor="b"/>
          <a:lstStyle>
            <a:lvl1pPr>
              <a:defRPr sz="229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5289" y="1332112"/>
            <a:ext cx="3316754" cy="6574881"/>
          </a:xfrm>
        </p:spPr>
        <p:txBody>
          <a:bodyPr/>
          <a:lstStyle>
            <a:lvl1pPr>
              <a:defRPr sz="2293"/>
            </a:lvl1pPr>
            <a:lvl2pPr>
              <a:defRPr sz="2006"/>
            </a:lvl2pPr>
            <a:lvl3pPr>
              <a:defRPr sz="1720"/>
            </a:lvl3pPr>
            <a:lvl4pPr>
              <a:defRPr sz="1433"/>
            </a:lvl4pPr>
            <a:lvl5pPr>
              <a:defRPr sz="1433"/>
            </a:lvl5pPr>
            <a:lvl6pPr>
              <a:defRPr sz="1433"/>
            </a:lvl6pPr>
            <a:lvl7pPr>
              <a:defRPr sz="1433"/>
            </a:lvl7pPr>
            <a:lvl8pPr>
              <a:defRPr sz="1433"/>
            </a:lvl8pPr>
            <a:lvl9pPr>
              <a:defRPr sz="14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2775585"/>
            <a:ext cx="2113066" cy="5142115"/>
          </a:xfrm>
        </p:spPr>
        <p:txBody>
          <a:bodyPr/>
          <a:lstStyle>
            <a:lvl1pPr marL="0" indent="0">
              <a:buNone/>
              <a:defRPr sz="1146"/>
            </a:lvl1pPr>
            <a:lvl2pPr marL="327584" indent="0">
              <a:buNone/>
              <a:defRPr sz="1003"/>
            </a:lvl2pPr>
            <a:lvl3pPr marL="655168" indent="0">
              <a:buNone/>
              <a:defRPr sz="860"/>
            </a:lvl3pPr>
            <a:lvl4pPr marL="982751" indent="0">
              <a:buNone/>
              <a:defRPr sz="717"/>
            </a:lvl4pPr>
            <a:lvl5pPr marL="1310335" indent="0">
              <a:buNone/>
              <a:defRPr sz="717"/>
            </a:lvl5pPr>
            <a:lvl6pPr marL="1637919" indent="0">
              <a:buNone/>
              <a:defRPr sz="717"/>
            </a:lvl6pPr>
            <a:lvl7pPr marL="1965503" indent="0">
              <a:buNone/>
              <a:defRPr sz="717"/>
            </a:lvl7pPr>
            <a:lvl8pPr marL="2293087" indent="0">
              <a:buNone/>
              <a:defRPr sz="717"/>
            </a:lvl8pPr>
            <a:lvl9pPr marL="2620670" indent="0">
              <a:buNone/>
              <a:defRPr sz="71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6DC0-B0CC-4DAE-BF6E-F5491584EC2A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244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616797"/>
            <a:ext cx="2113066" cy="2158788"/>
          </a:xfrm>
        </p:spPr>
        <p:txBody>
          <a:bodyPr anchor="b"/>
          <a:lstStyle>
            <a:lvl1pPr>
              <a:defRPr sz="229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85289" y="1332112"/>
            <a:ext cx="3316754" cy="6574881"/>
          </a:xfrm>
        </p:spPr>
        <p:txBody>
          <a:bodyPr anchor="t"/>
          <a:lstStyle>
            <a:lvl1pPr marL="0" indent="0">
              <a:buNone/>
              <a:defRPr sz="2293"/>
            </a:lvl1pPr>
            <a:lvl2pPr marL="327584" indent="0">
              <a:buNone/>
              <a:defRPr sz="2006"/>
            </a:lvl2pPr>
            <a:lvl3pPr marL="655168" indent="0">
              <a:buNone/>
              <a:defRPr sz="1720"/>
            </a:lvl3pPr>
            <a:lvl4pPr marL="982751" indent="0">
              <a:buNone/>
              <a:defRPr sz="1433"/>
            </a:lvl4pPr>
            <a:lvl5pPr marL="1310335" indent="0">
              <a:buNone/>
              <a:defRPr sz="1433"/>
            </a:lvl5pPr>
            <a:lvl6pPr marL="1637919" indent="0">
              <a:buNone/>
              <a:defRPr sz="1433"/>
            </a:lvl6pPr>
            <a:lvl7pPr marL="1965503" indent="0">
              <a:buNone/>
              <a:defRPr sz="1433"/>
            </a:lvl7pPr>
            <a:lvl8pPr marL="2293087" indent="0">
              <a:buNone/>
              <a:defRPr sz="1433"/>
            </a:lvl8pPr>
            <a:lvl9pPr marL="2620670" indent="0">
              <a:buNone/>
              <a:defRPr sz="143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2775585"/>
            <a:ext cx="2113066" cy="5142115"/>
          </a:xfrm>
        </p:spPr>
        <p:txBody>
          <a:bodyPr/>
          <a:lstStyle>
            <a:lvl1pPr marL="0" indent="0">
              <a:buNone/>
              <a:defRPr sz="1146"/>
            </a:lvl1pPr>
            <a:lvl2pPr marL="327584" indent="0">
              <a:buNone/>
              <a:defRPr sz="1003"/>
            </a:lvl2pPr>
            <a:lvl3pPr marL="655168" indent="0">
              <a:buNone/>
              <a:defRPr sz="860"/>
            </a:lvl3pPr>
            <a:lvl4pPr marL="982751" indent="0">
              <a:buNone/>
              <a:defRPr sz="717"/>
            </a:lvl4pPr>
            <a:lvl5pPr marL="1310335" indent="0">
              <a:buNone/>
              <a:defRPr sz="717"/>
            </a:lvl5pPr>
            <a:lvl6pPr marL="1637919" indent="0">
              <a:buNone/>
              <a:defRPr sz="717"/>
            </a:lvl6pPr>
            <a:lvl7pPr marL="1965503" indent="0">
              <a:buNone/>
              <a:defRPr sz="717"/>
            </a:lvl7pPr>
            <a:lvl8pPr marL="2293087" indent="0">
              <a:buNone/>
              <a:defRPr sz="717"/>
            </a:lvl8pPr>
            <a:lvl9pPr marL="2620670" indent="0">
              <a:buNone/>
              <a:defRPr sz="71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F4339-ED3C-413D-A913-2E4C0CAC614A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028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3469-56C2-4D9B-8248-54D64A5567BF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869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88498" y="492581"/>
            <a:ext cx="1412692" cy="78406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0424" y="492581"/>
            <a:ext cx="4156179" cy="78406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563D7-61A1-4068-A828-12807C55F23E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603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37DFE21-A543-D248-FD33-435A68893D12}"/>
              </a:ext>
            </a:extLst>
          </p:cNvPr>
          <p:cNvSpPr txBox="1"/>
          <p:nvPr/>
        </p:nvSpPr>
        <p:spPr>
          <a:xfrm>
            <a:off x="387802" y="179975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전체 사이즈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18.2*25.7cm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인쇄 가이드 </a:t>
            </a:r>
            <a:r>
              <a:rPr lang="ko-KR" altLang="en-US" sz="1681" b="1" spc="28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양옆위아래</a:t>
            </a: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0.5cm</a:t>
            </a:r>
          </a:p>
        </p:txBody>
      </p:sp>
      <p:sp>
        <p:nvSpPr>
          <p:cNvPr id="85" name="슬라이드 번호 개체 틀 17">
            <a:extLst>
              <a:ext uri="{FF2B5EF4-FFF2-40B4-BE49-F238E27FC236}">
                <a16:creationId xmlns:a16="http://schemas.microsoft.com/office/drawing/2014/main" id="{0F721311-D04A-9267-ED67-5CD86DA7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62663" y="8384512"/>
            <a:ext cx="1474113" cy="492581"/>
          </a:xfrm>
        </p:spPr>
        <p:txBody>
          <a:bodyPr/>
          <a:lstStyle/>
          <a:p>
            <a:r>
              <a:rPr lang="en-US" altLang="ko-KR" sz="934" dirty="0"/>
              <a:t>0</a:t>
            </a:r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F7F101-0585-6B9F-9FC0-6D6FC1001F0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08CE3C-53AC-ADD3-1CE3-3C7EF195E8E7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23ADFC-5724-79C7-478C-F8E7E0C873A6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876C4-E0F8-3C01-CD1A-88A2B8B0B048}"/>
              </a:ext>
            </a:extLst>
          </p:cNvPr>
          <p:cNvSpPr txBox="1"/>
          <p:nvPr userDrawn="1"/>
        </p:nvSpPr>
        <p:spPr>
          <a:xfrm>
            <a:off x="376991" y="2114604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페이지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2.5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아래쪽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 </a:t>
            </a:r>
          </a:p>
        </p:txBody>
      </p:sp>
    </p:spTree>
    <p:extLst>
      <p:ext uri="{BB962C8B-B14F-4D97-AF65-F5344CB8AC3E}">
        <p14:creationId xmlns:p14="http://schemas.microsoft.com/office/powerpoint/2010/main" val="3187289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61713A-B93B-B9AD-D04A-C485DB6D6A1B}"/>
              </a:ext>
            </a:extLst>
          </p:cNvPr>
          <p:cNvSpPr txBox="1"/>
          <p:nvPr userDrawn="1"/>
        </p:nvSpPr>
        <p:spPr>
          <a:xfrm>
            <a:off x="387802" y="179975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전체 사이즈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18.2*25.7cm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인쇄 가이드 </a:t>
            </a:r>
            <a:r>
              <a:rPr lang="ko-KR" altLang="en-US" sz="1681" b="1" spc="28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양옆위아래</a:t>
            </a: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0.5cm</a:t>
            </a:r>
          </a:p>
        </p:txBody>
      </p:sp>
      <p:sp>
        <p:nvSpPr>
          <p:cNvPr id="4" name="슬라이드 번호 개체 틀 17">
            <a:extLst>
              <a:ext uri="{FF2B5EF4-FFF2-40B4-BE49-F238E27FC236}">
                <a16:creationId xmlns:a16="http://schemas.microsoft.com/office/drawing/2014/main" id="{38136E1D-18B2-917E-8A59-92A98F9C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 sz="934"/>
              <a:t>0</a:t>
            </a:r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5B7E4A-ACCA-8884-9100-DE16FCA1FEB3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6D929B-E2F6-42A4-AE52-0B71566D8CEB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1E1A8F-E87C-E270-0E81-92FC88CD683F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6F9729-ED8B-606C-955F-F4EA52A8AB8F}"/>
              </a:ext>
            </a:extLst>
          </p:cNvPr>
          <p:cNvSpPr txBox="1"/>
          <p:nvPr userDrawn="1"/>
        </p:nvSpPr>
        <p:spPr>
          <a:xfrm>
            <a:off x="376991" y="2114604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페이지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2.5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아래쪽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 </a:t>
            </a:r>
          </a:p>
        </p:txBody>
      </p:sp>
    </p:spTree>
    <p:extLst>
      <p:ext uri="{BB962C8B-B14F-4D97-AF65-F5344CB8AC3E}">
        <p14:creationId xmlns:p14="http://schemas.microsoft.com/office/powerpoint/2010/main" val="1514577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D48BE50-BCA8-A34D-1EF3-8B6177B6B0A0}"/>
              </a:ext>
            </a:extLst>
          </p:cNvPr>
          <p:cNvCxnSpPr>
            <a:cxnSpLocks/>
          </p:cNvCxnSpPr>
          <p:nvPr userDrawn="1"/>
        </p:nvCxnSpPr>
        <p:spPr>
          <a:xfrm>
            <a:off x="1219592" y="105607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FBD99102-7F57-D8CF-A9EE-5961030AC8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2683" y="1435291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60DFB6C8-339C-81E4-792B-44AE557BE12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16366" y="1609674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36EB128A-F529-0546-0737-A73B6CD55FD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52306" y="3645755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BF5E3740-00CD-7E4B-8DA8-4AF65F0398B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15990" y="3820138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E7BFB79-A40E-BA52-44A7-46039F0DD1F5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582FD4-E286-E067-9093-7B412A2CD5B1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순서도: 다른 페이지 연결선 10">
            <a:extLst>
              <a:ext uri="{FF2B5EF4-FFF2-40B4-BE49-F238E27FC236}">
                <a16:creationId xmlns:a16="http://schemas.microsoft.com/office/drawing/2014/main" id="{18B6351A-F9E1-F6F5-F596-8B8DB36D4ED8}"/>
              </a:ext>
            </a:extLst>
          </p:cNvPr>
          <p:cNvSpPr/>
          <p:nvPr userDrawn="1"/>
        </p:nvSpPr>
        <p:spPr>
          <a:xfrm>
            <a:off x="667985" y="668425"/>
            <a:ext cx="477816" cy="467138"/>
          </a:xfrm>
          <a:prstGeom prst="flowChartOffpageConnector">
            <a:avLst/>
          </a:prstGeom>
          <a:solidFill>
            <a:srgbClr val="1B8F4D"/>
          </a:solidFill>
          <a:ln>
            <a:solidFill>
              <a:srgbClr val="1B8F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20FD848-2510-C817-BBE8-BCB3ED0734AC}"/>
              </a:ext>
            </a:extLst>
          </p:cNvPr>
          <p:cNvSpPr/>
          <p:nvPr userDrawn="1"/>
        </p:nvSpPr>
        <p:spPr>
          <a:xfrm>
            <a:off x="906893" y="787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슬라이드 번호 개체 틀 17">
            <a:extLst>
              <a:ext uri="{FF2B5EF4-FFF2-40B4-BE49-F238E27FC236}">
                <a16:creationId xmlns:a16="http://schemas.microsoft.com/office/drawing/2014/main" id="{2C7545C8-7A89-BA3F-A183-9D98F9B94446}"/>
              </a:ext>
            </a:extLst>
          </p:cNvPr>
          <p:cNvSpPr txBox="1">
            <a:spLocks/>
          </p:cNvSpPr>
          <p:nvPr userDrawn="1"/>
        </p:nvSpPr>
        <p:spPr>
          <a:xfrm>
            <a:off x="574746" y="850344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934" smtClean="0"/>
              <a:pPr algn="l"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3620203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순서도: 다른 페이지 연결선 17">
            <a:extLst>
              <a:ext uri="{FF2B5EF4-FFF2-40B4-BE49-F238E27FC236}">
                <a16:creationId xmlns:a16="http://schemas.microsoft.com/office/drawing/2014/main" id="{9F3B6FA3-639F-868F-7C1A-3EEC7A1C224B}"/>
              </a:ext>
            </a:extLst>
          </p:cNvPr>
          <p:cNvSpPr/>
          <p:nvPr userDrawn="1"/>
        </p:nvSpPr>
        <p:spPr>
          <a:xfrm>
            <a:off x="1072750" y="658402"/>
            <a:ext cx="477816" cy="467138"/>
          </a:xfrm>
          <a:prstGeom prst="flowChartOffpageConnector">
            <a:avLst/>
          </a:prstGeom>
          <a:solidFill>
            <a:srgbClr val="1B8F4D"/>
          </a:solidFill>
          <a:ln>
            <a:solidFill>
              <a:srgbClr val="1B8F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50A263F-5F6E-B479-AEF4-531238110A1D}"/>
              </a:ext>
            </a:extLst>
          </p:cNvPr>
          <p:cNvCxnSpPr>
            <a:cxnSpLocks/>
          </p:cNvCxnSpPr>
          <p:nvPr userDrawn="1"/>
        </p:nvCxnSpPr>
        <p:spPr>
          <a:xfrm>
            <a:off x="1581137" y="1059335"/>
            <a:ext cx="4055639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CD53898C-8F4C-C3D4-2D7B-9BFCB5B45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345" y="782798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rgbClr val="1A8F4E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DBBF926-5C71-94D4-BCBB-3EE80ADDD537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67534" y="1287471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22" name="슬라이드 번호 개체 틀 17">
            <a:extLst>
              <a:ext uri="{FF2B5EF4-FFF2-40B4-BE49-F238E27FC236}">
                <a16:creationId xmlns:a16="http://schemas.microsoft.com/office/drawing/2014/main" id="{71F36DEC-012E-A6C1-6890-DC24330556EA}"/>
              </a:ext>
            </a:extLst>
          </p:cNvPr>
          <p:cNvSpPr txBox="1">
            <a:spLocks/>
          </p:cNvSpPr>
          <p:nvPr userDrawn="1"/>
        </p:nvSpPr>
        <p:spPr>
          <a:xfrm>
            <a:off x="4502754" y="8443103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021D062-47B2-217E-B7DB-050E45621172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4EC9008-FB83-7B25-B5AB-53F00CFC6AE6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8E4CA79-1782-2D78-AD74-62942CBF93C6}"/>
              </a:ext>
            </a:extLst>
          </p:cNvPr>
          <p:cNvSpPr/>
          <p:nvPr userDrawn="1"/>
        </p:nvSpPr>
        <p:spPr>
          <a:xfrm>
            <a:off x="1067534" y="787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84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3DB8BCE5-FD34-2C4A-2406-C90D9B1F94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98322" y="1370080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951967D6-8519-5928-70E0-A624143ABF8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62006" y="1544463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023E6308-DD64-092C-AB9B-41F271015F8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97946" y="3580544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295A8B7-1A43-C1F7-143A-5D37924B5EB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61629" y="3754927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5AECBD6-8909-EE7A-F67B-BB3076045E7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13946" y="794254"/>
            <a:ext cx="3733114" cy="248967"/>
          </a:xfrm>
          <a:prstGeom prst="rect">
            <a:avLst/>
          </a:prstGeom>
          <a:solidFill>
            <a:srgbClr val="1B8F4D"/>
          </a:solidFill>
          <a:ln>
            <a:solidFill>
              <a:srgbClr val="1B8F4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121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:12, </a:t>
            </a:r>
            <a:r>
              <a:rPr lang="ko-KR" altLang="en-US" dirty="0"/>
              <a:t>흰색</a:t>
            </a:r>
            <a:r>
              <a:rPr lang="en-US" altLang="ko-KR" dirty="0"/>
              <a:t>]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D7A0F23-C8AA-2CC4-E271-1573E2B83063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189E8C9-68AE-4076-6239-217EA1ABBCDB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7A0E38B-FDBD-66D7-6C63-FCFA95467AA6}"/>
              </a:ext>
            </a:extLst>
          </p:cNvPr>
          <p:cNvSpPr/>
          <p:nvPr userDrawn="1"/>
        </p:nvSpPr>
        <p:spPr>
          <a:xfrm>
            <a:off x="906893" y="787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슬라이드 번호 개체 틀 17">
            <a:extLst>
              <a:ext uri="{FF2B5EF4-FFF2-40B4-BE49-F238E27FC236}">
                <a16:creationId xmlns:a16="http://schemas.microsoft.com/office/drawing/2014/main" id="{0AD9661E-7971-F25B-8FF7-C6B963544B49}"/>
              </a:ext>
            </a:extLst>
          </p:cNvPr>
          <p:cNvSpPr txBox="1">
            <a:spLocks/>
          </p:cNvSpPr>
          <p:nvPr userDrawn="1"/>
        </p:nvSpPr>
        <p:spPr>
          <a:xfrm>
            <a:off x="574746" y="850344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934" smtClean="0"/>
              <a:pPr algn="l"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9938155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B956AE5-F4F4-A612-B198-014282A8EC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32536" y="1345366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59032D6-D55B-F869-9D5F-EB72901D2C90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096219" y="1519749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7A4DA47-ADB8-24C7-34B1-86F1078D883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32160" y="3555830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414C7BC-72C7-E330-2913-E82A9BE0F36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095843" y="3730213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97FC946D-0960-E2A9-7C8A-4CF7376A455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65987" y="806505"/>
            <a:ext cx="3733114" cy="248967"/>
          </a:xfrm>
          <a:prstGeom prst="rect">
            <a:avLst/>
          </a:prstGeom>
          <a:solidFill>
            <a:srgbClr val="1B8F4D"/>
          </a:solidFill>
          <a:ln>
            <a:solidFill>
              <a:srgbClr val="1B8F4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121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:12, </a:t>
            </a:r>
            <a:r>
              <a:rPr lang="ko-KR" altLang="en-US" dirty="0"/>
              <a:t>흰색</a:t>
            </a:r>
            <a:r>
              <a:rPr lang="en-US" altLang="ko-KR" dirty="0"/>
              <a:t>]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DBA931E-C5E9-C84A-9FC7-4DE42F8273C4}"/>
              </a:ext>
            </a:extLst>
          </p:cNvPr>
          <p:cNvSpPr/>
          <p:nvPr userDrawn="1"/>
        </p:nvSpPr>
        <p:spPr>
          <a:xfrm>
            <a:off x="16589" y="41044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76B1E99-B7A3-CF3D-E89B-31C1F00FBC85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7D893FC-BA77-0696-34DA-5617B1BCB9C7}"/>
              </a:ext>
            </a:extLst>
          </p:cNvPr>
          <p:cNvSpPr/>
          <p:nvPr userDrawn="1"/>
        </p:nvSpPr>
        <p:spPr>
          <a:xfrm>
            <a:off x="1067534" y="787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슬라이드 번호 개체 틀 17">
            <a:extLst>
              <a:ext uri="{FF2B5EF4-FFF2-40B4-BE49-F238E27FC236}">
                <a16:creationId xmlns:a16="http://schemas.microsoft.com/office/drawing/2014/main" id="{2CD5B5F3-5FB2-D653-B975-50A061E3DA15}"/>
              </a:ext>
            </a:extLst>
          </p:cNvPr>
          <p:cNvSpPr txBox="1">
            <a:spLocks/>
          </p:cNvSpPr>
          <p:nvPr userDrawn="1"/>
        </p:nvSpPr>
        <p:spPr>
          <a:xfrm>
            <a:off x="4502754" y="8443103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14851058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다른 페이지 연결선 2">
            <a:extLst>
              <a:ext uri="{FF2B5EF4-FFF2-40B4-BE49-F238E27FC236}">
                <a16:creationId xmlns:a16="http://schemas.microsoft.com/office/drawing/2014/main" id="{50C7C422-96C6-B4F4-5C97-7AED9DABAB22}"/>
              </a:ext>
            </a:extLst>
          </p:cNvPr>
          <p:cNvSpPr/>
          <p:nvPr userDrawn="1"/>
        </p:nvSpPr>
        <p:spPr>
          <a:xfrm>
            <a:off x="995979" y="658402"/>
            <a:ext cx="477816" cy="467138"/>
          </a:xfrm>
          <a:prstGeom prst="flowChartOffpageConnector">
            <a:avLst/>
          </a:prstGeom>
          <a:solidFill>
            <a:srgbClr val="1B8F4D"/>
          </a:solidFill>
          <a:ln>
            <a:solidFill>
              <a:srgbClr val="1B8F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F0F969-E5FF-233A-2832-0DDEE00A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579" y="782798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rgbClr val="1A8F4E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1FDE23F-536D-0DE6-6105-B51C435724FD}"/>
              </a:ext>
            </a:extLst>
          </p:cNvPr>
          <p:cNvCxnSpPr>
            <a:cxnSpLocks/>
          </p:cNvCxnSpPr>
          <p:nvPr userDrawn="1"/>
        </p:nvCxnSpPr>
        <p:spPr>
          <a:xfrm>
            <a:off x="1504365" y="105933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020DAE1-350E-198E-FCB0-48E5664FC4F4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915427" y="120219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9F29073-9D7F-6DB3-5AE6-5132B5823F18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2CFF8CA-5858-9840-964C-E47BA5D15143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C587EA-2505-A3EB-2641-0EB927895FD5}"/>
              </a:ext>
            </a:extLst>
          </p:cNvPr>
          <p:cNvSpPr/>
          <p:nvPr userDrawn="1"/>
        </p:nvSpPr>
        <p:spPr>
          <a:xfrm>
            <a:off x="906893" y="787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슬라이드 번호 개체 틀 17">
            <a:extLst>
              <a:ext uri="{FF2B5EF4-FFF2-40B4-BE49-F238E27FC236}">
                <a16:creationId xmlns:a16="http://schemas.microsoft.com/office/drawing/2014/main" id="{89BB69F5-D9D6-467B-E0B8-632AEABB2832}"/>
              </a:ext>
            </a:extLst>
          </p:cNvPr>
          <p:cNvSpPr txBox="1">
            <a:spLocks/>
          </p:cNvSpPr>
          <p:nvPr userDrawn="1"/>
        </p:nvSpPr>
        <p:spPr>
          <a:xfrm>
            <a:off x="574746" y="850344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934" smtClean="0"/>
              <a:pPr algn="l"/>
              <a:t>‹#›</a:t>
            </a:fld>
            <a:endParaRPr lang="ko-KR" altLang="en-US" sz="934" dirty="0"/>
          </a:p>
        </p:txBody>
      </p:sp>
      <p:sp>
        <p:nvSpPr>
          <p:cNvPr id="2" name="순서도: 다른 페이지 연결선 1">
            <a:extLst>
              <a:ext uri="{FF2B5EF4-FFF2-40B4-BE49-F238E27FC236}">
                <a16:creationId xmlns:a16="http://schemas.microsoft.com/office/drawing/2014/main" id="{A932D8A5-B72D-BF8B-06F7-5CFC3DEC9010}"/>
              </a:ext>
            </a:extLst>
          </p:cNvPr>
          <p:cNvSpPr/>
          <p:nvPr userDrawn="1"/>
        </p:nvSpPr>
        <p:spPr>
          <a:xfrm>
            <a:off x="995979" y="645072"/>
            <a:ext cx="477816" cy="467138"/>
          </a:xfrm>
          <a:prstGeom prst="flowChartOffpageConnector">
            <a:avLst/>
          </a:prstGeom>
          <a:solidFill>
            <a:srgbClr val="1B8F4D"/>
          </a:solidFill>
          <a:ln>
            <a:solidFill>
              <a:srgbClr val="1B8F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</p:spTree>
    <p:extLst>
      <p:ext uri="{BB962C8B-B14F-4D97-AF65-F5344CB8AC3E}">
        <p14:creationId xmlns:p14="http://schemas.microsoft.com/office/powerpoint/2010/main" val="18690658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E2519A-3B07-6FCD-8588-7355A95BE1DE}"/>
              </a:ext>
            </a:extLst>
          </p:cNvPr>
          <p:cNvSpPr txBox="1">
            <a:spLocks/>
          </p:cNvSpPr>
          <p:nvPr userDrawn="1"/>
        </p:nvSpPr>
        <p:spPr>
          <a:xfrm>
            <a:off x="1569623" y="150665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1494" dirty="0"/>
              <a:t>오른쪽</a:t>
            </a:r>
            <a:endParaRPr lang="en-US" sz="1494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D70C2A-924D-63C1-A6F0-289C5530E792}"/>
              </a:ext>
            </a:extLst>
          </p:cNvPr>
          <p:cNvSpPr/>
          <p:nvPr userDrawn="1"/>
        </p:nvSpPr>
        <p:spPr>
          <a:xfrm>
            <a:off x="11057" y="808"/>
            <a:ext cx="6173305" cy="817377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56C269-A5D9-2686-A4FE-7F1F2217658F}"/>
              </a:ext>
            </a:extLst>
          </p:cNvPr>
          <p:cNvSpPr/>
          <p:nvPr userDrawn="1"/>
        </p:nvSpPr>
        <p:spPr>
          <a:xfrm>
            <a:off x="843561" y="688529"/>
            <a:ext cx="4766685" cy="685525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20317-9E38-3F56-C479-CADF21D82103}"/>
              </a:ext>
            </a:extLst>
          </p:cNvPr>
          <p:cNvSpPr txBox="1"/>
          <p:nvPr userDrawn="1"/>
        </p:nvSpPr>
        <p:spPr>
          <a:xfrm>
            <a:off x="1969588" y="5672131"/>
            <a:ext cx="2617448" cy="609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362" b="0" dirty="0">
                <a:solidFill>
                  <a:prstClr val="white">
                    <a:lumMod val="65000"/>
                  </a:prst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감사합니다</a:t>
            </a:r>
            <a:r>
              <a:rPr lang="en-US" altLang="ko-KR" sz="3362" b="0" dirty="0">
                <a:solidFill>
                  <a:prstClr val="white">
                    <a:lumMod val="65000"/>
                  </a:prst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  <a:endParaRPr lang="ko-KR" altLang="en-US" sz="3362" b="0" dirty="0">
              <a:solidFill>
                <a:prstClr val="white">
                  <a:lumMod val="65000"/>
                </a:prstClr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pic>
        <p:nvPicPr>
          <p:cNvPr id="12" name="Picture 2" descr="D:\은경\최종시안\스티커_로봇.png">
            <a:extLst>
              <a:ext uri="{FF2B5EF4-FFF2-40B4-BE49-F238E27FC236}">
                <a16:creationId xmlns:a16="http://schemas.microsoft.com/office/drawing/2014/main" id="{93DEDCA9-233A-10DC-C133-0D190D604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845" y="2022818"/>
            <a:ext cx="3253374" cy="318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4467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다른 페이지 연결선 6">
            <a:extLst>
              <a:ext uri="{FF2B5EF4-FFF2-40B4-BE49-F238E27FC236}">
                <a16:creationId xmlns:a16="http://schemas.microsoft.com/office/drawing/2014/main" id="{FEEFF42E-A429-EA25-A58D-8AD385973AAD}"/>
              </a:ext>
            </a:extLst>
          </p:cNvPr>
          <p:cNvSpPr/>
          <p:nvPr userDrawn="1"/>
        </p:nvSpPr>
        <p:spPr>
          <a:xfrm>
            <a:off x="913390" y="612555"/>
            <a:ext cx="477816" cy="467138"/>
          </a:xfrm>
          <a:prstGeom prst="flowChartOffpageConnector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D48BE50-BCA8-A34D-1EF3-8B6177B6B0A0}"/>
              </a:ext>
            </a:extLst>
          </p:cNvPr>
          <p:cNvCxnSpPr>
            <a:cxnSpLocks/>
          </p:cNvCxnSpPr>
          <p:nvPr userDrawn="1"/>
        </p:nvCxnSpPr>
        <p:spPr>
          <a:xfrm>
            <a:off x="1421776" y="1013488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itle 1">
            <a:extLst>
              <a:ext uri="{FF2B5EF4-FFF2-40B4-BE49-F238E27FC236}">
                <a16:creationId xmlns:a16="http://schemas.microsoft.com/office/drawing/2014/main" id="{9EC32A93-32BB-E7BE-9131-89D7050B4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990" y="736951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FBD99102-7F57-D8CF-A9EE-5961030AC8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2683" y="1435291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60DFB6C8-339C-81E4-792B-44AE557BE12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16366" y="1609674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36EB128A-F529-0546-0737-A73B6CD55FD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52306" y="3645755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BF5E3740-00CD-7E4B-8DA8-4AF65F0398B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15990" y="3820138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E7BFB79-A40E-BA52-44A7-46039F0DD1F5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582FD4-E286-E067-9093-7B412A2CD5B1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40A37B-6387-504F-DB0A-7743C2C7EB02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7">
            <a:extLst>
              <a:ext uri="{FF2B5EF4-FFF2-40B4-BE49-F238E27FC236}">
                <a16:creationId xmlns:a16="http://schemas.microsoft.com/office/drawing/2014/main" id="{64058FF1-DAD4-44D5-5985-498215655067}"/>
              </a:ext>
            </a:extLst>
          </p:cNvPr>
          <p:cNvSpPr txBox="1">
            <a:spLocks/>
          </p:cNvSpPr>
          <p:nvPr userDrawn="1"/>
        </p:nvSpPr>
        <p:spPr>
          <a:xfrm>
            <a:off x="648717" y="8510326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934" smtClean="0"/>
              <a:pPr algn="l"/>
              <a:t>‹#›</a:t>
            </a:fld>
            <a:endParaRPr lang="ko-KR" altLang="en-US" sz="934" dirty="0"/>
          </a:p>
        </p:txBody>
      </p:sp>
      <p:sp>
        <p:nvSpPr>
          <p:cNvPr id="6" name="순서도: 다른 페이지 연결선 5">
            <a:extLst>
              <a:ext uri="{FF2B5EF4-FFF2-40B4-BE49-F238E27FC236}">
                <a16:creationId xmlns:a16="http://schemas.microsoft.com/office/drawing/2014/main" id="{A2D410E5-8D58-DD7C-1B62-DA407A696C04}"/>
              </a:ext>
            </a:extLst>
          </p:cNvPr>
          <p:cNvSpPr/>
          <p:nvPr userDrawn="1"/>
        </p:nvSpPr>
        <p:spPr>
          <a:xfrm>
            <a:off x="923515" y="600938"/>
            <a:ext cx="477816" cy="467138"/>
          </a:xfrm>
          <a:prstGeom prst="flowChartOffpageConnector">
            <a:avLst/>
          </a:prstGeom>
          <a:solidFill>
            <a:srgbClr val="1B8F4D"/>
          </a:solidFill>
          <a:ln>
            <a:solidFill>
              <a:srgbClr val="1B8F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</p:spTree>
    <p:extLst>
      <p:ext uri="{BB962C8B-B14F-4D97-AF65-F5344CB8AC3E}">
        <p14:creationId xmlns:p14="http://schemas.microsoft.com/office/powerpoint/2010/main" val="1242944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E4B05E6-39DE-3155-5B26-C81E19A26888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alphaModFix amt="10000"/>
          </a:blip>
          <a:stretch>
            <a:fillRect/>
          </a:stretch>
        </p:blipFill>
        <p:spPr>
          <a:xfrm>
            <a:off x="1143596" y="1766085"/>
            <a:ext cx="4039459" cy="51838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0424" y="492583"/>
            <a:ext cx="5650766" cy="17882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424" y="2462903"/>
            <a:ext cx="5650766" cy="5870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0423" y="857518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5ED4F-5061-4292-B39D-E4856B5F82AF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222" y="8575189"/>
            <a:ext cx="2211169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27077" y="857518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52EAC-BE29-4AAD-B8A8-A623A2B8589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D00B771-74BA-D738-E388-CAFC18986D43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alphaModFix amt="10000"/>
          </a:blip>
          <a:stretch>
            <a:fillRect/>
          </a:stretch>
        </p:blipFill>
        <p:spPr>
          <a:xfrm>
            <a:off x="-196093" y="4357990"/>
            <a:ext cx="4039459" cy="51838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8787B7C-3CE7-7292-C611-F3F9DB6D8F53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alphaModFix amt="10000"/>
          </a:blip>
          <a:stretch>
            <a:fillRect/>
          </a:stretch>
        </p:blipFill>
        <p:spPr>
          <a:xfrm>
            <a:off x="2470153" y="-250006"/>
            <a:ext cx="4039459" cy="518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88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23" r:id="rId12"/>
    <p:sldLayoutId id="2147483724" r:id="rId13"/>
    <p:sldLayoutId id="2147483719" r:id="rId14"/>
    <p:sldLayoutId id="2147483720" r:id="rId15"/>
    <p:sldLayoutId id="2147483721" r:id="rId16"/>
    <p:sldLayoutId id="2147483722" r:id="rId17"/>
    <p:sldLayoutId id="2147483696" r:id="rId18"/>
    <p:sldLayoutId id="2147483703" r:id="rId19"/>
    <p:sldLayoutId id="2147483725" r:id="rId20"/>
  </p:sldLayoutIdLst>
  <p:hf hdr="0" ftr="0" dt="0"/>
  <p:txStyles>
    <p:titleStyle>
      <a:lvl1pPr algn="l" defTabSz="655168" rtl="0" eaLnBrk="1" latinLnBrk="1" hangingPunct="1">
        <a:lnSpc>
          <a:spcPct val="90000"/>
        </a:lnSpc>
        <a:spcBef>
          <a:spcPct val="0"/>
        </a:spcBef>
        <a:buNone/>
        <a:defRPr sz="31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3792" indent="-163792" algn="l" defTabSz="655168" rtl="0" eaLnBrk="1" latinLnBrk="1" hangingPunct="1">
        <a:lnSpc>
          <a:spcPct val="90000"/>
        </a:lnSpc>
        <a:spcBef>
          <a:spcPts val="717"/>
        </a:spcBef>
        <a:buFont typeface="Arial" panose="020B0604020202020204" pitchFamily="34" charset="0"/>
        <a:buChar char="•"/>
        <a:defRPr sz="2006" kern="1200">
          <a:solidFill>
            <a:schemeClr val="tx1"/>
          </a:solidFill>
          <a:latin typeface="+mn-lt"/>
          <a:ea typeface="+mn-ea"/>
          <a:cs typeface="+mn-cs"/>
        </a:defRPr>
      </a:lvl1pPr>
      <a:lvl2pPr marL="491376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2pPr>
      <a:lvl3pPr marL="818960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433" kern="1200">
          <a:solidFill>
            <a:schemeClr val="tx1"/>
          </a:solidFill>
          <a:latin typeface="+mn-lt"/>
          <a:ea typeface="+mn-ea"/>
          <a:cs typeface="+mn-cs"/>
        </a:defRPr>
      </a:lvl3pPr>
      <a:lvl4pPr marL="1146543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4pPr>
      <a:lvl5pPr marL="1474127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5pPr>
      <a:lvl6pPr marL="1801711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6pPr>
      <a:lvl7pPr marL="2129295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7pPr>
      <a:lvl8pPr marL="2456879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8pPr>
      <a:lvl9pPr marL="2784462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1pPr>
      <a:lvl2pPr marL="327584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2pPr>
      <a:lvl3pPr marL="655168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3pPr>
      <a:lvl4pPr marL="982751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4pPr>
      <a:lvl5pPr marL="1310335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5pPr>
      <a:lvl6pPr marL="1637919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6pPr>
      <a:lvl7pPr marL="1965503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7pPr>
      <a:lvl8pPr marL="2293087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8pPr>
      <a:lvl9pPr marL="2620670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89AFD-8B1D-55CB-EF18-ADC069045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3149DC-7C64-3C7D-7FA2-D65679DF7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344" y="672476"/>
            <a:ext cx="3738771" cy="338272"/>
          </a:xfrm>
        </p:spPr>
        <p:txBody>
          <a:bodyPr>
            <a:normAutofit/>
          </a:bodyPr>
          <a:lstStyle/>
          <a:p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8F4E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체스 엔진 구조 이해</a:t>
            </a:r>
            <a:endParaRPr lang="ko-KR" altLang="en-US" sz="1200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A2D03D7-B202-D930-1821-BE33BDB4E54D}"/>
              </a:ext>
            </a:extLst>
          </p:cNvPr>
          <p:cNvSpPr txBox="1">
            <a:spLocks/>
          </p:cNvSpPr>
          <p:nvPr/>
        </p:nvSpPr>
        <p:spPr>
          <a:xfrm>
            <a:off x="920175" y="1185334"/>
            <a:ext cx="4831475" cy="7552266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앞 절에서는 </a:t>
            </a:r>
            <a:r>
              <a:rPr lang="en-US" altLang="ko-KR" dirty="0"/>
              <a:t>Minimax </a:t>
            </a:r>
            <a:r>
              <a:rPr lang="ko-KR" altLang="en-US" dirty="0"/>
              <a:t>알고리즘과 </a:t>
            </a:r>
            <a:r>
              <a:rPr lang="en-US" altLang="ko-KR" dirty="0"/>
              <a:t>Alpha-Beta Pruning</a:t>
            </a:r>
            <a:r>
              <a:rPr lang="ko-KR" altLang="en-US" dirty="0"/>
              <a:t>을 이용하여 게임 트리를 탐색하고 최적의 수를 선택하는 원리를 살펴보았다</a:t>
            </a:r>
            <a:r>
              <a:rPr lang="en-US" altLang="ko-KR" dirty="0"/>
              <a:t>. </a:t>
            </a:r>
            <a:r>
              <a:rPr lang="ko-KR" altLang="en-US" dirty="0"/>
              <a:t>그렇다면 실제 체스 인공지능은 이러한 알고리즘들을 어떻게 사용할까</a:t>
            </a:r>
            <a:r>
              <a:rPr lang="en-US" altLang="ko-KR" dirty="0"/>
              <a:t>? </a:t>
            </a:r>
            <a:r>
              <a:rPr lang="ko-KR" altLang="en-US" dirty="0"/>
              <a:t>실제 체스 </a:t>
            </a:r>
            <a:r>
              <a:rPr lang="en-US" altLang="ko-KR" dirty="0"/>
              <a:t>AI</a:t>
            </a:r>
            <a:r>
              <a:rPr lang="ko-KR" altLang="en-US" dirty="0"/>
              <a:t>는 단순히 하나의 알고리즘만 사용하는 것이 아니라</a:t>
            </a:r>
            <a:r>
              <a:rPr lang="en-US" altLang="ko-KR" dirty="0"/>
              <a:t>, </a:t>
            </a:r>
            <a:r>
              <a:rPr lang="ko-KR" altLang="en-US" dirty="0"/>
              <a:t>게임 상태 관리</a:t>
            </a:r>
            <a:r>
              <a:rPr lang="en-US" altLang="ko-KR" dirty="0"/>
              <a:t>(State Management), </a:t>
            </a:r>
            <a:r>
              <a:rPr lang="ko-KR" altLang="en-US" dirty="0"/>
              <a:t>가능한 수 생성</a:t>
            </a:r>
            <a:r>
              <a:rPr lang="en-US" altLang="ko-KR" dirty="0"/>
              <a:t>(Move Generation), </a:t>
            </a:r>
            <a:r>
              <a:rPr lang="ko-KR" altLang="en-US" dirty="0"/>
              <a:t>탐색 알고리즘</a:t>
            </a:r>
            <a:r>
              <a:rPr lang="en-US" altLang="ko-KR" dirty="0"/>
              <a:t>(Search Algorithm), </a:t>
            </a:r>
            <a:r>
              <a:rPr lang="ko-KR" altLang="en-US" dirty="0"/>
              <a:t>평가 함수</a:t>
            </a:r>
            <a:r>
              <a:rPr lang="en-US" altLang="ko-KR" dirty="0"/>
              <a:t>(Evaluation Function) </a:t>
            </a:r>
            <a:r>
              <a:rPr lang="ko-KR" altLang="en-US" dirty="0"/>
              <a:t>등을 하나의 시스템으로 결합하여 동작한다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이처럼 체스 인공지능의 전체 동작 구조를 구현한 프로그램을 체스 엔진</a:t>
            </a:r>
            <a:r>
              <a:rPr lang="en-US" altLang="ko-KR" dirty="0"/>
              <a:t>(Chess Engine) </a:t>
            </a:r>
            <a:r>
              <a:rPr lang="ko-KR" altLang="en-US" dirty="0"/>
              <a:t>이라고 한다</a:t>
            </a:r>
            <a:r>
              <a:rPr lang="en-US" altLang="ko-KR" dirty="0"/>
              <a:t>. </a:t>
            </a:r>
            <a:r>
              <a:rPr lang="ko-KR" altLang="en-US" dirty="0"/>
              <a:t>체스 엔진은 먼저 현재 보드 상태를 저장하고</a:t>
            </a:r>
            <a:r>
              <a:rPr lang="en-US" altLang="ko-KR" dirty="0"/>
              <a:t>, </a:t>
            </a:r>
            <a:r>
              <a:rPr lang="ko-KR" altLang="en-US" dirty="0"/>
              <a:t>현재 상황에서 가능한 모든 합법적 수</a:t>
            </a:r>
            <a:r>
              <a:rPr lang="en-US" altLang="ko-KR" dirty="0"/>
              <a:t>(legal moves)</a:t>
            </a:r>
            <a:r>
              <a:rPr lang="ko-KR" altLang="en-US" dirty="0"/>
              <a:t>를 생성한다</a:t>
            </a:r>
            <a:r>
              <a:rPr lang="en-US" altLang="ko-KR" dirty="0"/>
              <a:t>. </a:t>
            </a:r>
            <a:r>
              <a:rPr lang="ko-KR" altLang="en-US" dirty="0"/>
              <a:t>이후 </a:t>
            </a:r>
            <a:r>
              <a:rPr lang="en-US" altLang="ko-KR" dirty="0"/>
              <a:t>Minimax</a:t>
            </a:r>
            <a:r>
              <a:rPr lang="ko-KR" altLang="en-US" dirty="0"/>
              <a:t>와 </a:t>
            </a:r>
            <a:r>
              <a:rPr lang="en-US" altLang="ko-KR" dirty="0"/>
              <a:t>Alpha-Beta Pruning </a:t>
            </a:r>
            <a:r>
              <a:rPr lang="ko-KR" altLang="en-US" dirty="0"/>
              <a:t>알고리즘을 이용하여 게임 트리를 탐색하며 여러 수를 비교한다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탐색 과정에서 평가 함수는 현재 보드 상태를 점수로 계산하고</a:t>
            </a:r>
            <a:r>
              <a:rPr lang="en-US" altLang="ko-KR" dirty="0"/>
              <a:t>, </a:t>
            </a:r>
            <a:r>
              <a:rPr lang="ko-KR" altLang="en-US" dirty="0"/>
              <a:t>탐색 알고리즘은 이 </a:t>
            </a:r>
            <a:r>
              <a:rPr lang="ko-KR" altLang="en-US" dirty="0" err="1"/>
              <a:t>평가값들을</a:t>
            </a:r>
            <a:r>
              <a:rPr lang="ko-KR" altLang="en-US" dirty="0"/>
              <a:t> 비교하여 가장 유리한 수</a:t>
            </a:r>
            <a:r>
              <a:rPr lang="en-US" altLang="ko-KR" dirty="0"/>
              <a:t>(Best Move)</a:t>
            </a:r>
            <a:r>
              <a:rPr lang="ko-KR" altLang="en-US" dirty="0"/>
              <a:t>를 선택한다</a:t>
            </a:r>
            <a:r>
              <a:rPr lang="en-US" altLang="ko-KR" dirty="0"/>
              <a:t>. </a:t>
            </a:r>
            <a:r>
              <a:rPr lang="ko-KR" altLang="en-US" dirty="0"/>
              <a:t>또한 실제 체스 엔진은 빠르고 효율적인 탐색을 위해 탐색 깊이 조절</a:t>
            </a:r>
            <a:r>
              <a:rPr lang="en-US" altLang="ko-KR" dirty="0"/>
              <a:t>, </a:t>
            </a:r>
            <a:r>
              <a:rPr lang="ko-KR" altLang="en-US" dirty="0"/>
              <a:t>가지치기</a:t>
            </a:r>
            <a:r>
              <a:rPr lang="en-US" altLang="ko-KR" dirty="0"/>
              <a:t>(Pruning), </a:t>
            </a:r>
            <a:r>
              <a:rPr lang="ko-KR" altLang="en-US" dirty="0"/>
              <a:t>탐색 순서 최적화 등의 다양한 최적화 기법도 함께 사용한다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체스 인공지능은 상태 관리</a:t>
            </a:r>
            <a:r>
              <a:rPr lang="en-US" altLang="ko-KR" dirty="0"/>
              <a:t>, </a:t>
            </a:r>
            <a:r>
              <a:rPr lang="ko-KR" altLang="en-US" dirty="0"/>
              <a:t>탐색</a:t>
            </a:r>
            <a:r>
              <a:rPr lang="en-US" altLang="ko-KR" dirty="0"/>
              <a:t>, </a:t>
            </a:r>
            <a:r>
              <a:rPr lang="ko-KR" altLang="en-US" dirty="0"/>
              <a:t>평가 기능이 서로 연결되어 동작하는 탐색 기반 인공지능 시스템이라고 볼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B38C2D2-F42F-D76A-6A9C-02D28B40A49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8F8F6"/>
              </a:clrFrom>
              <a:clrTo>
                <a:srgbClr val="F8F8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61871" y="5032587"/>
            <a:ext cx="4279716" cy="380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68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06B25-BBD8-633D-18B4-263DD73E7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BADDCE7-3C42-F6F6-0E00-F058F8D42C93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체스 엔진 개념</a:t>
            </a:r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4060B4B1-3498-0CF9-444E-381656256004}"/>
              </a:ext>
            </a:extLst>
          </p:cNvPr>
          <p:cNvSpPr txBox="1">
            <a:spLocks/>
          </p:cNvSpPr>
          <p:nvPr/>
        </p:nvSpPr>
        <p:spPr>
          <a:xfrm>
            <a:off x="1009677" y="1076960"/>
            <a:ext cx="5076798" cy="7741921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체스 엔진은 현재 보드 상태를 관리하고</a:t>
            </a:r>
            <a:r>
              <a:rPr lang="en-US" altLang="ko-KR" dirty="0"/>
              <a:t>, </a:t>
            </a:r>
            <a:r>
              <a:rPr lang="ko-KR" altLang="en-US" dirty="0"/>
              <a:t>가능한 수를 생성한 뒤 탐색 알고리즘을 이용하여 최적의 수를 계산한다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이 과정에서 </a:t>
            </a:r>
            <a:r>
              <a:rPr lang="en-US" altLang="ko-KR" dirty="0"/>
              <a:t>Minimax</a:t>
            </a:r>
            <a:r>
              <a:rPr lang="ko-KR" altLang="en-US" dirty="0"/>
              <a:t>와 </a:t>
            </a:r>
            <a:r>
              <a:rPr lang="en-US" altLang="ko-KR" dirty="0"/>
              <a:t>Alpha-Beta Pruning</a:t>
            </a:r>
            <a:r>
              <a:rPr lang="ko-KR" altLang="en-US" dirty="0"/>
              <a:t>은 게임 트리를 탐색하며</a:t>
            </a:r>
            <a:r>
              <a:rPr lang="en-US" altLang="ko-KR" dirty="0"/>
              <a:t>,</a:t>
            </a:r>
            <a:r>
              <a:rPr lang="ko-KR" altLang="en-US" dirty="0"/>
              <a:t>평가 함수는 현재 보드 상태를 점수로 계산하여 탐색 알고리즘에 전달한다</a:t>
            </a:r>
            <a:r>
              <a:rPr lang="en-US" altLang="ko-KR" dirty="0"/>
              <a:t>. </a:t>
            </a:r>
            <a:r>
              <a:rPr lang="ko-KR" altLang="en-US" dirty="0"/>
              <a:t>최종적으로 체스 엔진은 가장 높은 </a:t>
            </a:r>
            <a:r>
              <a:rPr lang="ko-KR" altLang="en-US" dirty="0" err="1"/>
              <a:t>평가값을</a:t>
            </a:r>
            <a:r>
              <a:rPr lang="ko-KR" altLang="en-US" dirty="0"/>
              <a:t> 가지는 최적의 수</a:t>
            </a:r>
            <a:r>
              <a:rPr lang="en-US" altLang="ko-KR" dirty="0"/>
              <a:t>(Best Move)</a:t>
            </a:r>
            <a:r>
              <a:rPr lang="ko-KR" altLang="en-US" dirty="0"/>
              <a:t>를 선택하여 반환한다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다음 절에서는 </a:t>
            </a:r>
            <a:r>
              <a:rPr lang="en-US" altLang="ko-KR" dirty="0"/>
              <a:t>python-chess </a:t>
            </a:r>
            <a:r>
              <a:rPr lang="ko-KR" altLang="en-US" dirty="0"/>
              <a:t>라이브러리를 이용하여 체스 보드 상태를 직접 생성하고</a:t>
            </a:r>
            <a:r>
              <a:rPr lang="en-US" altLang="ko-KR" dirty="0"/>
              <a:t>, </a:t>
            </a:r>
            <a:r>
              <a:rPr lang="ko-KR" altLang="en-US" dirty="0"/>
              <a:t>가능한 수</a:t>
            </a:r>
            <a:r>
              <a:rPr lang="en-US" altLang="ko-KR" dirty="0"/>
              <a:t>(legal moves)</a:t>
            </a:r>
            <a:r>
              <a:rPr lang="ko-KR" altLang="en-US" dirty="0"/>
              <a:t>를 처리하는 방법을 살펴본다</a:t>
            </a:r>
            <a:r>
              <a:rPr lang="en-US" altLang="ko-KR" dirty="0"/>
              <a:t>. </a:t>
            </a:r>
            <a:r>
              <a:rPr lang="ko-KR" altLang="en-US" dirty="0"/>
              <a:t>이를 통해 실제 체스 엔진이 게임 상태를 어떻게 관리하고 탐색 알고리즘과 연결되는지를 단계적으로 구현해본다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5043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1AB2D-81CA-AFE3-CEE4-465DC4D16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301B05-25F1-B686-669B-B9F8949D1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344" y="672476"/>
            <a:ext cx="3738771" cy="338272"/>
          </a:xfrm>
        </p:spPr>
        <p:txBody>
          <a:bodyPr>
            <a:normAutofit/>
          </a:bodyPr>
          <a:lstStyle/>
          <a:p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A8F4E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python-chess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8F4E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와 체스 상태 처리</a:t>
            </a:r>
            <a:endParaRPr lang="ko-KR" altLang="en-US" sz="1200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2F9977D7-0426-19A9-B9E7-09F9EAB52620}"/>
              </a:ext>
            </a:extLst>
          </p:cNvPr>
          <p:cNvSpPr txBox="1">
            <a:spLocks/>
          </p:cNvSpPr>
          <p:nvPr/>
        </p:nvSpPr>
        <p:spPr>
          <a:xfrm>
            <a:off x="920175" y="1484230"/>
            <a:ext cx="4831475" cy="757849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앞에서는 체스 엔진이 현재 게임 상태를 관리하고</a:t>
            </a:r>
            <a:r>
              <a:rPr lang="en-US" altLang="ko-KR" dirty="0"/>
              <a:t>, </a:t>
            </a:r>
            <a:r>
              <a:rPr lang="ko-KR" altLang="en-US" dirty="0"/>
              <a:t>가능한 수를 생성한 뒤 탐색 알고리즘과 평가 함수를 이용하여 최적의 수를 선택하는 구조를 살펴보았다</a:t>
            </a:r>
            <a:r>
              <a:rPr lang="en-US" altLang="ko-KR" dirty="0"/>
              <a:t>. </a:t>
            </a:r>
            <a:r>
              <a:rPr lang="ko-KR" altLang="en-US" dirty="0"/>
              <a:t>실제 체스 인공지능을 구현하기 위해서는 현재 </a:t>
            </a:r>
            <a:r>
              <a:rPr lang="ko-KR" altLang="en-US" dirty="0" err="1"/>
              <a:t>체스판</a:t>
            </a:r>
            <a:r>
              <a:rPr lang="ko-KR" altLang="en-US" dirty="0"/>
              <a:t> 상태</a:t>
            </a:r>
            <a:r>
              <a:rPr lang="en-US" altLang="ko-KR" dirty="0"/>
              <a:t>(State)</a:t>
            </a:r>
            <a:r>
              <a:rPr lang="ko-KR" altLang="en-US" dirty="0"/>
              <a:t>를 코드로 표현하고</a:t>
            </a:r>
            <a:r>
              <a:rPr lang="en-US" altLang="ko-KR" dirty="0"/>
              <a:t>,</a:t>
            </a:r>
            <a:r>
              <a:rPr lang="ko-KR" altLang="en-US" dirty="0"/>
              <a:t>말의 이동과 게임 규칙을 처리할 수 있어야 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python-chess</a:t>
            </a:r>
            <a:r>
              <a:rPr lang="ko-KR" altLang="en-US" dirty="0"/>
              <a:t>는 이러한 체스 상태 처리를 </a:t>
            </a:r>
            <a:r>
              <a:rPr lang="ko-KR" altLang="en-US" dirty="0" err="1"/>
              <a:t>파이썬에서</a:t>
            </a:r>
            <a:r>
              <a:rPr lang="ko-KR" altLang="en-US" dirty="0"/>
              <a:t> 쉽게 구현할 수 있도록 제공되는 오픈소스 라이브러리이다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python-chess</a:t>
            </a:r>
            <a:r>
              <a:rPr lang="ko-KR" altLang="en-US" dirty="0"/>
              <a:t>는 다음과 같은 기능을 제공한다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• </a:t>
            </a:r>
            <a:r>
              <a:rPr lang="ko-KR" altLang="en-US" dirty="0"/>
              <a:t>체스 보드</a:t>
            </a:r>
            <a:r>
              <a:rPr lang="en-US" altLang="ko-KR" dirty="0"/>
              <a:t>(Board) </a:t>
            </a:r>
            <a:r>
              <a:rPr lang="ko-KR" altLang="en-US" dirty="0"/>
              <a:t>생성 및 상태 관리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• </a:t>
            </a:r>
            <a:r>
              <a:rPr lang="ko-KR" altLang="en-US" dirty="0"/>
              <a:t>말의 이동</a:t>
            </a:r>
            <a:r>
              <a:rPr lang="en-US" altLang="ko-KR" dirty="0"/>
              <a:t>(Move) </a:t>
            </a:r>
            <a:r>
              <a:rPr lang="ko-KR" altLang="en-US" dirty="0"/>
              <a:t>처리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• </a:t>
            </a:r>
            <a:r>
              <a:rPr lang="ko-KR" altLang="en-US" dirty="0"/>
              <a:t>합법적 수</a:t>
            </a:r>
            <a:r>
              <a:rPr lang="en-US" altLang="ko-KR" dirty="0"/>
              <a:t>(legal moves) </a:t>
            </a:r>
            <a:r>
              <a:rPr lang="ko-KR" altLang="en-US" dirty="0"/>
              <a:t>생성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• </a:t>
            </a:r>
            <a:r>
              <a:rPr lang="ko-KR" altLang="en-US" dirty="0"/>
              <a:t>게임 종료 판정</a:t>
            </a:r>
            <a:r>
              <a:rPr lang="en-US" altLang="ko-KR" dirty="0"/>
              <a:t>(Checkmate, Stalemate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• </a:t>
            </a:r>
            <a:r>
              <a:rPr lang="ko-KR" altLang="en-US" dirty="0"/>
              <a:t>체스 엔진 및 </a:t>
            </a:r>
            <a:r>
              <a:rPr lang="en-US" altLang="ko-KR" dirty="0"/>
              <a:t>AI </a:t>
            </a:r>
            <a:r>
              <a:rPr lang="ko-KR" altLang="en-US" dirty="0"/>
              <a:t>알고리즘 연결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python-chess</a:t>
            </a:r>
            <a:r>
              <a:rPr lang="ko-KR" altLang="en-US" dirty="0"/>
              <a:t>는 현재 보드 상태를 저장하고</a:t>
            </a:r>
            <a:r>
              <a:rPr lang="en-US" altLang="ko-KR" dirty="0"/>
              <a:t>, </a:t>
            </a:r>
            <a:r>
              <a:rPr lang="ko-KR" altLang="en-US" dirty="0"/>
              <a:t>현재 상태에서 가능한 합법적 수</a:t>
            </a:r>
            <a:r>
              <a:rPr lang="en-US" altLang="ko-KR" dirty="0"/>
              <a:t>(legal moves)</a:t>
            </a:r>
            <a:r>
              <a:rPr lang="ko-KR" altLang="en-US" dirty="0"/>
              <a:t>를 생성하며</a:t>
            </a:r>
            <a:r>
              <a:rPr lang="en-US" altLang="ko-KR" dirty="0"/>
              <a:t>, </a:t>
            </a:r>
            <a:r>
              <a:rPr lang="ko-KR" altLang="en-US" dirty="0"/>
              <a:t>선택한 수를 보드에 적용하여 다음 상태</a:t>
            </a:r>
            <a:r>
              <a:rPr lang="en-US" altLang="ko-KR" dirty="0"/>
              <a:t>(Next State)</a:t>
            </a:r>
            <a:r>
              <a:rPr lang="ko-KR" altLang="en-US" dirty="0"/>
              <a:t>로 변경하는 기능을 제공한다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D3EA382-6900-53DF-285C-F782EB94FC20}"/>
              </a:ext>
            </a:extLst>
          </p:cNvPr>
          <p:cNvSpPr txBox="1">
            <a:spLocks/>
          </p:cNvSpPr>
          <p:nvPr/>
        </p:nvSpPr>
        <p:spPr>
          <a:xfrm>
            <a:off x="799963" y="1166008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100" dirty="0"/>
              <a:t>python-chess </a:t>
            </a:r>
            <a:r>
              <a:rPr lang="ko-KR" altLang="en-US" sz="1100" dirty="0"/>
              <a:t>라이브러리 이해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34B2FEB-E3AF-6C4B-0292-83F128A4A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74" y="5202860"/>
            <a:ext cx="4711263" cy="256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561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8C13C-5F74-4381-38A3-AF8FAD507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F8CA0EC-E83A-AFAE-F3E4-7E1DE626AD08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python-chess </a:t>
            </a:r>
            <a:r>
              <a:rPr lang="ko-KR" altLang="en-US" sz="1200" dirty="0"/>
              <a:t>라이브러리 이해</a:t>
            </a:r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9B28CDD0-3C6D-42E0-E7AF-9F21359182AF}"/>
              </a:ext>
            </a:extLst>
          </p:cNvPr>
          <p:cNvSpPr txBox="1">
            <a:spLocks/>
          </p:cNvSpPr>
          <p:nvPr/>
        </p:nvSpPr>
        <p:spPr>
          <a:xfrm>
            <a:off x="1009677" y="1076960"/>
            <a:ext cx="5076798" cy="7741921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또한 게임 종료 여부</a:t>
            </a:r>
            <a:r>
              <a:rPr lang="en-US" altLang="ko-KR" dirty="0"/>
              <a:t>(checkmate, stalemate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를 판정하고</a:t>
            </a:r>
            <a:r>
              <a:rPr lang="en-US" altLang="ko-KR" dirty="0"/>
              <a:t>, </a:t>
            </a:r>
            <a:r>
              <a:rPr lang="ko-KR" altLang="en-US" dirty="0"/>
              <a:t>현재 게임 결과를 반환하는 기능도 함께 제공한다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그림과 같이 체스 </a:t>
            </a:r>
            <a:r>
              <a:rPr lang="en-US" altLang="ko-KR" dirty="0"/>
              <a:t>AI</a:t>
            </a:r>
            <a:r>
              <a:rPr lang="ko-KR" altLang="en-US" dirty="0"/>
              <a:t>는 먼저 현재 상태</a:t>
            </a:r>
            <a:r>
              <a:rPr lang="en-US" altLang="ko-KR" dirty="0"/>
              <a:t>(State)</a:t>
            </a:r>
            <a:r>
              <a:rPr lang="ko-KR" altLang="en-US" dirty="0"/>
              <a:t>를 저장한 뒤</a:t>
            </a:r>
            <a:r>
              <a:rPr lang="en-US" altLang="ko-KR" dirty="0"/>
              <a:t>, </a:t>
            </a:r>
            <a:r>
              <a:rPr lang="ko-KR" altLang="en-US" dirty="0"/>
              <a:t>가능한 수</a:t>
            </a:r>
            <a:r>
              <a:rPr lang="en-US" altLang="ko-KR" dirty="0"/>
              <a:t>(legal moves)</a:t>
            </a:r>
            <a:r>
              <a:rPr lang="ko-KR" altLang="en-US" dirty="0"/>
              <a:t>를 생성한다</a:t>
            </a:r>
            <a:r>
              <a:rPr lang="en-US" altLang="ko-KR" dirty="0"/>
              <a:t>.</a:t>
            </a:r>
            <a:r>
              <a:rPr lang="ko-KR" altLang="en-US" dirty="0"/>
              <a:t>이후 선택한 수</a:t>
            </a:r>
            <a:r>
              <a:rPr lang="en-US" altLang="ko-KR" dirty="0"/>
              <a:t>(move)</a:t>
            </a:r>
            <a:r>
              <a:rPr lang="ko-KR" altLang="en-US" dirty="0"/>
              <a:t>를 현재 보드에 적용하여 다음 상태</a:t>
            </a:r>
            <a:r>
              <a:rPr lang="en-US" altLang="ko-KR" dirty="0"/>
              <a:t>(Next State)</a:t>
            </a:r>
            <a:r>
              <a:rPr lang="ko-KR" altLang="en-US" dirty="0"/>
              <a:t>로 이동하게 된다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체스 인공지능은 현재 상태에서 가능한 여러 상태를 반복적으로 생성하고 탐색하면서 최적의 수</a:t>
            </a:r>
            <a:r>
              <a:rPr lang="en-US" altLang="ko-KR" dirty="0"/>
              <a:t>(Best Move)</a:t>
            </a:r>
            <a:r>
              <a:rPr lang="ko-KR" altLang="en-US" dirty="0"/>
              <a:t>를 계산하게 된다</a:t>
            </a:r>
            <a:r>
              <a:rPr lang="en-US" altLang="ko-KR" dirty="0"/>
              <a:t>. python-chess</a:t>
            </a:r>
            <a:r>
              <a:rPr lang="ko-KR" altLang="en-US" dirty="0"/>
              <a:t>는 이러한 상태</a:t>
            </a:r>
            <a:r>
              <a:rPr lang="en-US" altLang="ko-KR" dirty="0"/>
              <a:t>(State) </a:t>
            </a:r>
            <a:r>
              <a:rPr lang="ko-KR" altLang="en-US" dirty="0"/>
              <a:t>관리 과정을 코드로 쉽게 구현할 수 있도록 도와주는 핵심 도구라고 볼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python-chess</a:t>
            </a:r>
            <a:r>
              <a:rPr lang="ko-KR" altLang="en-US" dirty="0"/>
              <a:t>를 사용하려면 먼저 </a:t>
            </a:r>
            <a:r>
              <a:rPr lang="en-US" altLang="ko-KR" dirty="0"/>
              <a:t>VS Code</a:t>
            </a:r>
            <a:r>
              <a:rPr lang="ko-KR" altLang="en-US" dirty="0"/>
              <a:t>에서 </a:t>
            </a:r>
            <a:r>
              <a:rPr lang="en-US" altLang="ko-KR" dirty="0"/>
              <a:t>Python </a:t>
            </a:r>
            <a:r>
              <a:rPr lang="ko-KR" altLang="en-US" dirty="0"/>
              <a:t>환경을 준비한 뒤 라이브러리를 설치해야 한다</a:t>
            </a:r>
            <a:r>
              <a:rPr lang="en-US" altLang="ko-KR" dirty="0"/>
              <a:t>. </a:t>
            </a:r>
            <a:r>
              <a:rPr lang="ko-KR" altLang="en-US" dirty="0"/>
              <a:t>현재 공식 문서에서는 </a:t>
            </a:r>
            <a:r>
              <a:rPr lang="en-US" altLang="ko-KR" dirty="0"/>
              <a:t>Python 3.8 </a:t>
            </a:r>
            <a:r>
              <a:rPr lang="ko-KR" altLang="en-US" dirty="0"/>
              <a:t>이상을 요구하며</a:t>
            </a:r>
            <a:r>
              <a:rPr lang="en-US" altLang="ko-KR" dirty="0"/>
              <a:t>, </a:t>
            </a:r>
            <a:r>
              <a:rPr lang="ko-KR" altLang="en-US" dirty="0"/>
              <a:t>설치 명령은 다음과 같이 안내한다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다만 </a:t>
            </a:r>
            <a:r>
              <a:rPr lang="en-US" altLang="ko-KR" dirty="0" err="1"/>
              <a:t>PyPI</a:t>
            </a:r>
            <a:r>
              <a:rPr lang="ko-KR" altLang="en-US" dirty="0"/>
              <a:t>에는 </a:t>
            </a:r>
            <a:r>
              <a:rPr lang="en-US" altLang="ko-KR" dirty="0"/>
              <a:t>python-chess </a:t>
            </a:r>
            <a:r>
              <a:rPr lang="ko-KR" altLang="en-US" dirty="0"/>
              <a:t>패키지도 존재하므로</a:t>
            </a:r>
            <a:r>
              <a:rPr lang="en-US" altLang="ko-KR" dirty="0"/>
              <a:t>, </a:t>
            </a:r>
            <a:r>
              <a:rPr lang="ko-KR" altLang="en-US" dirty="0"/>
              <a:t>실습 환경에서는 다음 명령도 사용할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이 교재에서는 </a:t>
            </a:r>
            <a:r>
              <a:rPr lang="en-US" altLang="ko-KR" dirty="0"/>
              <a:t>VS Code </a:t>
            </a:r>
            <a:r>
              <a:rPr lang="ko-KR" altLang="en-US" dirty="0"/>
              <a:t>터미널에서 다음 순서로 설치한다</a:t>
            </a:r>
            <a:r>
              <a:rPr lang="en-US" altLang="ko-KR" dirty="0"/>
              <a:t>.</a:t>
            </a:r>
          </a:p>
          <a:p>
            <a:pPr>
              <a:buAutoNum type="arabicParenBoth"/>
            </a:pPr>
            <a:r>
              <a:rPr lang="en-US" altLang="ko-KR" b="1" dirty="0"/>
              <a:t>VS Code</a:t>
            </a:r>
            <a:r>
              <a:rPr lang="ko-KR" altLang="en-US" b="1" dirty="0"/>
              <a:t>에서 프로젝트 폴더 열기</a:t>
            </a:r>
            <a:endParaRPr lang="ko-KR" altLang="en-US" dirty="0"/>
          </a:p>
          <a:p>
            <a:pPr marL="114300"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먼저 체스 </a:t>
            </a:r>
            <a:r>
              <a:rPr lang="en-US" altLang="ko-KR" dirty="0">
                <a:latin typeface="+mn-ea"/>
              </a:rPr>
              <a:t>AI </a:t>
            </a:r>
            <a:r>
              <a:rPr lang="ko-KR" altLang="en-US" dirty="0">
                <a:latin typeface="+mn-ea"/>
              </a:rPr>
              <a:t>실습용 폴더를 만든다</a:t>
            </a:r>
            <a:r>
              <a:rPr lang="en-US" altLang="ko-KR" dirty="0">
                <a:latin typeface="+mn-ea"/>
              </a:rPr>
              <a:t>. (</a:t>
            </a:r>
            <a:r>
              <a:rPr lang="ko-KR" altLang="en-US" dirty="0">
                <a:latin typeface="+mn-ea"/>
              </a:rPr>
              <a:t>예시 </a:t>
            </a:r>
            <a:r>
              <a:rPr lang="en-US" altLang="ko-KR" dirty="0">
                <a:latin typeface="+mn-ea"/>
              </a:rPr>
              <a:t>: </a:t>
            </a:r>
            <a:r>
              <a:rPr lang="en-US" altLang="ko-KR" dirty="0" err="1">
                <a:latin typeface="+mn-ea"/>
              </a:rPr>
              <a:t>chess_ai_project</a:t>
            </a:r>
            <a:r>
              <a:rPr lang="en-US" altLang="ko-KR" dirty="0">
                <a:latin typeface="+mn-ea"/>
              </a:rPr>
              <a:t>)</a:t>
            </a:r>
          </a:p>
          <a:p>
            <a:pPr marL="114300" lvl="1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VS Code</a:t>
            </a:r>
            <a:r>
              <a:rPr lang="ko-KR" altLang="en-US" dirty="0">
                <a:latin typeface="+mn-ea"/>
              </a:rPr>
              <a:t>에서 해당 폴더를 연 뒤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상단 메뉴에서 다음을 선택한다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114300" lvl="1">
              <a:lnSpc>
                <a:spcPct val="150000"/>
              </a:lnSpc>
            </a:pPr>
            <a:endParaRPr lang="en-US" altLang="ko-KR" dirty="0">
              <a:latin typeface="+mn-ea"/>
            </a:endParaRPr>
          </a:p>
          <a:p>
            <a:pPr>
              <a:buAutoNum type="arabicParenBoth"/>
            </a:pPr>
            <a:r>
              <a:rPr lang="en-US" altLang="ko-KR" b="1" dirty="0"/>
              <a:t>Python </a:t>
            </a:r>
            <a:r>
              <a:rPr lang="ko-KR" altLang="en-US" b="1" dirty="0"/>
              <a:t>설치 확인하기</a:t>
            </a:r>
            <a:endParaRPr lang="ko-KR" altLang="en-US" dirty="0"/>
          </a:p>
          <a:p>
            <a:pPr marL="114300"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터미널에 다음 명령을 입력한다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114300" lvl="1">
              <a:lnSpc>
                <a:spcPct val="150000"/>
              </a:lnSpc>
            </a:pPr>
            <a:endParaRPr lang="en-US" altLang="ko-KR" dirty="0">
              <a:latin typeface="+mn-ea"/>
            </a:endParaRPr>
          </a:p>
          <a:p>
            <a:pPr marL="114300" lvl="1">
              <a:lnSpc>
                <a:spcPct val="150000"/>
              </a:lnSpc>
            </a:pPr>
            <a:r>
              <a:rPr lang="ko-KR" altLang="en-US" dirty="0"/>
              <a:t>정상적으로 설치되어 있다면 다음과 비슷하게 출력된다</a:t>
            </a:r>
            <a:r>
              <a:rPr lang="en-US" altLang="ko-KR" dirty="0"/>
              <a:t>.</a:t>
            </a:r>
            <a:endParaRPr lang="en-US" altLang="ko-KR" dirty="0">
              <a:latin typeface="+mn-ea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164EF5CB-D035-0D5D-5C01-992D09436B05}"/>
              </a:ext>
            </a:extLst>
          </p:cNvPr>
          <p:cNvSpPr txBox="1">
            <a:spLocks/>
          </p:cNvSpPr>
          <p:nvPr/>
        </p:nvSpPr>
        <p:spPr>
          <a:xfrm>
            <a:off x="986211" y="3041106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100"/>
              <a:t>python-chess </a:t>
            </a:r>
            <a:r>
              <a:rPr lang="ko-KR" altLang="en-US" sz="1100"/>
              <a:t>설치하기</a:t>
            </a:r>
            <a:endParaRPr lang="ko-KR" altLang="en-US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AC29F7-375A-E7D5-7149-32C0A973227A}"/>
              </a:ext>
            </a:extLst>
          </p:cNvPr>
          <p:cNvSpPr txBox="1"/>
          <p:nvPr/>
        </p:nvSpPr>
        <p:spPr>
          <a:xfrm>
            <a:off x="1571276" y="4364365"/>
            <a:ext cx="33855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pip install chess </a:t>
            </a:r>
            <a:endParaRPr lang="ko-KR" alt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8D600B-F401-B5AF-E0D0-FD8B491320B1}"/>
              </a:ext>
            </a:extLst>
          </p:cNvPr>
          <p:cNvSpPr txBox="1"/>
          <p:nvPr/>
        </p:nvSpPr>
        <p:spPr>
          <a:xfrm>
            <a:off x="1571276" y="5171517"/>
            <a:ext cx="33855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pip install python-chess </a:t>
            </a:r>
            <a:endParaRPr lang="ko-KR" alt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42FBB-5552-D36A-0EF1-0B436FD3D8D6}"/>
              </a:ext>
            </a:extLst>
          </p:cNvPr>
          <p:cNvSpPr txBox="1"/>
          <p:nvPr/>
        </p:nvSpPr>
        <p:spPr>
          <a:xfrm>
            <a:off x="1571276" y="6756672"/>
            <a:ext cx="33855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Terminal → New Terminal </a:t>
            </a:r>
            <a:endParaRPr lang="ko-KR" alt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A0DA3A-400C-8553-D5F8-BE16B0207E5C}"/>
              </a:ext>
            </a:extLst>
          </p:cNvPr>
          <p:cNvSpPr txBox="1"/>
          <p:nvPr/>
        </p:nvSpPr>
        <p:spPr>
          <a:xfrm>
            <a:off x="1571276" y="7651395"/>
            <a:ext cx="33855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python --version </a:t>
            </a:r>
            <a:endParaRPr lang="ko-KR" alt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8A8FC9-2888-16C8-6C70-C502F453C2F2}"/>
              </a:ext>
            </a:extLst>
          </p:cNvPr>
          <p:cNvSpPr txBox="1"/>
          <p:nvPr/>
        </p:nvSpPr>
        <p:spPr>
          <a:xfrm>
            <a:off x="1571276" y="8246036"/>
            <a:ext cx="338559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Python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3.11.5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 altLang="ko-KR" sz="1100" b="0" dirty="0">
              <a:effectLst/>
            </a:endParaRPr>
          </a:p>
          <a:p>
            <a:pPr>
              <a:buNone/>
            </a:pPr>
            <a:br>
              <a:rPr lang="en-US" altLang="ko-KR" sz="1100" dirty="0"/>
            </a:b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276412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C533D-CC78-9384-C681-518032EED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AB054-D066-8E9E-C888-79BF1E95BE0C}"/>
              </a:ext>
            </a:extLst>
          </p:cNvPr>
          <p:cNvSpPr txBox="1">
            <a:spLocks/>
          </p:cNvSpPr>
          <p:nvPr/>
        </p:nvSpPr>
        <p:spPr>
          <a:xfrm>
            <a:off x="689208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python-chess </a:t>
            </a:r>
            <a:r>
              <a:rPr lang="ko-KR" altLang="en-US" sz="1200" dirty="0"/>
              <a:t>설치하기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F04084B0-D7BE-32C5-0418-D4386E8665CF}"/>
              </a:ext>
            </a:extLst>
          </p:cNvPr>
          <p:cNvSpPr txBox="1">
            <a:spLocks/>
          </p:cNvSpPr>
          <p:nvPr/>
        </p:nvSpPr>
        <p:spPr>
          <a:xfrm>
            <a:off x="689208" y="1071031"/>
            <a:ext cx="4984284" cy="7691967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lvl="1">
              <a:lnSpc>
                <a:spcPct val="150000"/>
              </a:lnSpc>
            </a:pPr>
            <a:r>
              <a:rPr lang="ko-KR" altLang="en-US" dirty="0"/>
              <a:t>만약 </a:t>
            </a:r>
            <a:r>
              <a:rPr lang="en-US" altLang="ko-KR" dirty="0"/>
              <a:t>Python </a:t>
            </a:r>
            <a:r>
              <a:rPr lang="ko-KR" altLang="en-US" dirty="0"/>
              <a:t>버전이 </a:t>
            </a:r>
            <a:r>
              <a:rPr lang="en-US" altLang="ko-KR" dirty="0"/>
              <a:t>3.8</a:t>
            </a:r>
            <a:r>
              <a:rPr lang="ko-KR" altLang="en-US" dirty="0"/>
              <a:t>보다 낮다면 최신 </a:t>
            </a:r>
            <a:r>
              <a:rPr lang="en-US" altLang="ko-KR" dirty="0"/>
              <a:t>Python</a:t>
            </a:r>
            <a:r>
              <a:rPr lang="ko-KR" altLang="en-US" dirty="0"/>
              <a:t>을 설치해야 한다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(3) python-chess </a:t>
            </a:r>
            <a:r>
              <a:rPr lang="ko-KR" altLang="en-US" b="1" dirty="0"/>
              <a:t>설치하기</a:t>
            </a:r>
            <a:endParaRPr lang="ko-KR" altLang="en-US" dirty="0"/>
          </a:p>
          <a:p>
            <a:pPr marL="114300" lvl="1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VS Code </a:t>
            </a:r>
            <a:r>
              <a:rPr lang="ko-KR" altLang="en-US" dirty="0">
                <a:latin typeface="+mn-ea"/>
              </a:rPr>
              <a:t>터미널에서 다음 명령을 입력한다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114300" lvl="1">
              <a:lnSpc>
                <a:spcPct val="150000"/>
              </a:lnSpc>
            </a:pPr>
            <a:endParaRPr lang="en-US" altLang="ko-KR" dirty="0">
              <a:latin typeface="+mn-ea"/>
            </a:endParaRPr>
          </a:p>
          <a:p>
            <a:pPr marL="114300" lvl="1">
              <a:lnSpc>
                <a:spcPct val="150000"/>
              </a:lnSpc>
            </a:pPr>
            <a:endParaRPr lang="en-US" altLang="ko-KR" dirty="0">
              <a:latin typeface="+mn-ea"/>
            </a:endParaRPr>
          </a:p>
          <a:p>
            <a:pPr marL="114300"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설치가 끝나면 다음과 비슷한 메시지가 출력된다</a:t>
            </a:r>
            <a:endParaRPr lang="en-US" altLang="ko-KR" dirty="0">
              <a:latin typeface="+mn-ea"/>
            </a:endParaRPr>
          </a:p>
          <a:p>
            <a:pPr marL="114300" lvl="1">
              <a:lnSpc>
                <a:spcPct val="150000"/>
              </a:lnSpc>
            </a:pPr>
            <a:endParaRPr lang="en-US" altLang="ko-KR" dirty="0"/>
          </a:p>
          <a:p>
            <a:pPr marL="114300" lvl="1">
              <a:lnSpc>
                <a:spcPct val="150000"/>
              </a:lnSpc>
            </a:pPr>
            <a:endParaRPr lang="en-US" altLang="ko-KR" dirty="0"/>
          </a:p>
          <a:p>
            <a:pPr marL="114300" lvl="1">
              <a:lnSpc>
                <a:spcPct val="150000"/>
              </a:lnSpc>
            </a:pPr>
            <a:r>
              <a:rPr lang="ko-KR" altLang="en-US" dirty="0"/>
              <a:t>만약 </a:t>
            </a:r>
            <a:r>
              <a:rPr lang="en-US" altLang="ko-KR" dirty="0"/>
              <a:t>pip </a:t>
            </a:r>
            <a:r>
              <a:rPr lang="ko-KR" altLang="en-US" dirty="0"/>
              <a:t>명령이 인식되지 않으면 다음 명령을 사용한다</a:t>
            </a:r>
            <a:r>
              <a:rPr lang="en-US" altLang="ko-KR" dirty="0"/>
              <a:t>.</a:t>
            </a:r>
          </a:p>
          <a:p>
            <a:pPr marL="114300" lvl="1">
              <a:lnSpc>
                <a:spcPct val="150000"/>
              </a:lnSpc>
            </a:pPr>
            <a:endParaRPr lang="en-US" altLang="ko-KR" dirty="0"/>
          </a:p>
          <a:p>
            <a:pPr marL="114300" lvl="1">
              <a:lnSpc>
                <a:spcPct val="150000"/>
              </a:lnSpc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(4) </a:t>
            </a:r>
            <a:r>
              <a:rPr lang="ko-KR" altLang="en-US" b="1" dirty="0"/>
              <a:t>설치 확인 코드 작성하기</a:t>
            </a:r>
            <a:endParaRPr lang="ko-KR" altLang="en-US" dirty="0"/>
          </a:p>
          <a:p>
            <a:pPr marL="114300" lvl="1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VS Code</a:t>
            </a:r>
            <a:r>
              <a:rPr lang="ko-KR" altLang="en-US" dirty="0">
                <a:latin typeface="+mn-ea"/>
              </a:rPr>
              <a:t>에서 새 파일을 만들고 이름을 다음과 같이 저장한다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114300" lvl="1">
              <a:lnSpc>
                <a:spcPct val="150000"/>
              </a:lnSpc>
            </a:pPr>
            <a:endParaRPr lang="en-US" altLang="ko-KR" dirty="0">
              <a:latin typeface="+mn-ea"/>
            </a:endParaRPr>
          </a:p>
          <a:p>
            <a:pPr marL="114300" lvl="1">
              <a:lnSpc>
                <a:spcPct val="150000"/>
              </a:lnSpc>
            </a:pPr>
            <a:endParaRPr lang="en-US" altLang="ko-KR" dirty="0">
              <a:latin typeface="+mn-ea"/>
            </a:endParaRPr>
          </a:p>
          <a:p>
            <a:pPr marL="114300" lvl="1">
              <a:lnSpc>
                <a:spcPct val="150000"/>
              </a:lnSpc>
            </a:pPr>
            <a:endParaRPr lang="en-US" altLang="ko-KR" dirty="0">
              <a:latin typeface="+mn-ea"/>
            </a:endParaRPr>
          </a:p>
          <a:p>
            <a:pPr marL="114300" lvl="1">
              <a:lnSpc>
                <a:spcPct val="150000"/>
              </a:lnSpc>
            </a:pPr>
            <a:endParaRPr lang="en-US" altLang="ko-KR" dirty="0">
              <a:latin typeface="+mn-ea"/>
            </a:endParaRPr>
          </a:p>
          <a:p>
            <a:pPr marL="114300" lvl="1">
              <a:lnSpc>
                <a:spcPct val="150000"/>
              </a:lnSpc>
            </a:pPr>
            <a:r>
              <a:rPr lang="en-US" altLang="ko-KR" b="1" dirty="0"/>
              <a:t>[</a:t>
            </a:r>
            <a:r>
              <a:rPr lang="ko-KR" altLang="en-US" b="1" dirty="0"/>
              <a:t>예제 코드 작성</a:t>
            </a:r>
            <a:r>
              <a:rPr lang="en-US" altLang="ko-KR" b="1" dirty="0"/>
              <a:t> ]</a:t>
            </a:r>
            <a:endParaRPr lang="en-US" altLang="ko-KR" dirty="0"/>
          </a:p>
          <a:p>
            <a:pPr marL="114300" lvl="1">
              <a:lnSpc>
                <a:spcPct val="150000"/>
              </a:lnSpc>
            </a:pPr>
            <a:endParaRPr lang="en-US" altLang="ko-KR" dirty="0">
              <a:latin typeface="+mn-ea"/>
            </a:endParaRPr>
          </a:p>
          <a:p>
            <a:pPr marL="114300" lvl="1"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C09309-D097-B195-2757-1F351A3FB1CA}"/>
              </a:ext>
            </a:extLst>
          </p:cNvPr>
          <p:cNvSpPr txBox="1"/>
          <p:nvPr/>
        </p:nvSpPr>
        <p:spPr>
          <a:xfrm>
            <a:off x="1192193" y="2037673"/>
            <a:ext cx="33798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pip install chess </a:t>
            </a:r>
            <a:endParaRPr lang="ko-KR" alt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71E41D-CE73-87BB-A0E3-1B0BA1CCED02}"/>
              </a:ext>
            </a:extLst>
          </p:cNvPr>
          <p:cNvSpPr txBox="1"/>
          <p:nvPr/>
        </p:nvSpPr>
        <p:spPr>
          <a:xfrm>
            <a:off x="1192193" y="2942759"/>
            <a:ext cx="33798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Successfully installed chess-...</a:t>
            </a:r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48C045-EBBD-4C79-89FA-F4B9C7EC98E3}"/>
              </a:ext>
            </a:extLst>
          </p:cNvPr>
          <p:cNvSpPr txBox="1"/>
          <p:nvPr/>
        </p:nvSpPr>
        <p:spPr>
          <a:xfrm>
            <a:off x="1192193" y="3717040"/>
            <a:ext cx="33798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python -m pip install chess </a:t>
            </a:r>
            <a:endParaRPr lang="ko-KR" alt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C90812-E404-9352-6C28-FACBE49B5329}"/>
              </a:ext>
            </a:extLst>
          </p:cNvPr>
          <p:cNvSpPr txBox="1"/>
          <p:nvPr/>
        </p:nvSpPr>
        <p:spPr>
          <a:xfrm>
            <a:off x="1192193" y="4917014"/>
            <a:ext cx="33798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check_chess.py </a:t>
            </a:r>
            <a:endParaRPr lang="ko-KR" altLang="en-US" sz="11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491BE6B-21FC-C59C-6486-95AB669F7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098" y="4968868"/>
            <a:ext cx="1944546" cy="100138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28021F9-E4E3-EFA4-5A88-887E6BA7C790}"/>
              </a:ext>
            </a:extLst>
          </p:cNvPr>
          <p:cNvSpPr txBox="1"/>
          <p:nvPr/>
        </p:nvSpPr>
        <p:spPr>
          <a:xfrm>
            <a:off x="1035156" y="6352639"/>
            <a:ext cx="4481299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chess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chess.Board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"python-chess </a:t>
            </a:r>
            <a:r>
              <a:rPr lang="ko-KR" altLang="en-US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설치 확인 완료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초기 체스 보드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print(board)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현재 차례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백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board.turn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chess.WHITE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흑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합법적인 수의 개수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(list(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board.legal_moves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34102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1C37D-06E3-4DFF-FA06-912B34DB1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0FF5A4B-C802-6202-F3B1-6AF5882B34BA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python-chess </a:t>
            </a:r>
            <a:r>
              <a:rPr lang="ko-KR" altLang="en-US" sz="1200" dirty="0"/>
              <a:t>설치하기</a:t>
            </a:r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9229C867-7706-A2E1-6945-F632A634BFEC}"/>
              </a:ext>
            </a:extLst>
          </p:cNvPr>
          <p:cNvSpPr txBox="1">
            <a:spLocks/>
          </p:cNvSpPr>
          <p:nvPr/>
        </p:nvSpPr>
        <p:spPr>
          <a:xfrm>
            <a:off x="1009677" y="1120140"/>
            <a:ext cx="5076798" cy="744621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en-US" b="1" dirty="0"/>
              <a:t>코드</a:t>
            </a:r>
            <a:r>
              <a:rPr lang="en-US" altLang="ko-KR" b="1" dirty="0"/>
              <a:t> </a:t>
            </a:r>
            <a:r>
              <a:rPr lang="ko-KR" altLang="en-US" b="1" dirty="0"/>
              <a:t>실행</a:t>
            </a:r>
            <a:r>
              <a:rPr lang="en-US" altLang="ko-KR" b="1" dirty="0"/>
              <a:t> </a:t>
            </a:r>
            <a:r>
              <a:rPr lang="ko-KR" altLang="en-US" b="1" dirty="0"/>
              <a:t>결과</a:t>
            </a:r>
            <a:r>
              <a:rPr lang="en-US" altLang="ko-KR" b="1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en-US" b="1" dirty="0"/>
              <a:t>코드</a:t>
            </a:r>
            <a:r>
              <a:rPr lang="en-US" altLang="ko-KR" b="1" dirty="0"/>
              <a:t> </a:t>
            </a:r>
            <a:r>
              <a:rPr lang="ko-KR" altLang="en-US" b="1" dirty="0"/>
              <a:t>설명</a:t>
            </a:r>
            <a:r>
              <a:rPr lang="en-US" altLang="ko-KR" b="1" dirty="0"/>
              <a:t>]</a:t>
            </a: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chess :</a:t>
            </a:r>
            <a:r>
              <a:rPr lang="en-US" altLang="ko-KR" dirty="0"/>
              <a:t> python-chess </a:t>
            </a:r>
            <a:r>
              <a:rPr lang="ko-KR" altLang="en-US" dirty="0"/>
              <a:t>라이브러리를 </a:t>
            </a:r>
            <a:r>
              <a:rPr lang="en-US" altLang="ko-KR" dirty="0"/>
              <a:t>Python </a:t>
            </a:r>
            <a:r>
              <a:rPr lang="ko-KR" altLang="en-US" dirty="0"/>
              <a:t>코드에서 사용할 수 있도록 불러오는 부분이다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 - </a:t>
            </a:r>
            <a:r>
              <a:rPr lang="ko-KR" altLang="en-US" dirty="0"/>
              <a:t>라이브러리에 포함된 기능</a:t>
            </a:r>
            <a:endParaRPr lang="en-US" altLang="ko-KR" dirty="0"/>
          </a:p>
          <a:p>
            <a:pPr marL="742950" lvl="2" indent="-285750">
              <a:buFont typeface="Wingdings" panose="05000000000000000000" pitchFamily="2" charset="2"/>
              <a:buChar char="§"/>
            </a:pPr>
            <a:r>
              <a:rPr lang="ko-KR" altLang="en-US" sz="1000" dirty="0" err="1"/>
              <a:t>체스판</a:t>
            </a:r>
            <a:r>
              <a:rPr lang="en-US" altLang="ko-KR" sz="1000" dirty="0"/>
              <a:t>(Board) </a:t>
            </a:r>
            <a:r>
              <a:rPr lang="ko-KR" altLang="en-US" sz="1000" dirty="0"/>
              <a:t>생성</a:t>
            </a:r>
            <a:endParaRPr lang="en-US" altLang="ko-KR" sz="1000" dirty="0"/>
          </a:p>
          <a:p>
            <a:pPr marL="742950" lvl="2" indent="-285750">
              <a:buFont typeface="Wingdings" panose="05000000000000000000" pitchFamily="2" charset="2"/>
              <a:buChar char="§"/>
            </a:pPr>
            <a:r>
              <a:rPr lang="ko-KR" altLang="en-US" sz="1000" dirty="0"/>
              <a:t>말 이동 처리</a:t>
            </a:r>
            <a:endParaRPr lang="en-US" altLang="ko-KR" sz="1000" dirty="0"/>
          </a:p>
          <a:p>
            <a:pPr marL="742950" lvl="2" indent="-285750">
              <a:buFont typeface="Wingdings" panose="05000000000000000000" pitchFamily="2" charset="2"/>
              <a:buChar char="§"/>
            </a:pPr>
            <a:r>
              <a:rPr lang="ko-KR" altLang="en-US" sz="1000" dirty="0"/>
              <a:t>합법적인 수 판정</a:t>
            </a:r>
            <a:endParaRPr lang="en-US" altLang="ko-KR" sz="1000" dirty="0"/>
          </a:p>
          <a:p>
            <a:pPr marL="742950" lvl="2" indent="-285750">
              <a:buFont typeface="Wingdings" panose="05000000000000000000" pitchFamily="2" charset="2"/>
              <a:buChar char="§"/>
            </a:pPr>
            <a:r>
              <a:rPr lang="ko-KR" altLang="en-US" sz="1000" dirty="0"/>
              <a:t>체크</a:t>
            </a:r>
            <a:r>
              <a:rPr lang="en-US" altLang="ko-KR" sz="1000" dirty="0"/>
              <a:t>(Check) </a:t>
            </a:r>
            <a:r>
              <a:rPr lang="ko-KR" altLang="en-US" sz="1000" dirty="0"/>
              <a:t>판정</a:t>
            </a:r>
            <a:endParaRPr lang="en-US" altLang="ko-KR" sz="1000" dirty="0"/>
          </a:p>
          <a:p>
            <a:pPr marL="742950" lvl="2" indent="-285750">
              <a:buFont typeface="Wingdings" panose="05000000000000000000" pitchFamily="2" charset="2"/>
              <a:buChar char="§"/>
            </a:pPr>
            <a:r>
              <a:rPr lang="ko-KR" altLang="en-US" sz="1000" dirty="0" err="1"/>
              <a:t>체크메이트</a:t>
            </a:r>
            <a:r>
              <a:rPr lang="en-US" altLang="ko-KR" sz="1000" dirty="0"/>
              <a:t>(Checkmate) </a:t>
            </a:r>
            <a:r>
              <a:rPr lang="ko-KR" altLang="en-US" sz="1000" dirty="0"/>
              <a:t>판정</a:t>
            </a:r>
            <a:endParaRPr lang="en-US" altLang="ko-KR" sz="1000" dirty="0"/>
          </a:p>
          <a:p>
            <a:pPr marL="742950" lvl="2" indent="-285750">
              <a:buFont typeface="Wingdings" panose="05000000000000000000" pitchFamily="2" charset="2"/>
              <a:buChar char="§"/>
            </a:pPr>
            <a:r>
              <a:rPr lang="ko-KR" altLang="en-US" sz="1000" dirty="0"/>
              <a:t>게임 종료 여부 확인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 = </a:t>
            </a:r>
            <a:r>
              <a:rPr lang="en-US" altLang="ko-KR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chess.Board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:</a:t>
            </a:r>
            <a:r>
              <a:rPr lang="en-US" altLang="ko-KR" dirty="0"/>
              <a:t> </a:t>
            </a:r>
            <a:r>
              <a:rPr lang="ko-KR" altLang="en-US" dirty="0" err="1"/>
              <a:t>체스판</a:t>
            </a:r>
            <a:r>
              <a:rPr lang="en-US" altLang="ko-KR" dirty="0"/>
              <a:t>(Board) </a:t>
            </a:r>
            <a:r>
              <a:rPr lang="ko-KR" altLang="en-US" dirty="0"/>
              <a:t>객체를 생성하는 코드이다</a:t>
            </a:r>
            <a:r>
              <a:rPr lang="en-US" altLang="ko-KR" dirty="0"/>
              <a:t>. Board()</a:t>
            </a:r>
            <a:r>
              <a:rPr lang="ko-KR" altLang="en-US" dirty="0"/>
              <a:t>를 생성하면 자동으로 기본 체스 시작 상태가 만들어진다</a:t>
            </a:r>
            <a:r>
              <a:rPr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board = </a:t>
            </a:r>
            <a:r>
              <a:rPr lang="en-US" altLang="ko-KR" dirty="0" err="1">
                <a:solidFill>
                  <a:srgbClr val="3C3836"/>
                </a:solidFill>
                <a:latin typeface="Consolas" panose="020B0609020204030204" pitchFamily="49" charset="0"/>
              </a:rPr>
              <a:t>chess.Board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() :</a:t>
            </a:r>
            <a:r>
              <a:rPr lang="en-US" altLang="ko-KR" dirty="0"/>
              <a:t> </a:t>
            </a:r>
            <a:r>
              <a:rPr lang="ko-KR" altLang="en-US" dirty="0" err="1"/>
              <a:t>체스판</a:t>
            </a:r>
            <a:r>
              <a:rPr lang="en-US" altLang="ko-KR" dirty="0"/>
              <a:t>(Board) </a:t>
            </a:r>
            <a:r>
              <a:rPr lang="ko-KR" altLang="en-US" dirty="0"/>
              <a:t>객체를 생성하는 코드이다</a:t>
            </a:r>
            <a:r>
              <a:rPr lang="en-US" altLang="ko-KR" dirty="0"/>
              <a:t>. Board()</a:t>
            </a:r>
            <a:r>
              <a:rPr lang="ko-KR" altLang="en-US" dirty="0"/>
              <a:t>를 생성하면 자동으로 기본 체스 시작 상태가 만들어진다</a:t>
            </a:r>
            <a:r>
              <a:rPr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print(board)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:</a:t>
            </a:r>
            <a:r>
              <a:rPr lang="en-US" altLang="ko-KR" dirty="0"/>
              <a:t> </a:t>
            </a:r>
            <a:r>
              <a:rPr lang="ko-KR" altLang="en-US" dirty="0"/>
              <a:t>현재 </a:t>
            </a:r>
            <a:r>
              <a:rPr lang="ko-KR" altLang="en-US" dirty="0" err="1"/>
              <a:t>체스판</a:t>
            </a:r>
            <a:r>
              <a:rPr lang="ko-KR" altLang="en-US" dirty="0"/>
              <a:t> 상태를 출력하는 부분이다</a:t>
            </a:r>
            <a:r>
              <a:rPr lang="en-US" altLang="ko-KR" dirty="0"/>
              <a:t>. board </a:t>
            </a:r>
            <a:r>
              <a:rPr lang="ko-KR" altLang="en-US" dirty="0"/>
              <a:t>객체를 그대로 출력하면 </a:t>
            </a:r>
            <a:r>
              <a:rPr lang="en-US" altLang="ko-KR" dirty="0"/>
              <a:t>python-chess</a:t>
            </a:r>
            <a:r>
              <a:rPr lang="ko-KR" altLang="en-US" dirty="0"/>
              <a:t>가 자동으로 </a:t>
            </a:r>
            <a:r>
              <a:rPr lang="ko-KR" altLang="en-US" dirty="0" err="1"/>
              <a:t>체스판</a:t>
            </a:r>
            <a:r>
              <a:rPr lang="ko-KR" altLang="en-US" dirty="0"/>
              <a:t> 모양으로 변환하여 보여준다</a:t>
            </a:r>
            <a:r>
              <a:rPr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백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board.turn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chess.WHITE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흑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:</a:t>
            </a:r>
            <a:r>
              <a:rPr lang="en-US" altLang="ko-KR" dirty="0"/>
              <a:t> </a:t>
            </a:r>
            <a:r>
              <a:rPr lang="ko-KR" altLang="en-US" dirty="0" err="1"/>
              <a:t>체스판</a:t>
            </a:r>
            <a:r>
              <a:rPr lang="en-US" altLang="ko-KR" dirty="0"/>
              <a:t>(Board) </a:t>
            </a:r>
            <a:r>
              <a:rPr lang="ko-KR" altLang="en-US" dirty="0"/>
              <a:t>객체를 생성하는 코드이다</a:t>
            </a:r>
            <a:r>
              <a:rPr lang="en-US" altLang="ko-KR" dirty="0"/>
              <a:t>. Board()</a:t>
            </a:r>
            <a:r>
              <a:rPr lang="ko-KR" altLang="en-US" dirty="0"/>
              <a:t>를 생성하면 자동으로 기본 체스 시작 상태가 만들어진다</a:t>
            </a:r>
            <a:r>
              <a:rPr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2" indent="-285750">
              <a:buFont typeface="Wingdings" panose="05000000000000000000" pitchFamily="2" charset="2"/>
              <a:buChar char="§"/>
            </a:pPr>
            <a:endParaRPr lang="en-US" altLang="ko-KR" sz="1000" dirty="0"/>
          </a:p>
          <a:p>
            <a:pPr marL="0" indent="0">
              <a:buNone/>
            </a:pP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7CE8F9-C2AC-6294-EDAB-96ADC4473E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88"/>
          <a:stretch>
            <a:fillRect/>
          </a:stretch>
        </p:blipFill>
        <p:spPr>
          <a:xfrm>
            <a:off x="2325986" y="1210376"/>
            <a:ext cx="1389487" cy="223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458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AC5DA-D6CA-5F55-4A31-7A56235AE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E212E-FADC-7C2D-6F4D-85631E260B37}"/>
              </a:ext>
            </a:extLst>
          </p:cNvPr>
          <p:cNvSpPr txBox="1">
            <a:spLocks/>
          </p:cNvSpPr>
          <p:nvPr/>
        </p:nvSpPr>
        <p:spPr>
          <a:xfrm>
            <a:off x="689208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가능한 수</a:t>
            </a:r>
            <a:r>
              <a:rPr lang="en-US" altLang="ko-KR" sz="1200" dirty="0"/>
              <a:t>(legal moves) </a:t>
            </a:r>
            <a:r>
              <a:rPr lang="ko-KR" altLang="en-US" sz="1200" dirty="0"/>
              <a:t>확인하기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B2B6101B-420A-234E-DCFB-C0BBDFF5DE06}"/>
              </a:ext>
            </a:extLst>
          </p:cNvPr>
          <p:cNvSpPr txBox="1">
            <a:spLocks/>
          </p:cNvSpPr>
          <p:nvPr/>
        </p:nvSpPr>
        <p:spPr>
          <a:xfrm>
            <a:off x="689208" y="1071031"/>
            <a:ext cx="4984284" cy="7691967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board.turn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 :</a:t>
            </a:r>
            <a:r>
              <a:rPr lang="en-US" altLang="ko-KR" dirty="0"/>
              <a:t> True(</a:t>
            </a:r>
            <a:r>
              <a:rPr lang="ko-KR" altLang="en-US" dirty="0"/>
              <a:t>백 차례</a:t>
            </a:r>
            <a:r>
              <a:rPr lang="en-US" altLang="ko-KR" dirty="0"/>
              <a:t>), False(</a:t>
            </a:r>
            <a:r>
              <a:rPr lang="ko-KR" altLang="en-US" dirty="0"/>
              <a:t>흑 차례</a:t>
            </a:r>
            <a:r>
              <a:rPr lang="en-US" altLang="ko-KR" dirty="0"/>
              <a:t>), </a:t>
            </a:r>
            <a:r>
              <a:rPr lang="ko-KR" altLang="en-US" dirty="0"/>
              <a:t>초기 체스는 항상 </a:t>
            </a:r>
            <a:r>
              <a:rPr lang="ko-KR" altLang="en-US" dirty="0" err="1"/>
              <a:t>백부터</a:t>
            </a:r>
            <a:r>
              <a:rPr lang="ko-KR" altLang="en-US" dirty="0"/>
              <a:t> 시작하므로 현재 값은 </a:t>
            </a:r>
            <a:r>
              <a:rPr lang="en-US" altLang="ko-KR" dirty="0"/>
              <a:t>True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print(</a:t>
            </a:r>
            <a:r>
              <a:rPr lang="en-US" altLang="ko-KR" dirty="0" err="1"/>
              <a:t>len</a:t>
            </a:r>
            <a:r>
              <a:rPr lang="en-US" altLang="ko-KR" dirty="0"/>
              <a:t>(list(</a:t>
            </a:r>
            <a:r>
              <a:rPr lang="en-US" altLang="ko-KR" dirty="0" err="1"/>
              <a:t>board.legal_moves</a:t>
            </a:r>
            <a:r>
              <a:rPr lang="en-US" altLang="ko-KR" dirty="0"/>
              <a:t>)))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:</a:t>
            </a:r>
            <a:r>
              <a:rPr lang="en-US" altLang="ko-KR" dirty="0"/>
              <a:t> </a:t>
            </a:r>
            <a:r>
              <a:rPr lang="ko-KR" altLang="en-US" dirty="0"/>
              <a:t>현재 체스 상태에서 가능한 모든 합법적인 수</a:t>
            </a:r>
            <a:r>
              <a:rPr lang="en-US" altLang="ko-KR" dirty="0"/>
              <a:t>(Legal Move)</a:t>
            </a:r>
            <a:r>
              <a:rPr lang="ko-KR" altLang="en-US" dirty="0"/>
              <a:t>의 개수를 출력한다</a:t>
            </a:r>
            <a:r>
              <a:rPr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board.legal_moves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:</a:t>
            </a:r>
            <a:r>
              <a:rPr lang="en-US" altLang="ko-KR" dirty="0"/>
              <a:t> </a:t>
            </a:r>
            <a:r>
              <a:rPr lang="ko-KR" altLang="en-US" dirty="0"/>
              <a:t>현재 상태에서 가능한 이동들을 저장하고 있는 객체이다</a:t>
            </a:r>
            <a:r>
              <a:rPr lang="en-US" altLang="ko-KR" dirty="0"/>
              <a:t>. </a:t>
            </a:r>
            <a:r>
              <a:rPr lang="ko-KR" altLang="en-US" dirty="0"/>
              <a:t>초기 상태에서는 백이 움직일 수 있는 수들이 저장된다</a:t>
            </a:r>
            <a:r>
              <a:rPr lang="en-US" altLang="ko-KR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list(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board.legal_moves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:</a:t>
            </a:r>
            <a:r>
              <a:rPr lang="en-US" altLang="ko-KR" dirty="0"/>
              <a:t> </a:t>
            </a:r>
            <a:r>
              <a:rPr lang="ko-KR" altLang="en-US" dirty="0"/>
              <a:t>합법적인 수들을 리스트 형태로 변환한다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  - </a:t>
            </a:r>
            <a:r>
              <a:rPr lang="ko-KR" altLang="en-US" dirty="0"/>
              <a:t>폰</a:t>
            </a:r>
            <a:r>
              <a:rPr lang="en-US" altLang="ko-KR" dirty="0"/>
              <a:t>(Pawn) 8</a:t>
            </a:r>
            <a:r>
              <a:rPr lang="ko-KR" altLang="en-US" dirty="0"/>
              <a:t>개 → 각각 </a:t>
            </a:r>
            <a:r>
              <a:rPr lang="en-US" altLang="ko-KR" dirty="0"/>
              <a:t>2</a:t>
            </a:r>
            <a:r>
              <a:rPr lang="ko-KR" altLang="en-US" dirty="0"/>
              <a:t>개의 이동 가능 </a:t>
            </a:r>
            <a:r>
              <a:rPr lang="en-US" altLang="ko-KR" dirty="0"/>
              <a:t>: 16</a:t>
            </a:r>
            <a:r>
              <a:rPr lang="ko-KR" altLang="en-US" dirty="0"/>
              <a:t>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- </a:t>
            </a:r>
            <a:r>
              <a:rPr lang="ko-KR" altLang="en-US" dirty="0"/>
              <a:t>나이트</a:t>
            </a:r>
            <a:r>
              <a:rPr lang="en-US" altLang="ko-KR" dirty="0"/>
              <a:t>(Knight) 2</a:t>
            </a:r>
            <a:r>
              <a:rPr lang="ko-KR" altLang="en-US" dirty="0"/>
              <a:t>개 → 각각 </a:t>
            </a:r>
            <a:r>
              <a:rPr lang="en-US" altLang="ko-KR" dirty="0"/>
              <a:t>2</a:t>
            </a:r>
            <a:r>
              <a:rPr lang="ko-KR" altLang="en-US" dirty="0"/>
              <a:t>개의 이동 가능 </a:t>
            </a:r>
            <a:r>
              <a:rPr lang="en-US" altLang="ko-KR" dirty="0"/>
              <a:t>: 4</a:t>
            </a:r>
            <a:r>
              <a:rPr lang="ko-KR" altLang="en-US" dirty="0"/>
              <a:t>개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>
              <a:buAutoNum type="arabicParenBoth"/>
            </a:pPr>
            <a:r>
              <a:rPr lang="en-US" altLang="ko-KR" dirty="0" err="1"/>
              <a:t>legal_moves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ko-KR" altLang="en-US" dirty="0"/>
              <a:t>체스에서는 현재 상태</a:t>
            </a:r>
            <a:r>
              <a:rPr lang="en-US" altLang="ko-KR" dirty="0"/>
              <a:t>(State)</a:t>
            </a:r>
            <a:r>
              <a:rPr lang="ko-KR" altLang="en-US" dirty="0"/>
              <a:t>에 따라 이동 가능한 수가 달라진다</a:t>
            </a:r>
            <a:r>
              <a:rPr lang="en-US" altLang="ko-KR" dirty="0"/>
              <a:t>. python-chess</a:t>
            </a:r>
            <a:r>
              <a:rPr lang="ko-KR" altLang="en-US" dirty="0"/>
              <a:t>에서는 현재 체스 상태에서 가능한 모든 합법적인 이동</a:t>
            </a:r>
            <a:r>
              <a:rPr lang="en-US" altLang="ko-KR" dirty="0"/>
              <a:t>(legal move)</a:t>
            </a:r>
            <a:r>
              <a:rPr lang="ko-KR" altLang="en-US" dirty="0"/>
              <a:t>을 다음 객체로 제공한다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en-US" b="1" dirty="0"/>
              <a:t>예제 코드 작성</a:t>
            </a:r>
            <a:r>
              <a:rPr lang="en-US" altLang="ko-KR" b="1" dirty="0"/>
              <a:t> ]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                                                             [</a:t>
            </a:r>
            <a:r>
              <a:rPr lang="ko-KR" altLang="en-US" b="1" dirty="0"/>
              <a:t>코드</a:t>
            </a:r>
            <a:r>
              <a:rPr lang="en-US" altLang="ko-KR" b="1" dirty="0"/>
              <a:t> </a:t>
            </a:r>
            <a:r>
              <a:rPr lang="ko-KR" altLang="en-US" b="1" dirty="0"/>
              <a:t>실행</a:t>
            </a:r>
            <a:r>
              <a:rPr lang="en-US" altLang="ko-KR" b="1" dirty="0"/>
              <a:t> </a:t>
            </a:r>
            <a:r>
              <a:rPr lang="ko-KR" altLang="en-US" b="1" dirty="0"/>
              <a:t>결과</a:t>
            </a:r>
            <a:r>
              <a:rPr lang="en-US" altLang="ko-KR" b="1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C1760715-42DF-832F-E26F-92DE9201EDBA}"/>
              </a:ext>
            </a:extLst>
          </p:cNvPr>
          <p:cNvSpPr txBox="1">
            <a:spLocks/>
          </p:cNvSpPr>
          <p:nvPr/>
        </p:nvSpPr>
        <p:spPr>
          <a:xfrm>
            <a:off x="689208" y="3862908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 dirty="0"/>
              <a:t>가능한 수</a:t>
            </a:r>
            <a:r>
              <a:rPr lang="en-US" altLang="ko-KR" sz="1100" dirty="0"/>
              <a:t>(legal moves) </a:t>
            </a:r>
            <a:r>
              <a:rPr lang="ko-KR" altLang="en-US" sz="1100" dirty="0"/>
              <a:t>확인하기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6E8B59-48AC-B2EC-D1D0-B0E802D82576}"/>
              </a:ext>
            </a:extLst>
          </p:cNvPr>
          <p:cNvSpPr txBox="1"/>
          <p:nvPr/>
        </p:nvSpPr>
        <p:spPr>
          <a:xfrm>
            <a:off x="1042514" y="5929941"/>
            <a:ext cx="337980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chess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chess.Board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현재 가능한 수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move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board.legal_moves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print(move) </a:t>
            </a:r>
            <a:endParaRPr lang="ko-KR" altLang="en-US" sz="11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A2D5945-C2D8-2CA4-AF4C-A7F7835BA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795" y="5497974"/>
            <a:ext cx="576224" cy="305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24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9CC46-0876-853C-1181-513F26C64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5DEC512-1DD8-6F59-2579-FFF452DC862E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가능한 수</a:t>
            </a:r>
            <a:r>
              <a:rPr lang="en-US" altLang="ko-KR" sz="1200" dirty="0"/>
              <a:t>(legal moves) </a:t>
            </a:r>
            <a:r>
              <a:rPr lang="ko-KR" altLang="en-US" sz="1200" dirty="0"/>
              <a:t>확인하기</a:t>
            </a:r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157A1D65-B8AC-C582-E0DB-1BF8573B4E3F}"/>
              </a:ext>
            </a:extLst>
          </p:cNvPr>
          <p:cNvSpPr txBox="1">
            <a:spLocks/>
          </p:cNvSpPr>
          <p:nvPr/>
        </p:nvSpPr>
        <p:spPr>
          <a:xfrm>
            <a:off x="1009677" y="1120140"/>
            <a:ext cx="5076798" cy="7571014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각 문자열은 체스 말의 이동을 의미한다</a:t>
            </a:r>
            <a:r>
              <a:rPr lang="en-US" altLang="ko-KR" dirty="0"/>
              <a:t>. </a:t>
            </a:r>
            <a:r>
              <a:rPr lang="ko-KR" altLang="en-US" dirty="0"/>
              <a:t>예를 들어</a:t>
            </a:r>
            <a:r>
              <a:rPr lang="en-US" altLang="ko-KR" dirty="0"/>
              <a:t> “e2e4” </a:t>
            </a:r>
            <a:r>
              <a:rPr lang="ko-KR" altLang="en-US" dirty="0"/>
              <a:t>는</a:t>
            </a:r>
            <a:r>
              <a:rPr lang="en-US" altLang="ko-KR" dirty="0"/>
              <a:t> “e2” </a:t>
            </a:r>
            <a:r>
              <a:rPr lang="ko-KR" altLang="en-US" dirty="0"/>
              <a:t>위치의 말을 </a:t>
            </a:r>
            <a:r>
              <a:rPr lang="en-US" altLang="ko-KR" dirty="0"/>
              <a:t>“e4”</a:t>
            </a:r>
            <a:r>
              <a:rPr lang="ko-KR" altLang="en-US" dirty="0"/>
              <a:t>로 이동한다는 의미이다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이 그림은 체스판의 좌표 체계와 말의 이동 방법을 설명한 것이다</a:t>
            </a:r>
            <a:r>
              <a:rPr lang="en-US" altLang="ko-KR" dirty="0"/>
              <a:t>. </a:t>
            </a:r>
            <a:r>
              <a:rPr lang="ko-KR" altLang="en-US" dirty="0"/>
              <a:t>체스판은 가로 방향을 </a:t>
            </a:r>
            <a:r>
              <a:rPr lang="en-US" altLang="ko-KR" dirty="0" err="1"/>
              <a:t>a~h</a:t>
            </a:r>
            <a:r>
              <a:rPr lang="en-US" altLang="ko-KR" dirty="0"/>
              <a:t>, </a:t>
            </a:r>
            <a:r>
              <a:rPr lang="ko-KR" altLang="en-US" dirty="0"/>
              <a:t>세로</a:t>
            </a:r>
            <a:r>
              <a:rPr lang="en-US" altLang="ko-KR" dirty="0"/>
              <a:t> </a:t>
            </a:r>
            <a:r>
              <a:rPr lang="ko-KR" altLang="en-US" dirty="0"/>
              <a:t>방향을 </a:t>
            </a:r>
            <a:r>
              <a:rPr lang="en-US" altLang="ko-KR" dirty="0"/>
              <a:t>1~8 </a:t>
            </a:r>
            <a:r>
              <a:rPr lang="ko-KR" altLang="en-US" dirty="0"/>
              <a:t>좌표로 표현한다</a:t>
            </a:r>
            <a:r>
              <a:rPr lang="en-US" altLang="ko-KR" dirty="0"/>
              <a:t>. </a:t>
            </a:r>
            <a:r>
              <a:rPr lang="ko-KR" altLang="en-US" dirty="0"/>
              <a:t>아래쪽</a:t>
            </a:r>
            <a:r>
              <a:rPr lang="en-US" altLang="ko-KR" dirty="0"/>
              <a:t>(1, 2</a:t>
            </a:r>
            <a:r>
              <a:rPr lang="ko-KR" altLang="en-US" dirty="0"/>
              <a:t>행</a:t>
            </a:r>
            <a:r>
              <a:rPr lang="en-US" altLang="ko-KR" dirty="0"/>
              <a:t>)</a:t>
            </a:r>
            <a:r>
              <a:rPr lang="ko-KR" altLang="en-US" dirty="0"/>
              <a:t>은 백</a:t>
            </a:r>
            <a:r>
              <a:rPr lang="en-US" altLang="ko-KR" dirty="0"/>
              <a:t>(White)</a:t>
            </a:r>
            <a:r>
              <a:rPr lang="ko-KR" altLang="en-US" dirty="0"/>
              <a:t>의 말이며</a:t>
            </a:r>
            <a:r>
              <a:rPr lang="en-US" altLang="ko-KR" dirty="0"/>
              <a:t>, </a:t>
            </a:r>
            <a:r>
              <a:rPr lang="ko-KR" altLang="en-US" dirty="0"/>
              <a:t>위쪽</a:t>
            </a:r>
            <a:r>
              <a:rPr lang="en-US" altLang="ko-KR" dirty="0"/>
              <a:t>(7, 8</a:t>
            </a:r>
            <a:r>
              <a:rPr lang="ko-KR" altLang="en-US" dirty="0"/>
              <a:t>행</a:t>
            </a:r>
            <a:r>
              <a:rPr lang="en-US" altLang="ko-KR" dirty="0"/>
              <a:t>)</a:t>
            </a:r>
            <a:r>
              <a:rPr lang="ko-KR" altLang="en-US" dirty="0"/>
              <a:t>은 흑</a:t>
            </a:r>
            <a:r>
              <a:rPr lang="en-US" altLang="ko-KR" dirty="0"/>
              <a:t>(Black)</a:t>
            </a:r>
            <a:r>
              <a:rPr lang="ko-KR" altLang="en-US" dirty="0"/>
              <a:t>의 말이다</a:t>
            </a: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A5CFE27-ABCD-E55D-11BF-9688E8B653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522"/>
          <a:stretch>
            <a:fillRect/>
          </a:stretch>
        </p:blipFill>
        <p:spPr>
          <a:xfrm>
            <a:off x="1712618" y="4357759"/>
            <a:ext cx="3947954" cy="286664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2538E49-1895-A005-7B0A-3D850F7A69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53"/>
          <a:stretch>
            <a:fillRect/>
          </a:stretch>
        </p:blipFill>
        <p:spPr>
          <a:xfrm>
            <a:off x="1117003" y="1819747"/>
            <a:ext cx="4862145" cy="235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073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D40D8-AC19-941A-6B53-235DDB993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E642B-9152-AF6B-0331-B18E05D07B5F}"/>
              </a:ext>
            </a:extLst>
          </p:cNvPr>
          <p:cNvSpPr txBox="1">
            <a:spLocks/>
          </p:cNvSpPr>
          <p:nvPr/>
        </p:nvSpPr>
        <p:spPr>
          <a:xfrm>
            <a:off x="689208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UCI </a:t>
            </a:r>
            <a:r>
              <a:rPr lang="ko-KR" altLang="en-US" sz="1200" dirty="0"/>
              <a:t>이동 표기법과 체스 좌표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1A2113E2-5C66-797D-AEA5-E1C29462D06C}"/>
              </a:ext>
            </a:extLst>
          </p:cNvPr>
          <p:cNvSpPr txBox="1">
            <a:spLocks/>
          </p:cNvSpPr>
          <p:nvPr/>
        </p:nvSpPr>
        <p:spPr>
          <a:xfrm>
            <a:off x="689208" y="1471749"/>
            <a:ext cx="4984284" cy="729124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체스 </a:t>
            </a:r>
            <a:r>
              <a:rPr lang="en-US" altLang="ko-KR" dirty="0"/>
              <a:t>AI</a:t>
            </a:r>
            <a:r>
              <a:rPr lang="ko-KR" altLang="en-US" dirty="0"/>
              <a:t>와 </a:t>
            </a:r>
            <a:r>
              <a:rPr lang="en-US" altLang="ko-KR" dirty="0"/>
              <a:t>python-chess</a:t>
            </a:r>
            <a:r>
              <a:rPr lang="ko-KR" altLang="en-US" dirty="0"/>
              <a:t>에서는 체스 말의 이동을 문자열</a:t>
            </a:r>
            <a:r>
              <a:rPr lang="en-US" altLang="ko-KR" dirty="0"/>
              <a:t>(String) </a:t>
            </a:r>
            <a:r>
              <a:rPr lang="ko-KR" altLang="en-US" dirty="0"/>
              <a:t>형태로 표현한다</a:t>
            </a:r>
            <a:r>
              <a:rPr lang="en-US" altLang="ko-KR" dirty="0"/>
              <a:t>. </a:t>
            </a:r>
            <a:r>
              <a:rPr lang="ko-KR" altLang="en-US" dirty="0"/>
              <a:t>이때 사용되는 대표적인 방식이 </a:t>
            </a:r>
            <a:r>
              <a:rPr lang="en-US" altLang="ko-KR" dirty="0"/>
              <a:t>UCI(Universal Chess Interface) </a:t>
            </a:r>
            <a:r>
              <a:rPr lang="ko-KR" altLang="en-US" dirty="0"/>
              <a:t>이동 표기법 이다</a:t>
            </a:r>
            <a:r>
              <a:rPr lang="en-US" altLang="ko-KR" dirty="0"/>
              <a:t>. UCI </a:t>
            </a:r>
            <a:r>
              <a:rPr lang="ko-KR" altLang="en-US" dirty="0"/>
              <a:t>표기법은 체스 엔진과 프로그램이 서로 이동 정보를 주고받기 위해 사용하는 표준 형식이다</a:t>
            </a:r>
            <a:r>
              <a:rPr lang="en-US" altLang="ko-KR" dirty="0"/>
              <a:t>. UCI </a:t>
            </a:r>
            <a:r>
              <a:rPr lang="ko-KR" altLang="en-US" dirty="0"/>
              <a:t>이동 표기법은 다음 형식으로 구성된다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ko-KR" altLang="en-US" dirty="0"/>
              <a:t>출발 위치 </a:t>
            </a:r>
            <a:r>
              <a:rPr lang="en-US" altLang="ko-KR" dirty="0"/>
              <a:t>+ </a:t>
            </a:r>
            <a:r>
              <a:rPr lang="ko-KR" altLang="en-US" dirty="0"/>
              <a:t>도착 위치 </a:t>
            </a:r>
            <a:r>
              <a:rPr lang="en-US" altLang="ko-KR" dirty="0"/>
              <a:t>: e2e4</a:t>
            </a:r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ko-KR" altLang="en-US" dirty="0"/>
              <a:t>의미 </a:t>
            </a:r>
            <a:r>
              <a:rPr lang="en-US" altLang="ko-KR" dirty="0"/>
              <a:t>: e2 </a:t>
            </a:r>
            <a:r>
              <a:rPr lang="ko-KR" altLang="en-US" dirty="0"/>
              <a:t>위치의 말을 </a:t>
            </a:r>
            <a:r>
              <a:rPr lang="en-US" altLang="ko-KR" dirty="0"/>
              <a:t>e4 </a:t>
            </a:r>
            <a:r>
              <a:rPr lang="ko-KR" altLang="en-US" dirty="0"/>
              <a:t>위치로 이동</a:t>
            </a:r>
            <a:endParaRPr lang="en-US" altLang="ko-KR" dirty="0"/>
          </a:p>
          <a:p>
            <a:pPr>
              <a:buAutoNum type="arabicParenBoth"/>
            </a:pPr>
            <a:r>
              <a:rPr lang="ko-KR" altLang="en-US" dirty="0"/>
              <a:t>체스 좌표 체계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체스판은 가로</a:t>
            </a:r>
            <a:r>
              <a:rPr lang="en-US" altLang="ko-KR" dirty="0"/>
              <a:t>(File)</a:t>
            </a:r>
            <a:r>
              <a:rPr lang="ko-KR" altLang="en-US" dirty="0"/>
              <a:t>와 세로</a:t>
            </a:r>
            <a:r>
              <a:rPr lang="en-US" altLang="ko-KR" dirty="0"/>
              <a:t>(Rank) </a:t>
            </a:r>
            <a:r>
              <a:rPr lang="ko-KR" altLang="en-US" dirty="0"/>
              <a:t>좌표를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사용한다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가로 좌표</a:t>
            </a:r>
            <a:r>
              <a:rPr lang="en-US" altLang="ko-KR" dirty="0"/>
              <a:t>(File) : </a:t>
            </a:r>
            <a:r>
              <a:rPr lang="pt-BR" altLang="ko-KR" dirty="0"/>
              <a:t>a b c d e f g h</a:t>
            </a:r>
          </a:p>
          <a:p>
            <a:pPr marL="0" indent="0">
              <a:buNone/>
            </a:pPr>
            <a:r>
              <a:rPr lang="pt-BR" altLang="ko-KR" dirty="0"/>
              <a:t>  - </a:t>
            </a:r>
            <a:r>
              <a:rPr lang="ko-KR" altLang="en-US" dirty="0"/>
              <a:t>세로 좌표</a:t>
            </a:r>
            <a:r>
              <a:rPr lang="en-US" altLang="ko-KR" dirty="0"/>
              <a:t>(Rank) : 1 2 3 4 5 6 7 8</a:t>
            </a:r>
          </a:p>
          <a:p>
            <a:pPr>
              <a:buAutoNum type="arabicParenBoth" startAt="2"/>
            </a:pPr>
            <a:r>
              <a:rPr lang="ko-KR" altLang="en-US" dirty="0"/>
              <a:t>이동 표기 예시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출발 좌표 → 도착 좌표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(3) </a:t>
            </a:r>
            <a:r>
              <a:rPr lang="ko-KR" altLang="en-US" dirty="0"/>
              <a:t>체스 말 기호</a:t>
            </a:r>
            <a:endParaRPr lang="en-US" altLang="ko-KR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AF24853F-ADE4-5723-027A-85A0F6524BB0}"/>
              </a:ext>
            </a:extLst>
          </p:cNvPr>
          <p:cNvSpPr txBox="1">
            <a:spLocks/>
          </p:cNvSpPr>
          <p:nvPr/>
        </p:nvSpPr>
        <p:spPr>
          <a:xfrm>
            <a:off x="602123" y="1097770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100" dirty="0"/>
              <a:t>UCI </a:t>
            </a:r>
            <a:r>
              <a:rPr lang="ko-KR" altLang="en-US" sz="1100" dirty="0"/>
              <a:t>이동 표기법의 구조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9D7F2BA-DDF0-BC44-FAFB-B7296B22E552}"/>
              </a:ext>
            </a:extLst>
          </p:cNvPr>
          <p:cNvGraphicFramePr>
            <a:graphicFrameLocks noGrp="1"/>
          </p:cNvGraphicFramePr>
          <p:nvPr/>
        </p:nvGraphicFramePr>
        <p:xfrm>
          <a:off x="982624" y="5482408"/>
          <a:ext cx="3931556" cy="12192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65778">
                  <a:extLst>
                    <a:ext uri="{9D8B030D-6E8A-4147-A177-3AD203B41FA5}">
                      <a16:colId xmlns:a16="http://schemas.microsoft.com/office/drawing/2014/main" val="1444560150"/>
                    </a:ext>
                  </a:extLst>
                </a:gridCol>
                <a:gridCol w="1965778">
                  <a:extLst>
                    <a:ext uri="{9D8B030D-6E8A-4147-A177-3AD203B41FA5}">
                      <a16:colId xmlns:a16="http://schemas.microsoft.com/office/drawing/2014/main" val="4105295662"/>
                    </a:ext>
                  </a:extLst>
                </a:gridCol>
              </a:tblGrid>
              <a:tr h="221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/>
                        <a:t>이동 코드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/>
                        <a:t>의미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620343"/>
                  </a:ext>
                </a:extLst>
              </a:tr>
              <a:tr h="221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e2e4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e2 → e4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29292676"/>
                  </a:ext>
                </a:extLst>
              </a:tr>
              <a:tr h="221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g1f3</a:t>
                      </a:r>
                      <a:endParaRPr 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g1 → f3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9214514"/>
                  </a:ext>
                </a:extLst>
              </a:tr>
              <a:tr h="221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b1c3</a:t>
                      </a:r>
                      <a:endParaRPr 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b1 → c3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3830477"/>
                  </a:ext>
                </a:extLst>
              </a:tr>
              <a:tr h="221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a2a4</a:t>
                      </a:r>
                      <a:endParaRPr 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a2 → a4</a:t>
                      </a:r>
                      <a:endParaRPr 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380033"/>
                  </a:ext>
                </a:extLst>
              </a:tr>
            </a:tbl>
          </a:graphicData>
        </a:graphic>
      </p:graphicFrame>
      <p:pic>
        <p:nvPicPr>
          <p:cNvPr id="13" name="그래픽 12">
            <a:extLst>
              <a:ext uri="{FF2B5EF4-FFF2-40B4-BE49-F238E27FC236}">
                <a16:creationId xmlns:a16="http://schemas.microsoft.com/office/drawing/2014/main" id="{B068D2A3-A103-8BCD-54E3-6D095AFD05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87199" y="2461251"/>
            <a:ext cx="2717966" cy="287784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25EB115-7441-856A-EBA1-7F55DD104F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21" t="50000" r="3631" b="32648"/>
          <a:stretch>
            <a:fillRect/>
          </a:stretch>
        </p:blipFill>
        <p:spPr>
          <a:xfrm>
            <a:off x="2146742" y="6867777"/>
            <a:ext cx="3027445" cy="85364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503A327-81E0-C42D-1483-3BB926C42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5165" y="7673841"/>
            <a:ext cx="2959022" cy="96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071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76BC0-BE21-549E-678F-2D14D71ED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C32DB50-1A55-B770-5FC1-06EFAED91C6B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UCI </a:t>
            </a:r>
            <a:r>
              <a:rPr lang="ko-KR" altLang="en-US" sz="1200" dirty="0"/>
              <a:t>이동 표기법과 체스 좌표</a:t>
            </a:r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D03BE088-BA02-C0F2-C51C-5443F72E747C}"/>
              </a:ext>
            </a:extLst>
          </p:cNvPr>
          <p:cNvSpPr txBox="1">
            <a:spLocks/>
          </p:cNvSpPr>
          <p:nvPr/>
        </p:nvSpPr>
        <p:spPr>
          <a:xfrm>
            <a:off x="1009677" y="1120140"/>
            <a:ext cx="5076798" cy="7571014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en-US" b="1" dirty="0"/>
              <a:t>예제 코드 작성</a:t>
            </a:r>
            <a:r>
              <a:rPr lang="en-US" altLang="ko-KR" b="1" dirty="0"/>
              <a:t> 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코드</a:t>
            </a:r>
            <a:r>
              <a:rPr lang="en-US" altLang="ko-KR" b="1" dirty="0"/>
              <a:t> </a:t>
            </a:r>
            <a:r>
              <a:rPr lang="ko-KR" altLang="en-US" b="1" dirty="0"/>
              <a:t>실행</a:t>
            </a:r>
            <a:r>
              <a:rPr lang="en-US" altLang="ko-KR" b="1" dirty="0"/>
              <a:t> </a:t>
            </a:r>
            <a:r>
              <a:rPr lang="ko-KR" altLang="en-US" b="1" dirty="0"/>
              <a:t>결과</a:t>
            </a:r>
            <a:r>
              <a:rPr lang="en-US" altLang="ko-KR" b="1" dirty="0"/>
              <a:t>]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en-US" b="1" dirty="0"/>
              <a:t>코드</a:t>
            </a:r>
            <a:r>
              <a:rPr lang="en-US" altLang="ko-KR" b="1" dirty="0"/>
              <a:t> </a:t>
            </a:r>
            <a:r>
              <a:rPr lang="ko-KR" altLang="en-US" b="1" dirty="0"/>
              <a:t>설명</a:t>
            </a:r>
            <a:r>
              <a:rPr lang="en-US" altLang="ko-KR" b="1" dirty="0"/>
              <a:t>]</a:t>
            </a: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move = chess.Move.from_uci(</a:t>
            </a:r>
            <a:r>
              <a:rPr lang="it-IT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"e2e4"</a:t>
            </a:r>
            <a:r>
              <a:rPr lang="it-IT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:</a:t>
            </a:r>
            <a:r>
              <a:rPr lang="en-US" altLang="ko-KR" dirty="0"/>
              <a:t> </a:t>
            </a:r>
            <a:r>
              <a:rPr lang="ko-KR" altLang="en-US" dirty="0"/>
              <a:t>문자열 형태의 이동 정보를 </a:t>
            </a:r>
            <a:r>
              <a:rPr lang="en-US" altLang="ko-KR" dirty="0"/>
              <a:t>Move </a:t>
            </a:r>
            <a:r>
              <a:rPr lang="ko-KR" altLang="en-US" dirty="0"/>
              <a:t>객체로 변환하는 코드이다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  - "e2e4" </a:t>
            </a:r>
            <a:r>
              <a:rPr lang="ko-KR" altLang="en-US" dirty="0"/>
              <a:t>의미 </a:t>
            </a:r>
            <a:r>
              <a:rPr lang="en-US" altLang="ko-KR" dirty="0"/>
              <a:t>: </a:t>
            </a:r>
            <a:r>
              <a:rPr lang="ko-KR" altLang="en-US" dirty="0"/>
              <a:t>출발 위치</a:t>
            </a:r>
            <a:r>
              <a:rPr lang="en-US" altLang="ko-KR" dirty="0"/>
              <a:t>(e2), </a:t>
            </a:r>
            <a:r>
              <a:rPr lang="ko-KR" altLang="en-US" dirty="0"/>
              <a:t>도착 위치</a:t>
            </a:r>
            <a:r>
              <a:rPr lang="en-US" altLang="ko-KR" dirty="0"/>
              <a:t>(e4), e2 </a:t>
            </a:r>
            <a:r>
              <a:rPr lang="ko-KR" altLang="en-US" dirty="0"/>
              <a:t>위치의 폰</a:t>
            </a:r>
            <a:r>
              <a:rPr lang="en-US" altLang="ko-KR" dirty="0"/>
              <a:t>(Pawn)</a:t>
            </a:r>
            <a:r>
              <a:rPr lang="ko-KR" altLang="en-US" dirty="0"/>
              <a:t>을 </a:t>
            </a:r>
            <a:r>
              <a:rPr lang="en-US" altLang="ko-KR" dirty="0"/>
              <a:t>e4</a:t>
            </a:r>
            <a:r>
              <a:rPr lang="ko-KR" altLang="en-US" dirty="0"/>
              <a:t>로 이동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UCI </a:t>
            </a:r>
            <a:r>
              <a:rPr lang="ko-KR" altLang="en-US" dirty="0"/>
              <a:t>이동 표기법 형식 </a:t>
            </a:r>
            <a:r>
              <a:rPr lang="en-US" altLang="ko-KR" dirty="0"/>
              <a:t>: </a:t>
            </a:r>
            <a:r>
              <a:rPr lang="ko-KR" altLang="en-US" dirty="0"/>
              <a:t>출발 위치 </a:t>
            </a:r>
            <a:r>
              <a:rPr lang="en-US" altLang="ko-KR" dirty="0"/>
              <a:t>+ </a:t>
            </a:r>
            <a:r>
              <a:rPr lang="ko-KR" altLang="en-US" dirty="0"/>
              <a:t>도착 위치</a:t>
            </a:r>
            <a:r>
              <a:rPr lang="en-US" altLang="ko-KR" dirty="0"/>
              <a:t>, </a:t>
            </a:r>
            <a:r>
              <a:rPr lang="ko-KR" altLang="en-US" dirty="0"/>
              <a:t>예 </a:t>
            </a:r>
            <a:r>
              <a:rPr lang="en-US" altLang="ko-KR" dirty="0"/>
              <a:t>: g1f3, d2d4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board.push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(move)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:</a:t>
            </a:r>
            <a:r>
              <a:rPr lang="en-US" altLang="ko-KR" dirty="0"/>
              <a:t> </a:t>
            </a:r>
            <a:r>
              <a:rPr lang="ko-KR" altLang="en-US" dirty="0"/>
              <a:t>생성한 이동</a:t>
            </a:r>
            <a:r>
              <a:rPr lang="en-US" altLang="ko-KR" dirty="0"/>
              <a:t>(move)</a:t>
            </a:r>
            <a:r>
              <a:rPr lang="ko-KR" altLang="en-US" dirty="0"/>
              <a:t>을 현재 </a:t>
            </a:r>
            <a:r>
              <a:rPr lang="ko-KR" altLang="en-US" dirty="0" err="1"/>
              <a:t>체스판</a:t>
            </a:r>
            <a:r>
              <a:rPr lang="en-US" altLang="ko-KR" dirty="0"/>
              <a:t>(Board)</a:t>
            </a:r>
            <a:r>
              <a:rPr lang="ko-KR" altLang="en-US" dirty="0"/>
              <a:t>에 적용하는 코드이다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실행 후 변경되는 상태</a:t>
            </a:r>
            <a:r>
              <a:rPr lang="en-US" altLang="ko-KR" dirty="0"/>
              <a:t>(State) </a:t>
            </a:r>
          </a:p>
          <a:p>
            <a:pPr marL="628650" lvl="2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000" dirty="0"/>
              <a:t> e2</a:t>
            </a:r>
            <a:r>
              <a:rPr lang="ko-KR" altLang="en-US" sz="1000" dirty="0"/>
              <a:t>의 위치의</a:t>
            </a:r>
            <a:r>
              <a:rPr lang="en-US" altLang="ko-KR" sz="1000" dirty="0"/>
              <a:t> </a:t>
            </a:r>
            <a:r>
              <a:rPr lang="ko-KR" altLang="en-US" sz="1000" dirty="0"/>
              <a:t>폰을 </a:t>
            </a:r>
            <a:r>
              <a:rPr lang="en-US" altLang="ko-KR" sz="1000" dirty="0"/>
              <a:t>e4 </a:t>
            </a:r>
            <a:r>
              <a:rPr lang="ko-KR" altLang="en-US" sz="1000" dirty="0"/>
              <a:t>이동</a:t>
            </a:r>
            <a:r>
              <a:rPr lang="en-US" altLang="ko-KR" sz="1000" dirty="0"/>
              <a:t> </a:t>
            </a:r>
          </a:p>
          <a:p>
            <a:pPr marL="628650" lvl="2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000" dirty="0"/>
              <a:t>현재 차례 </a:t>
            </a:r>
            <a:r>
              <a:rPr lang="ko-KR" altLang="en-US" sz="1000" dirty="0" err="1"/>
              <a:t>백에서</a:t>
            </a:r>
            <a:r>
              <a:rPr lang="ko-KR" altLang="en-US" sz="1000" dirty="0"/>
              <a:t> 흑으로 변경</a:t>
            </a:r>
            <a:endParaRPr lang="en-US" altLang="ko-KR" sz="1000" dirty="0"/>
          </a:p>
          <a:p>
            <a:pPr marL="628650" lvl="2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000" dirty="0"/>
              <a:t>legal moves </a:t>
            </a:r>
            <a:r>
              <a:rPr lang="ko-KR" altLang="en-US" sz="1000" dirty="0"/>
              <a:t>목록 갱신</a:t>
            </a:r>
            <a:endParaRPr lang="en-US" altLang="ko-KR" sz="1000" dirty="0"/>
          </a:p>
          <a:p>
            <a:pPr marL="628650" lvl="2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000" dirty="0"/>
              <a:t>legal moves </a:t>
            </a:r>
            <a:r>
              <a:rPr lang="ko-KR" altLang="en-US" sz="1000" dirty="0"/>
              <a:t>목록 갱신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현재 상태</a:t>
            </a:r>
            <a:r>
              <a:rPr lang="en-US" altLang="ko-KR" dirty="0"/>
              <a:t>(State)</a:t>
            </a:r>
            <a:r>
              <a:rPr lang="ko-KR" altLang="en-US" dirty="0"/>
              <a:t>가 다음 상태</a:t>
            </a:r>
            <a:r>
              <a:rPr lang="en-US" altLang="ko-KR" dirty="0"/>
              <a:t>(State)</a:t>
            </a:r>
            <a:r>
              <a:rPr lang="ko-KR" altLang="en-US" dirty="0"/>
              <a:t>로 변경된다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현재 상태</a:t>
            </a:r>
            <a:r>
              <a:rPr lang="en-US" altLang="ko-KR" dirty="0"/>
              <a:t>(State)</a:t>
            </a:r>
            <a:r>
              <a:rPr lang="ko-KR" altLang="en-US" dirty="0"/>
              <a:t>에 선택한 수</a:t>
            </a:r>
            <a:r>
              <a:rPr lang="en-US" altLang="ko-KR" dirty="0"/>
              <a:t>(move)</a:t>
            </a:r>
            <a:r>
              <a:rPr lang="ko-KR" altLang="en-US" dirty="0"/>
              <a:t>를 실제 적용하여 다음 상태</a:t>
            </a:r>
            <a:r>
              <a:rPr lang="en-US" altLang="ko-KR" dirty="0"/>
              <a:t>(Next State)</a:t>
            </a:r>
            <a:r>
              <a:rPr lang="ko-KR" altLang="en-US" dirty="0"/>
              <a:t>로 변경하는 함수이다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152B2D-C1B1-1F40-9E48-2F4FD76C3D83}"/>
              </a:ext>
            </a:extLst>
          </p:cNvPr>
          <p:cNvSpPr txBox="1"/>
          <p:nvPr/>
        </p:nvSpPr>
        <p:spPr>
          <a:xfrm>
            <a:off x="1355701" y="1486654"/>
            <a:ext cx="338709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chess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chess.Board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move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chess.Move.from_uci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"e2e4"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board.push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(move)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print(board)</a:t>
            </a:r>
            <a:endParaRPr lang="ko-KR" altLang="en-US" sz="11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6D1AEBA-D871-6128-17A5-D8364C9FF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064" y="2885422"/>
            <a:ext cx="1016339" cy="109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612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51382-788C-6469-FD64-653D2521A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1C26C-60EC-8E3A-6917-6C0EA872F568}"/>
              </a:ext>
            </a:extLst>
          </p:cNvPr>
          <p:cNvSpPr txBox="1">
            <a:spLocks/>
          </p:cNvSpPr>
          <p:nvPr/>
        </p:nvSpPr>
        <p:spPr>
          <a:xfrm>
            <a:off x="689208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상태</a:t>
            </a:r>
            <a:r>
              <a:rPr lang="en-US" altLang="ko-KR" sz="1200" dirty="0"/>
              <a:t>(State) </a:t>
            </a:r>
            <a:r>
              <a:rPr lang="ko-KR" altLang="en-US" sz="1200" dirty="0"/>
              <a:t>변화 과정 정리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858EEE9F-012A-FC2F-03DB-36E3510D21D0}"/>
              </a:ext>
            </a:extLst>
          </p:cNvPr>
          <p:cNvSpPr txBox="1">
            <a:spLocks/>
          </p:cNvSpPr>
          <p:nvPr/>
        </p:nvSpPr>
        <p:spPr>
          <a:xfrm>
            <a:off x="689208" y="1471749"/>
            <a:ext cx="4984284" cy="729124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체스 </a:t>
            </a:r>
            <a:r>
              <a:rPr lang="en-US" altLang="ko-KR" dirty="0"/>
              <a:t>AI</a:t>
            </a:r>
            <a:r>
              <a:rPr lang="ko-KR" altLang="en-US" dirty="0"/>
              <a:t>는 현재 상태</a:t>
            </a:r>
            <a:r>
              <a:rPr lang="en-US" altLang="ko-KR" dirty="0"/>
              <a:t>(State)</a:t>
            </a:r>
            <a:r>
              <a:rPr lang="ko-KR" altLang="en-US" dirty="0"/>
              <a:t>에서 가능한 수</a:t>
            </a:r>
            <a:r>
              <a:rPr lang="en-US" altLang="ko-KR" dirty="0"/>
              <a:t>(legal moves)</a:t>
            </a:r>
            <a:r>
              <a:rPr lang="ko-KR" altLang="en-US" dirty="0"/>
              <a:t>를 생성한 뒤</a:t>
            </a:r>
            <a:r>
              <a:rPr lang="en-US" altLang="ko-KR" dirty="0"/>
              <a:t>, </a:t>
            </a:r>
            <a:r>
              <a:rPr lang="ko-KR" altLang="en-US" dirty="0"/>
              <a:t>선택한 수</a:t>
            </a:r>
            <a:r>
              <a:rPr lang="en-US" altLang="ko-KR" dirty="0"/>
              <a:t>(move)</a:t>
            </a:r>
            <a:r>
              <a:rPr lang="ko-KR" altLang="en-US" dirty="0"/>
              <a:t>를 적용하여 다음 상태</a:t>
            </a:r>
            <a:r>
              <a:rPr lang="en-US" altLang="ko-KR" dirty="0"/>
              <a:t>(Next State)</a:t>
            </a:r>
            <a:r>
              <a:rPr lang="ko-KR" altLang="en-US" dirty="0"/>
              <a:t>로 이동한다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python-chess</a:t>
            </a:r>
            <a:r>
              <a:rPr lang="ko-KR" altLang="en-US" dirty="0"/>
              <a:t>에서는 다음 함수들을 사용한다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 err="1"/>
              <a:t>chess.Move.from_uci</a:t>
            </a:r>
            <a:r>
              <a:rPr lang="en-US" altLang="ko-KR" dirty="0"/>
              <a:t>( ) : </a:t>
            </a:r>
            <a:r>
              <a:rPr lang="ko-KR" altLang="en-US" dirty="0"/>
              <a:t>문자열 이동 정보를 </a:t>
            </a:r>
            <a:r>
              <a:rPr lang="en-US" altLang="ko-KR" dirty="0"/>
              <a:t>Move </a:t>
            </a:r>
            <a:r>
              <a:rPr lang="ko-KR" altLang="en-US" dirty="0"/>
              <a:t>객체로 변환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 err="1"/>
              <a:t>board.push</a:t>
            </a:r>
            <a:r>
              <a:rPr lang="en-US" altLang="ko-KR" dirty="0"/>
              <a:t>(move) : </a:t>
            </a:r>
            <a:r>
              <a:rPr lang="ko-KR" altLang="en-US" dirty="0"/>
              <a:t>선택한 수를 현재 보드에 적용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체스 게임은 단순히 말을 이동하는 것만으로 끝나지 않는다</a:t>
            </a:r>
            <a:r>
              <a:rPr lang="en-US" altLang="ko-KR" dirty="0"/>
              <a:t>. </a:t>
            </a:r>
            <a:r>
              <a:rPr lang="ko-KR" altLang="en-US" dirty="0"/>
              <a:t>현재 상태</a:t>
            </a:r>
            <a:r>
              <a:rPr lang="en-US" altLang="ko-KR" dirty="0"/>
              <a:t>(State)</a:t>
            </a:r>
            <a:r>
              <a:rPr lang="ko-KR" altLang="en-US" dirty="0"/>
              <a:t>가 계속 진행 가능한 상태인지</a:t>
            </a:r>
            <a:r>
              <a:rPr lang="en-US" altLang="ko-KR" dirty="0"/>
              <a:t>, </a:t>
            </a:r>
            <a:r>
              <a:rPr lang="ko-KR" altLang="en-US" dirty="0"/>
              <a:t>아니면 게임이 끝난 상태인지를 판단해야 한다</a:t>
            </a:r>
            <a:r>
              <a:rPr lang="en-US" altLang="ko-KR" dirty="0"/>
              <a:t>. python-chess</a:t>
            </a:r>
            <a:r>
              <a:rPr lang="ko-KR" altLang="en-US" dirty="0"/>
              <a:t>에서는 게임 종료 여부를 자동으로 판정하는 기능을 제공한다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대표적으로 다음 함수를 사용한다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 err="1"/>
              <a:t>board.is_game_over</a:t>
            </a:r>
            <a:r>
              <a:rPr lang="en-US" altLang="ko-KR" dirty="0"/>
              <a:t>( )</a:t>
            </a:r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 err="1"/>
              <a:t>board.is_checkmate</a:t>
            </a:r>
            <a:r>
              <a:rPr lang="en-US" altLang="ko-KR" dirty="0"/>
              <a:t>( )</a:t>
            </a:r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 err="1"/>
              <a:t>board.result</a:t>
            </a:r>
            <a:r>
              <a:rPr lang="en-US" altLang="ko-KR" dirty="0"/>
              <a:t>( )</a:t>
            </a:r>
          </a:p>
          <a:p>
            <a:pPr>
              <a:buAutoNum type="arabicParenBoth"/>
            </a:pPr>
            <a:r>
              <a:rPr lang="ko-KR" altLang="en-US" dirty="0"/>
              <a:t>게임 종료 여부 확인하기</a:t>
            </a:r>
          </a:p>
          <a:p>
            <a:pPr marL="0" indent="0">
              <a:buNone/>
            </a:pP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board.is_game_over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함수는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현재 체스 게임이 끝났는지 확인한다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altLang="ko-KR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9EC44337-6A04-1A66-B068-7CD319A5C080}"/>
              </a:ext>
            </a:extLst>
          </p:cNvPr>
          <p:cNvSpPr txBox="1">
            <a:spLocks/>
          </p:cNvSpPr>
          <p:nvPr/>
        </p:nvSpPr>
        <p:spPr>
          <a:xfrm>
            <a:off x="602123" y="1097770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 dirty="0"/>
              <a:t>상태</a:t>
            </a:r>
            <a:r>
              <a:rPr lang="en-US" altLang="ko-KR" sz="1100" dirty="0"/>
              <a:t>(State) </a:t>
            </a:r>
            <a:r>
              <a:rPr lang="ko-KR" altLang="en-US" sz="1100" dirty="0"/>
              <a:t>변화 과정 정리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648184-0166-8F4E-B6E7-5B01BBD2B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48" b="41645"/>
          <a:stretch>
            <a:fillRect/>
          </a:stretch>
        </p:blipFill>
        <p:spPr>
          <a:xfrm>
            <a:off x="602123" y="3083074"/>
            <a:ext cx="5036520" cy="2504926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FFA1838-FD10-B601-A5FD-F4CFDB5FE0D4}"/>
              </a:ext>
            </a:extLst>
          </p:cNvPr>
          <p:cNvSpPr txBox="1">
            <a:spLocks/>
          </p:cNvSpPr>
          <p:nvPr/>
        </p:nvSpPr>
        <p:spPr>
          <a:xfrm>
            <a:off x="689208" y="5713639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 dirty="0"/>
              <a:t>게임 종료 판정</a:t>
            </a:r>
          </a:p>
        </p:txBody>
      </p:sp>
    </p:spTree>
    <p:extLst>
      <p:ext uri="{BB962C8B-B14F-4D97-AF65-F5344CB8AC3E}">
        <p14:creationId xmlns:p14="http://schemas.microsoft.com/office/powerpoint/2010/main" val="2774188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0DCED-550A-44CA-82CB-5D741F678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747A836-A7F4-5987-E702-A8E3327C1020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게임 종료 판정</a:t>
            </a:r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D44D8B48-7FB3-4C4B-564B-E8CB912B6B60}"/>
              </a:ext>
            </a:extLst>
          </p:cNvPr>
          <p:cNvSpPr txBox="1">
            <a:spLocks/>
          </p:cNvSpPr>
          <p:nvPr/>
        </p:nvSpPr>
        <p:spPr>
          <a:xfrm>
            <a:off x="1009677" y="1120140"/>
            <a:ext cx="5076798" cy="7571014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결과는 </a:t>
            </a:r>
            <a:r>
              <a:rPr lang="en-US" altLang="ko-KR" dirty="0"/>
              <a:t>True </a:t>
            </a:r>
            <a:r>
              <a:rPr lang="ko-KR" altLang="en-US" dirty="0"/>
              <a:t>또는 </a:t>
            </a:r>
            <a:r>
              <a:rPr lang="en-US" altLang="ko-KR" dirty="0"/>
              <a:t>False</a:t>
            </a:r>
            <a:r>
              <a:rPr lang="ko-KR" altLang="en-US" dirty="0"/>
              <a:t>로 반환된다</a:t>
            </a:r>
            <a:r>
              <a:rPr lang="en-US" altLang="ko-KR" dirty="0"/>
              <a:t>. True</a:t>
            </a:r>
            <a:r>
              <a:rPr lang="ko-KR" altLang="en-US" dirty="0"/>
              <a:t>는 게임이 종료된 상태이고 </a:t>
            </a:r>
            <a:r>
              <a:rPr lang="en-US" altLang="ko-KR" dirty="0"/>
              <a:t>False</a:t>
            </a:r>
            <a:r>
              <a:rPr lang="ko-KR" altLang="en-US" dirty="0"/>
              <a:t>는 게임이 아직 진행 중인 상태이다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en-US" b="1" dirty="0"/>
              <a:t>예제 코드 작성</a:t>
            </a:r>
            <a:r>
              <a:rPr lang="en-US" altLang="ko-KR" b="1" dirty="0"/>
              <a:t> 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코드</a:t>
            </a:r>
            <a:r>
              <a:rPr lang="en-US" altLang="ko-KR" b="1" dirty="0"/>
              <a:t> </a:t>
            </a:r>
            <a:r>
              <a:rPr lang="ko-KR" altLang="en-US" b="1" dirty="0"/>
              <a:t>실행</a:t>
            </a:r>
            <a:r>
              <a:rPr lang="en-US" altLang="ko-KR" b="1" dirty="0"/>
              <a:t> </a:t>
            </a:r>
            <a:r>
              <a:rPr lang="ko-KR" altLang="en-US" b="1" dirty="0"/>
              <a:t>결과</a:t>
            </a:r>
            <a:r>
              <a:rPr lang="en-US" altLang="ko-KR" b="1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(2)  </a:t>
            </a:r>
            <a:r>
              <a:rPr lang="ko-KR" altLang="en-US" dirty="0" err="1"/>
              <a:t>체크메이트</a:t>
            </a:r>
            <a:r>
              <a:rPr lang="ko-KR" altLang="en-US" dirty="0"/>
              <a:t> 판정하기</a:t>
            </a:r>
          </a:p>
          <a:p>
            <a:pPr marL="0" indent="0">
              <a:buNone/>
            </a:pP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board.is_checkmate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함수는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ko-KR" altLang="en-US" dirty="0" err="1">
                <a:solidFill>
                  <a:srgbClr val="3C3836"/>
                </a:solidFill>
                <a:latin typeface="Consolas" panose="020B0609020204030204" pitchFamily="49" charset="0"/>
              </a:rPr>
              <a:t>체크메이트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(Checkmate)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는 상대 킹이 공격받고 있으며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,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어떤 수를 두어도 그 공격을 피할 수 없는 상태를 의미한다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 err="1">
                <a:solidFill>
                  <a:srgbClr val="3C3836"/>
                </a:solidFill>
                <a:latin typeface="Consolas" panose="020B0609020204030204" pitchFamily="49" charset="0"/>
              </a:rPr>
              <a:t>체크메이트가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 되면 게임은 즉시 종료된다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en-US" b="1" dirty="0"/>
              <a:t>예제 코드 작성</a:t>
            </a:r>
            <a:r>
              <a:rPr lang="en-US" altLang="ko-KR" b="1" dirty="0"/>
              <a:t> 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코드</a:t>
            </a:r>
            <a:r>
              <a:rPr lang="en-US" altLang="ko-KR" b="1" dirty="0"/>
              <a:t> </a:t>
            </a:r>
            <a:r>
              <a:rPr lang="ko-KR" altLang="en-US" b="1" dirty="0"/>
              <a:t>실행</a:t>
            </a:r>
            <a:r>
              <a:rPr lang="en-US" altLang="ko-KR" b="1" dirty="0"/>
              <a:t> </a:t>
            </a:r>
            <a:r>
              <a:rPr lang="ko-KR" altLang="en-US" b="1" dirty="0"/>
              <a:t>결과</a:t>
            </a:r>
            <a:r>
              <a:rPr lang="en-US" altLang="ko-KR" b="1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0407A2-D19D-ABAE-198A-1C3A45E446B7}"/>
              </a:ext>
            </a:extLst>
          </p:cNvPr>
          <p:cNvSpPr txBox="1"/>
          <p:nvPr/>
        </p:nvSpPr>
        <p:spPr>
          <a:xfrm>
            <a:off x="1355700" y="1951474"/>
            <a:ext cx="3993539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chess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chess.Board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게임 종료 여부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board.is_game_over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())</a:t>
            </a:r>
            <a:endParaRPr lang="ko-KR" altLang="en-US" sz="11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84945C2-0B7B-3C42-D04E-5E2769551E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720"/>
          <a:stretch>
            <a:fillRect/>
          </a:stretch>
        </p:blipFill>
        <p:spPr>
          <a:xfrm>
            <a:off x="1431863" y="3352800"/>
            <a:ext cx="1579713" cy="152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F915D9-968D-BDA7-F785-EAF4C330C2FA}"/>
              </a:ext>
            </a:extLst>
          </p:cNvPr>
          <p:cNvSpPr txBox="1"/>
          <p:nvPr/>
        </p:nvSpPr>
        <p:spPr>
          <a:xfrm>
            <a:off x="2221719" y="4866695"/>
            <a:ext cx="338709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chess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chess.Board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board.push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chess.Move.from_uci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"f2f3"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board.push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chess.Move.from_uci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"e7e5"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board.push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chess.Move.from_uci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"g2g4"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board.push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chess.Move.from_uci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"d8h4"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print(board)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게임 종료 여부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board.is_game_over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 err="1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체크메이트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 여부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board.is_checkmate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게임 결과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board.result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())</a:t>
            </a:r>
            <a:endParaRPr lang="ko-KR" altLang="en-US" sz="1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82F39AC-5A84-4379-E083-B4183CD97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643" y="7153361"/>
            <a:ext cx="1297377" cy="143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69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685DF-6C20-5309-BF87-782D1E215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BD2C3-0624-F50D-8A00-2E8B8DB202ED}"/>
              </a:ext>
            </a:extLst>
          </p:cNvPr>
          <p:cNvSpPr txBox="1">
            <a:spLocks/>
          </p:cNvSpPr>
          <p:nvPr/>
        </p:nvSpPr>
        <p:spPr>
          <a:xfrm>
            <a:off x="689208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게임 종료 판정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A2179F8C-5A9C-F888-9E97-03B44B7F6F3C}"/>
              </a:ext>
            </a:extLst>
          </p:cNvPr>
          <p:cNvSpPr txBox="1">
            <a:spLocks/>
          </p:cNvSpPr>
          <p:nvPr/>
        </p:nvSpPr>
        <p:spPr>
          <a:xfrm>
            <a:off x="689208" y="1135381"/>
            <a:ext cx="4984284" cy="762761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이 예제에서는 흑의 퀸이 </a:t>
            </a:r>
            <a:r>
              <a:rPr lang="en-US" altLang="ko-KR" dirty="0"/>
              <a:t>d8</a:t>
            </a:r>
            <a:r>
              <a:rPr lang="ko-KR" altLang="en-US" dirty="0"/>
              <a:t>에서 </a:t>
            </a:r>
            <a:r>
              <a:rPr lang="en-US" altLang="ko-KR" dirty="0"/>
              <a:t>h4</a:t>
            </a:r>
            <a:r>
              <a:rPr lang="ko-KR" altLang="en-US" dirty="0"/>
              <a:t>로 이동하면서 백의 킹을 공격한다</a:t>
            </a:r>
            <a:r>
              <a:rPr lang="en-US" altLang="ko-KR" dirty="0"/>
              <a:t>. </a:t>
            </a:r>
            <a:r>
              <a:rPr lang="ko-KR" altLang="en-US" dirty="0"/>
              <a:t>백은 더 이상 킹을 안전하게 만들 수 없으므로 </a:t>
            </a:r>
            <a:r>
              <a:rPr lang="ko-KR" altLang="en-US" dirty="0" err="1"/>
              <a:t>체크메이트가</a:t>
            </a:r>
            <a:r>
              <a:rPr lang="ko-KR" altLang="en-US" dirty="0"/>
              <a:t> 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(3) </a:t>
            </a:r>
            <a:r>
              <a:rPr lang="ko-KR" altLang="en-US" dirty="0" err="1"/>
              <a:t>스테일메이트와</a:t>
            </a:r>
            <a:r>
              <a:rPr lang="ko-KR" altLang="en-US" dirty="0"/>
              <a:t> 무승부</a:t>
            </a:r>
          </a:p>
          <a:p>
            <a:pPr marL="0" indent="0">
              <a:buNone/>
            </a:pPr>
            <a:r>
              <a:rPr lang="ko-KR" altLang="en-US" dirty="0"/>
              <a:t>체스에서는 </a:t>
            </a:r>
            <a:r>
              <a:rPr lang="ko-KR" altLang="en-US" dirty="0" err="1"/>
              <a:t>체크메이트가</a:t>
            </a:r>
            <a:r>
              <a:rPr lang="ko-KR" altLang="en-US" dirty="0"/>
              <a:t> 아니어도 게임이 끝날 수 있다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대표적인 경우가 </a:t>
            </a:r>
            <a:r>
              <a:rPr lang="ko-KR" altLang="en-US" dirty="0" err="1">
                <a:solidFill>
                  <a:srgbClr val="3C3836"/>
                </a:solidFill>
                <a:latin typeface="Consolas" panose="020B0609020204030204" pitchFamily="49" charset="0"/>
              </a:rPr>
              <a:t>스테일메이트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(Stalemate)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이다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 err="1">
                <a:solidFill>
                  <a:srgbClr val="3C3836"/>
                </a:solidFill>
                <a:latin typeface="Consolas" panose="020B0609020204030204" pitchFamily="49" charset="0"/>
              </a:rPr>
              <a:t>스테일메이트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 상태는 킹이 체크 상태는 아니다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하지만 현재 차례의 플레이어가 둘 수 있는 합법적인 수가 없는 상태를 말한다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이 경우 게임은 무승부로 끝난다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python-chess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에서는 </a:t>
            </a:r>
            <a:r>
              <a:rPr lang="ko-KR" altLang="en-US" dirty="0" err="1">
                <a:solidFill>
                  <a:srgbClr val="3C3836"/>
                </a:solidFill>
                <a:latin typeface="Consolas" panose="020B0609020204030204" pitchFamily="49" charset="0"/>
              </a:rPr>
              <a:t>스테일메이트도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board.is_ </a:t>
            </a:r>
            <a:r>
              <a:rPr lang="en-US" altLang="ko-KR" dirty="0" err="1">
                <a:solidFill>
                  <a:srgbClr val="3C3836"/>
                </a:solidFill>
                <a:latin typeface="Consolas" panose="020B0609020204030204" pitchFamily="49" charset="0"/>
              </a:rPr>
              <a:t>game_over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()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에서 자동으로 종료 상태로 판단한다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en-US" altLang="ko-KR" dirty="0"/>
              <a:t>(4) </a:t>
            </a:r>
            <a:r>
              <a:rPr lang="ko-KR" altLang="en-US" dirty="0"/>
              <a:t>게임 결과 확인하기</a:t>
            </a:r>
          </a:p>
          <a:p>
            <a:pPr marL="0" indent="0">
              <a:buNone/>
            </a:pP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board.result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en-US" dirty="0"/>
              <a:t>함수는 현재 게임의 결과를 문자열로 반환한다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>
              <a:solidFill>
                <a:srgbClr val="3C38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dirty="0">
              <a:solidFill>
                <a:srgbClr val="3C38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dirty="0">
              <a:solidFill>
                <a:srgbClr val="3C38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dirty="0">
              <a:solidFill>
                <a:srgbClr val="3C38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861C01B-B066-B0C6-CE03-5F6A72F12B7E}"/>
              </a:ext>
            </a:extLst>
          </p:cNvPr>
          <p:cNvGraphicFramePr>
            <a:graphicFrameLocks noGrp="1"/>
          </p:cNvGraphicFramePr>
          <p:nvPr/>
        </p:nvGraphicFramePr>
        <p:xfrm>
          <a:off x="832401" y="3957320"/>
          <a:ext cx="4425399" cy="12192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796053">
                  <a:extLst>
                    <a:ext uri="{9D8B030D-6E8A-4147-A177-3AD203B41FA5}">
                      <a16:colId xmlns:a16="http://schemas.microsoft.com/office/drawing/2014/main" val="2227924216"/>
                    </a:ext>
                  </a:extLst>
                </a:gridCol>
                <a:gridCol w="2629346">
                  <a:extLst>
                    <a:ext uri="{9D8B030D-6E8A-4147-A177-3AD203B41FA5}">
                      <a16:colId xmlns:a16="http://schemas.microsoft.com/office/drawing/2014/main" val="1781350042"/>
                    </a:ext>
                  </a:extLst>
                </a:gridCol>
              </a:tblGrid>
              <a:tr h="2113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/>
                        <a:t>결과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/>
                        <a:t>의미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7076546"/>
                  </a:ext>
                </a:extLst>
              </a:tr>
              <a:tr h="2113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 dirty="0"/>
                        <a:t>1-0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/>
                        <a:t>백 승리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73015253"/>
                  </a:ext>
                </a:extLst>
              </a:tr>
              <a:tr h="2113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/>
                        <a:t>0-1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/>
                        <a:t>흑 승리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821505"/>
                  </a:ext>
                </a:extLst>
              </a:tr>
              <a:tr h="2113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00"/>
                        <a:t>1/2-1/2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/>
                        <a:t>무승부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906158"/>
                  </a:ext>
                </a:extLst>
              </a:tr>
              <a:tr h="2113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/>
                        <a:t>*</a:t>
                      </a:r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dirty="0"/>
                        <a:t>아직 게임이 끝나지 않음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5512068"/>
                  </a:ext>
                </a:extLst>
              </a:tr>
            </a:tbl>
          </a:graphicData>
        </a:graphic>
      </p:graphicFrame>
      <p:pic>
        <p:nvPicPr>
          <p:cNvPr id="12" name="그래픽 11">
            <a:extLst>
              <a:ext uri="{FF2B5EF4-FFF2-40B4-BE49-F238E27FC236}">
                <a16:creationId xmlns:a16="http://schemas.microsoft.com/office/drawing/2014/main" id="{05B6D821-9050-269E-6518-E7869BE41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8121" y="5102581"/>
            <a:ext cx="4234899" cy="386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351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F078F-F34B-3288-BB5F-82AF599B4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2C12F10-95C2-A92D-2288-DA7346630EA1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게임 종료 판정</a:t>
            </a:r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E8569F5A-1010-8598-3A57-4A4F62FA4ABA}"/>
              </a:ext>
            </a:extLst>
          </p:cNvPr>
          <p:cNvSpPr txBox="1">
            <a:spLocks/>
          </p:cNvSpPr>
          <p:nvPr/>
        </p:nvSpPr>
        <p:spPr>
          <a:xfrm>
            <a:off x="1009677" y="1066800"/>
            <a:ext cx="5076798" cy="7624354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체스 </a:t>
            </a:r>
            <a:r>
              <a:rPr lang="en-US" altLang="ko-KR" dirty="0"/>
              <a:t>AI</a:t>
            </a:r>
            <a:r>
              <a:rPr lang="ko-KR" altLang="en-US" dirty="0"/>
              <a:t>는 먼저 현재 상태</a:t>
            </a:r>
            <a:r>
              <a:rPr lang="en-US" altLang="ko-KR" dirty="0"/>
              <a:t>(State)</a:t>
            </a:r>
            <a:r>
              <a:rPr lang="ko-KR" altLang="en-US" dirty="0"/>
              <a:t>에서 게임이 끝났는지 확인한다</a:t>
            </a:r>
            <a:r>
              <a:rPr lang="en-US" altLang="ko-KR" dirty="0"/>
              <a:t>. </a:t>
            </a:r>
            <a:r>
              <a:rPr lang="en-US" altLang="ko-KR" dirty="0" err="1"/>
              <a:t>board.is_game_over</a:t>
            </a:r>
            <a:r>
              <a:rPr lang="en-US" altLang="ko-KR" dirty="0"/>
              <a:t>( ) </a:t>
            </a:r>
            <a:r>
              <a:rPr lang="ko-KR" altLang="en-US" dirty="0"/>
              <a:t>만약 게임이 종료되지 않았다면</a:t>
            </a:r>
            <a:r>
              <a:rPr lang="en-US" altLang="ko-KR" dirty="0"/>
              <a:t>(False), </a:t>
            </a:r>
            <a:r>
              <a:rPr lang="ko-KR" altLang="en-US" dirty="0"/>
              <a:t>다음 수</a:t>
            </a:r>
            <a:r>
              <a:rPr lang="en-US" altLang="ko-KR" dirty="0"/>
              <a:t>(move)</a:t>
            </a:r>
            <a:r>
              <a:rPr lang="ko-KR" altLang="en-US" dirty="0"/>
              <a:t>를 </a:t>
            </a:r>
            <a:r>
              <a:rPr lang="ko-KR" altLang="en-US" dirty="0" err="1"/>
              <a:t>입력받아</a:t>
            </a:r>
            <a:r>
              <a:rPr lang="ko-KR" altLang="en-US" dirty="0"/>
              <a:t> 게임을 계속 진행한다</a:t>
            </a:r>
            <a:r>
              <a:rPr lang="en-US" altLang="ko-KR" dirty="0"/>
              <a:t>. </a:t>
            </a:r>
            <a:r>
              <a:rPr lang="ko-KR" altLang="en-US" dirty="0"/>
              <a:t>반대로 게임이 종료되었다면</a:t>
            </a:r>
            <a:r>
              <a:rPr lang="en-US" altLang="ko-KR" dirty="0"/>
              <a:t>(True), </a:t>
            </a:r>
            <a:r>
              <a:rPr lang="ko-KR" altLang="en-US" dirty="0"/>
              <a:t>다음 함수를 사용하여 최종 결과를 확인한다</a:t>
            </a:r>
            <a:r>
              <a:rPr lang="en-US" altLang="ko-KR" dirty="0"/>
              <a:t>. </a:t>
            </a:r>
            <a:r>
              <a:rPr lang="en-US" altLang="ko-KR" dirty="0" err="1"/>
              <a:t>board.result</a:t>
            </a:r>
            <a:r>
              <a:rPr lang="en-US" altLang="ko-KR" dirty="0"/>
              <a:t>( ) </a:t>
            </a:r>
            <a:r>
              <a:rPr lang="ko-KR" altLang="en-US" dirty="0"/>
              <a:t>결과는 다음과 같이 출력된다</a:t>
            </a:r>
            <a:r>
              <a:rPr lang="en-US" altLang="ko-KR" dirty="0"/>
              <a:t>. 1-0</a:t>
            </a:r>
            <a:r>
              <a:rPr lang="ko-KR" altLang="en-US" dirty="0"/>
              <a:t>은 백</a:t>
            </a:r>
            <a:r>
              <a:rPr lang="en-US" altLang="ko-KR" dirty="0"/>
              <a:t>(White) </a:t>
            </a:r>
            <a:r>
              <a:rPr lang="ko-KR" altLang="en-US" dirty="0"/>
              <a:t>승리</a:t>
            </a:r>
            <a:r>
              <a:rPr lang="en-US" altLang="ko-KR" dirty="0"/>
              <a:t>, 0-1</a:t>
            </a:r>
            <a:r>
              <a:rPr lang="ko-KR" altLang="en-US" dirty="0"/>
              <a:t>은 흑</a:t>
            </a:r>
            <a:r>
              <a:rPr lang="en-US" altLang="ko-KR" dirty="0"/>
              <a:t>(Black) </a:t>
            </a:r>
            <a:r>
              <a:rPr lang="ko-KR" altLang="en-US" dirty="0"/>
              <a:t>승리</a:t>
            </a:r>
            <a:r>
              <a:rPr lang="en-US" altLang="ko-KR" dirty="0"/>
              <a:t>, 1/2-1/2</a:t>
            </a:r>
            <a:r>
              <a:rPr lang="ko-KR" altLang="en-US" dirty="0"/>
              <a:t>은 무승부</a:t>
            </a:r>
            <a:r>
              <a:rPr lang="en-US" altLang="ko-KR" dirty="0"/>
              <a:t>(Draw)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체스 </a:t>
            </a:r>
            <a:r>
              <a:rPr lang="en-US" altLang="ko-KR" dirty="0"/>
              <a:t>AI</a:t>
            </a:r>
            <a:r>
              <a:rPr lang="ko-KR" altLang="en-US" dirty="0"/>
              <a:t>는 현재 상태</a:t>
            </a:r>
            <a:r>
              <a:rPr lang="en-US" altLang="ko-KR" dirty="0"/>
              <a:t>(State)</a:t>
            </a:r>
            <a:r>
              <a:rPr lang="ko-KR" altLang="en-US" dirty="0"/>
              <a:t>를 계속 분석하면서 게임 종료 여부를 반복적으로 확인하고</a:t>
            </a:r>
            <a:r>
              <a:rPr lang="en-US" altLang="ko-KR" dirty="0"/>
              <a:t>, </a:t>
            </a:r>
            <a:r>
              <a:rPr lang="ko-KR" altLang="en-US" dirty="0"/>
              <a:t>게임이 끝나면 최종 결과를 반환하게 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en-US" b="1" dirty="0"/>
              <a:t>예제 코드 작성</a:t>
            </a:r>
            <a:r>
              <a:rPr lang="en-US" altLang="ko-KR" b="1" dirty="0"/>
              <a:t> 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코드</a:t>
            </a:r>
            <a:r>
              <a:rPr lang="en-US" altLang="ko-KR" b="1" dirty="0"/>
              <a:t> </a:t>
            </a:r>
            <a:r>
              <a:rPr lang="ko-KR" altLang="en-US" b="1" dirty="0"/>
              <a:t>실행</a:t>
            </a:r>
            <a:r>
              <a:rPr lang="en-US" altLang="ko-KR" b="1" dirty="0"/>
              <a:t> </a:t>
            </a:r>
            <a:r>
              <a:rPr lang="ko-KR" altLang="en-US" b="1" dirty="0"/>
              <a:t>결과</a:t>
            </a:r>
            <a:r>
              <a:rPr lang="en-US" altLang="ko-KR" b="1" dirty="0"/>
              <a:t>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14B908-4E7F-1473-C7A5-837F5DB98292}"/>
              </a:ext>
            </a:extLst>
          </p:cNvPr>
          <p:cNvSpPr txBox="1"/>
          <p:nvPr/>
        </p:nvSpPr>
        <p:spPr>
          <a:xfrm>
            <a:off x="1233352" y="2841341"/>
            <a:ext cx="337947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chess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chess.Board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현재 결과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board.result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())</a:t>
            </a:r>
            <a:endParaRPr lang="ko-KR" altLang="en-US" sz="11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BE73B7B-D005-DAC0-8859-132A200BD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059" y="4181096"/>
            <a:ext cx="1275362" cy="17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06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9BF95-2A72-FB5C-91F8-8A3213683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B38A66-0990-59FC-D11D-9591B7925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344" y="672476"/>
            <a:ext cx="3738771" cy="338272"/>
          </a:xfrm>
        </p:spPr>
        <p:txBody>
          <a:bodyPr>
            <a:normAutofit/>
          </a:bodyPr>
          <a:lstStyle/>
          <a:p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8F4E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콘솔 기반 체스 상태 처리 프로그램</a:t>
            </a:r>
            <a:endParaRPr lang="ko-KR" altLang="en-US" sz="1200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4255A34-06D5-4F8E-D4FE-6DE5EE4AA78C}"/>
              </a:ext>
            </a:extLst>
          </p:cNvPr>
          <p:cNvSpPr txBox="1">
            <a:spLocks/>
          </p:cNvSpPr>
          <p:nvPr/>
        </p:nvSpPr>
        <p:spPr>
          <a:xfrm>
            <a:off x="920175" y="1203960"/>
            <a:ext cx="4831475" cy="785876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지금까지 학습한 내용을 이용하면 콘솔</a:t>
            </a:r>
            <a:r>
              <a:rPr lang="en-US" altLang="ko-KR" dirty="0"/>
              <a:t>(Console) </a:t>
            </a:r>
            <a:r>
              <a:rPr lang="ko-KR" altLang="en-US" dirty="0"/>
              <a:t>환경에서 직접 체스를 진행하는 프로그램을 만들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이 프로그램은 다음 기능을 포함한다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• </a:t>
            </a:r>
            <a:r>
              <a:rPr lang="ko-KR" altLang="en-US" dirty="0"/>
              <a:t>사용자 입력 받기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• </a:t>
            </a:r>
            <a:r>
              <a:rPr lang="ko-KR" altLang="en-US" dirty="0"/>
              <a:t>합법적 수</a:t>
            </a:r>
            <a:r>
              <a:rPr lang="en-US" altLang="ko-KR" dirty="0"/>
              <a:t>(legal moves) </a:t>
            </a:r>
            <a:r>
              <a:rPr lang="ko-KR" altLang="en-US" dirty="0"/>
              <a:t>검사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• </a:t>
            </a:r>
            <a:r>
              <a:rPr lang="ko-KR" altLang="en-US" dirty="0"/>
              <a:t>체스 상태</a:t>
            </a:r>
            <a:r>
              <a:rPr lang="en-US" altLang="ko-KR" dirty="0"/>
              <a:t>(State) </a:t>
            </a:r>
            <a:r>
              <a:rPr lang="ko-KR" altLang="en-US" dirty="0"/>
              <a:t>변경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• </a:t>
            </a:r>
            <a:r>
              <a:rPr lang="ko-KR" altLang="en-US" dirty="0"/>
              <a:t>게임 종료 여부 확인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• </a:t>
            </a:r>
            <a:r>
              <a:rPr lang="ko-KR" altLang="en-US" dirty="0"/>
              <a:t>게임 종료까지 반복 실행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python-chess</a:t>
            </a:r>
            <a:r>
              <a:rPr lang="ko-KR" altLang="en-US" dirty="0"/>
              <a:t>는 현재 상태</a:t>
            </a:r>
            <a:r>
              <a:rPr lang="en-US" altLang="ko-KR" dirty="0"/>
              <a:t>(State)</a:t>
            </a:r>
            <a:r>
              <a:rPr lang="ko-KR" altLang="en-US" dirty="0"/>
              <a:t>를 저장하고</a:t>
            </a:r>
            <a:r>
              <a:rPr lang="en-US" altLang="ko-KR" dirty="0"/>
              <a:t>, </a:t>
            </a:r>
            <a:r>
              <a:rPr lang="ko-KR" altLang="en-US" dirty="0"/>
              <a:t>사용자가 입력한 수</a:t>
            </a:r>
            <a:r>
              <a:rPr lang="en-US" altLang="ko-KR" dirty="0"/>
              <a:t>(move)</a:t>
            </a:r>
            <a:r>
              <a:rPr lang="ko-KR" altLang="en-US" dirty="0"/>
              <a:t>를 적용하여 다음 상태</a:t>
            </a:r>
            <a:r>
              <a:rPr lang="en-US" altLang="ko-KR" dirty="0"/>
              <a:t>(Next State)</a:t>
            </a:r>
            <a:r>
              <a:rPr lang="ko-KR" altLang="en-US" dirty="0"/>
              <a:t>로 변경한다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13027546-72B5-25F9-D8EB-EB85912BA5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922" y="4225714"/>
            <a:ext cx="4031117" cy="462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693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DE58F-E08E-B7BF-5C14-5FDB1BD5F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42636DB-4FD6-93D9-A1C8-028806DF68D4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콘솔 기반 체스 상태 처리 프로그램</a:t>
            </a:r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6659D33D-59CC-2094-16DB-5866538650A1}"/>
              </a:ext>
            </a:extLst>
          </p:cNvPr>
          <p:cNvSpPr txBox="1">
            <a:spLocks/>
          </p:cNvSpPr>
          <p:nvPr/>
        </p:nvSpPr>
        <p:spPr>
          <a:xfrm>
            <a:off x="1009677" y="1076960"/>
            <a:ext cx="5076798" cy="7741921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이 흐름도는 콘솔 기반 체스 프로그램이 동작하는 전체 과정을 나타낸 것이다</a:t>
            </a:r>
            <a:r>
              <a:rPr lang="en-US" altLang="ko-KR" dirty="0"/>
              <a:t>. </a:t>
            </a:r>
            <a:r>
              <a:rPr lang="ko-KR" altLang="en-US" dirty="0"/>
              <a:t>프로그램은 현재 상태</a:t>
            </a:r>
            <a:r>
              <a:rPr lang="en-US" altLang="ko-KR" dirty="0"/>
              <a:t>(State)</a:t>
            </a:r>
            <a:r>
              <a:rPr lang="ko-KR" altLang="en-US" dirty="0"/>
              <a:t>에서 사용자의 수</a:t>
            </a:r>
            <a:r>
              <a:rPr lang="en-US" altLang="ko-KR" dirty="0"/>
              <a:t>(move)</a:t>
            </a:r>
            <a:r>
              <a:rPr lang="ko-KR" altLang="en-US" dirty="0"/>
              <a:t>를 </a:t>
            </a:r>
            <a:r>
              <a:rPr lang="ko-KR" altLang="en-US" dirty="0" err="1"/>
              <a:t>입력받고</a:t>
            </a:r>
            <a:r>
              <a:rPr lang="en-US" altLang="ko-KR" dirty="0"/>
              <a:t>, </a:t>
            </a:r>
            <a:r>
              <a:rPr lang="ko-KR" altLang="en-US" dirty="0"/>
              <a:t>그 수가 합법적인 수인지 확인한다</a:t>
            </a:r>
            <a:r>
              <a:rPr lang="en-US" altLang="ko-KR" dirty="0"/>
              <a:t>. </a:t>
            </a:r>
            <a:r>
              <a:rPr lang="ko-KR" altLang="en-US" dirty="0"/>
              <a:t>합법적인 수라면 </a:t>
            </a:r>
            <a:r>
              <a:rPr lang="en-US" altLang="ko-KR" dirty="0" err="1"/>
              <a:t>board.push</a:t>
            </a:r>
            <a:r>
              <a:rPr lang="en-US" altLang="ko-KR" dirty="0"/>
              <a:t>(move)</a:t>
            </a:r>
            <a:r>
              <a:rPr lang="ko-KR" altLang="en-US" dirty="0"/>
              <a:t>를 사용하여 보드 상태를 다음 상태</a:t>
            </a:r>
            <a:r>
              <a:rPr lang="en-US" altLang="ko-KR" dirty="0"/>
              <a:t>(Next State)</a:t>
            </a:r>
            <a:r>
              <a:rPr lang="ko-KR" altLang="en-US" dirty="0"/>
              <a:t>로 변경한다</a:t>
            </a:r>
            <a:r>
              <a:rPr lang="en-US" altLang="ko-KR" dirty="0"/>
              <a:t>. </a:t>
            </a:r>
            <a:r>
              <a:rPr lang="ko-KR" altLang="en-US" dirty="0"/>
              <a:t>이후 </a:t>
            </a:r>
            <a:r>
              <a:rPr lang="en-US" altLang="ko-KR" dirty="0" err="1"/>
              <a:t>board.is_game_over</a:t>
            </a:r>
            <a:r>
              <a:rPr lang="en-US" altLang="ko-KR" dirty="0"/>
              <a:t>()</a:t>
            </a:r>
            <a:r>
              <a:rPr lang="ko-KR" altLang="en-US" dirty="0"/>
              <a:t>로 게임 종료 여부를 확인한다</a:t>
            </a:r>
            <a:r>
              <a:rPr lang="en-US" altLang="ko-KR" dirty="0"/>
              <a:t>. </a:t>
            </a:r>
            <a:r>
              <a:rPr lang="ko-KR" altLang="en-US" dirty="0"/>
              <a:t>게임이 끝나지 않았다면 다시 수를 </a:t>
            </a:r>
            <a:r>
              <a:rPr lang="ko-KR" altLang="en-US" dirty="0" err="1"/>
              <a:t>입력받고</a:t>
            </a:r>
            <a:r>
              <a:rPr lang="en-US" altLang="ko-KR" dirty="0"/>
              <a:t>, </a:t>
            </a:r>
            <a:r>
              <a:rPr lang="ko-KR" altLang="en-US" dirty="0"/>
              <a:t>게임이 끝났다면 </a:t>
            </a:r>
            <a:r>
              <a:rPr lang="en-US" altLang="ko-KR" dirty="0" err="1"/>
              <a:t>board.result</a:t>
            </a:r>
            <a:r>
              <a:rPr lang="en-US" altLang="ko-KR" dirty="0"/>
              <a:t>()</a:t>
            </a:r>
            <a:r>
              <a:rPr lang="ko-KR" altLang="en-US" dirty="0"/>
              <a:t>를 통해 최종 결과를 출력한다</a:t>
            </a:r>
            <a:r>
              <a:rPr lang="en-US" altLang="ko-KR" dirty="0"/>
              <a:t>.</a:t>
            </a:r>
            <a:endParaRPr lang="en-US" altLang="ko-KR" dirty="0">
              <a:latin typeface="+mn-ea"/>
            </a:endParaRPr>
          </a:p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en-US" b="1" dirty="0"/>
              <a:t>예제 코드 작성</a:t>
            </a:r>
            <a:r>
              <a:rPr lang="en-US" altLang="ko-KR" b="1" dirty="0"/>
              <a:t> 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코드</a:t>
            </a:r>
            <a:r>
              <a:rPr lang="en-US" altLang="ko-KR" b="1" dirty="0"/>
              <a:t> </a:t>
            </a:r>
            <a:r>
              <a:rPr lang="ko-KR" altLang="en-US" b="1" dirty="0"/>
              <a:t>실행</a:t>
            </a:r>
            <a:r>
              <a:rPr lang="en-US" altLang="ko-KR" b="1" dirty="0"/>
              <a:t> </a:t>
            </a:r>
            <a:r>
              <a:rPr lang="ko-KR" altLang="en-US" b="1" dirty="0"/>
              <a:t>결과</a:t>
            </a:r>
            <a:r>
              <a:rPr lang="en-US" altLang="ko-KR" b="1" dirty="0"/>
              <a:t>]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코드</a:t>
            </a:r>
            <a:r>
              <a:rPr lang="en-US" altLang="ko-KR" b="1" dirty="0"/>
              <a:t> </a:t>
            </a:r>
            <a:r>
              <a:rPr lang="ko-KR" altLang="en-US" b="1" dirty="0"/>
              <a:t>설명</a:t>
            </a:r>
            <a:r>
              <a:rPr lang="en-US" altLang="ko-KR" b="1" dirty="0"/>
              <a:t>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board.is_game_over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():</a:t>
            </a:r>
            <a:r>
              <a:rPr lang="en-US" altLang="ko-KR" dirty="0"/>
              <a:t> </a:t>
            </a:r>
            <a:r>
              <a:rPr lang="ko-KR" altLang="en-US" dirty="0"/>
              <a:t>게임이 종료되지 않은 동안 반복 실행한다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2E141-2B77-DE46-0824-FEF14B66F283}"/>
              </a:ext>
            </a:extLst>
          </p:cNvPr>
          <p:cNvSpPr txBox="1"/>
          <p:nvPr/>
        </p:nvSpPr>
        <p:spPr>
          <a:xfrm>
            <a:off x="1251584" y="2851160"/>
            <a:ext cx="4290351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chess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chess.Board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체스 게임 시작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board.is_game_over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():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"\n</a:t>
            </a:r>
            <a:r>
              <a:rPr lang="ko-KR" altLang="en-US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현재 보드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print(board)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move = input(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수 입력 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예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 e2e4): 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move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chess.Move.from_uci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(move)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move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board.legal_moves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board.push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(move)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print(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불가능한 수입니다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입력 오류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게임 종료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결과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board.result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())</a:t>
            </a:r>
            <a:endParaRPr lang="ko-KR" altLang="en-US" sz="11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A003A9D-A87D-6C20-0BCE-541C88A59D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89"/>
          <a:stretch>
            <a:fillRect/>
          </a:stretch>
        </p:blipFill>
        <p:spPr>
          <a:xfrm>
            <a:off x="1156166" y="6556339"/>
            <a:ext cx="1174956" cy="115599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C29D82D-87F6-51CC-0334-5EDE3DAA9F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4995"/>
          <a:stretch>
            <a:fillRect/>
          </a:stretch>
        </p:blipFill>
        <p:spPr>
          <a:xfrm>
            <a:off x="2342096" y="6556338"/>
            <a:ext cx="1174955" cy="114984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E2EEABA-0E86-41CC-1E5D-DB4889A2CA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836"/>
          <a:stretch>
            <a:fillRect/>
          </a:stretch>
        </p:blipFill>
        <p:spPr>
          <a:xfrm>
            <a:off x="3528025" y="6556338"/>
            <a:ext cx="1118133" cy="114984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BA0E95C-6866-1A23-5B57-3E2CF51F56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r="4995"/>
          <a:stretch>
            <a:fillRect/>
          </a:stretch>
        </p:blipFill>
        <p:spPr>
          <a:xfrm>
            <a:off x="4657133" y="6556338"/>
            <a:ext cx="1174956" cy="137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335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DF859-7311-5258-6601-0977303D8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B3FEF-A0EA-4349-EDC6-3B22FB79DE04}"/>
              </a:ext>
            </a:extLst>
          </p:cNvPr>
          <p:cNvSpPr txBox="1">
            <a:spLocks/>
          </p:cNvSpPr>
          <p:nvPr/>
        </p:nvSpPr>
        <p:spPr>
          <a:xfrm>
            <a:off x="689208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콘솔 기반 체스 상태 처리 프로그램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2018BEBB-1858-26EA-A988-C99FBFBCBD8C}"/>
              </a:ext>
            </a:extLst>
          </p:cNvPr>
          <p:cNvSpPr txBox="1">
            <a:spLocks/>
          </p:cNvSpPr>
          <p:nvPr/>
        </p:nvSpPr>
        <p:spPr>
          <a:xfrm>
            <a:off x="689208" y="1135381"/>
            <a:ext cx="4984284" cy="762761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except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:</a:t>
            </a:r>
            <a:r>
              <a:rPr lang="en-US" altLang="ko-KR" dirty="0"/>
              <a:t> </a:t>
            </a:r>
            <a:r>
              <a:rPr lang="ko-KR" altLang="en-US" dirty="0"/>
              <a:t>프로그램 실행 중 발생할 수 있는 오류</a:t>
            </a:r>
            <a:r>
              <a:rPr lang="en-US" altLang="ko-KR" dirty="0"/>
              <a:t>(Exception)</a:t>
            </a:r>
            <a:r>
              <a:rPr lang="ko-KR" altLang="en-US" dirty="0"/>
              <a:t>를 처리하기 위한 구문이다</a:t>
            </a:r>
            <a:r>
              <a:rPr lang="en-US" altLang="ko-KR" dirty="0"/>
              <a:t>. </a:t>
            </a:r>
            <a:r>
              <a:rPr lang="ko-KR" altLang="en-US" dirty="0"/>
              <a:t>사용자가 잘못된 형식의 문자열을 입력하면 </a:t>
            </a:r>
            <a:r>
              <a:rPr lang="en-US" altLang="ko-KR" dirty="0" err="1"/>
              <a:t>abcd</a:t>
            </a:r>
            <a:r>
              <a:rPr lang="en-US" altLang="ko-KR" dirty="0"/>
              <a:t>, hello, 1234</a:t>
            </a:r>
            <a:r>
              <a:rPr lang="ko-KR" altLang="en-US" dirty="0"/>
              <a:t>와 같은 값은 정상적인 </a:t>
            </a:r>
            <a:r>
              <a:rPr lang="en-US" altLang="ko-KR" dirty="0"/>
              <a:t>UCI </a:t>
            </a:r>
            <a:r>
              <a:rPr lang="ko-KR" altLang="en-US" dirty="0"/>
              <a:t>이동 표기법이 아니므로 오류가 발생할 수 있다</a:t>
            </a:r>
            <a:r>
              <a:rPr lang="en-US" altLang="ko-KR" dirty="0"/>
              <a:t>. </a:t>
            </a:r>
            <a:r>
              <a:rPr lang="ko-KR" altLang="en-US" dirty="0"/>
              <a:t>이때 </a:t>
            </a:r>
            <a:r>
              <a:rPr lang="en-US" altLang="ko-KR" dirty="0"/>
              <a:t>try </a:t>
            </a:r>
            <a:r>
              <a:rPr lang="ko-KR" altLang="en-US" dirty="0"/>
              <a:t>영역에서는 입력된 문자열을 </a:t>
            </a:r>
            <a:r>
              <a:rPr lang="en-US" altLang="ko-KR" dirty="0"/>
              <a:t>Move </a:t>
            </a:r>
            <a:r>
              <a:rPr lang="ko-KR" altLang="en-US" dirty="0"/>
              <a:t>객체로 변환하고</a:t>
            </a:r>
            <a:r>
              <a:rPr lang="en-US" altLang="ko-KR" dirty="0"/>
              <a:t>, </a:t>
            </a:r>
            <a:r>
              <a:rPr lang="ko-KR" altLang="en-US" dirty="0"/>
              <a:t>합법적인 수인지 검사한다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(3) </a:t>
            </a:r>
            <a:r>
              <a:rPr lang="ko-KR" altLang="en-US" dirty="0" err="1"/>
              <a:t>스테일메이트와</a:t>
            </a:r>
            <a:r>
              <a:rPr lang="ko-KR" altLang="en-US" dirty="0"/>
              <a:t> 무승부</a:t>
            </a:r>
          </a:p>
          <a:p>
            <a:pPr marL="0" indent="0">
              <a:buNone/>
            </a:pPr>
            <a:r>
              <a:rPr lang="ko-KR" altLang="en-US" dirty="0"/>
              <a:t>체스에서는 </a:t>
            </a:r>
            <a:r>
              <a:rPr lang="ko-KR" altLang="en-US" dirty="0" err="1"/>
              <a:t>체크메이트가</a:t>
            </a:r>
            <a:r>
              <a:rPr lang="ko-KR" altLang="en-US" dirty="0"/>
              <a:t> 아니어도 게임이 끝날 수 있다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대표적인 경우가 </a:t>
            </a:r>
            <a:r>
              <a:rPr lang="ko-KR" altLang="en-US" dirty="0" err="1">
                <a:solidFill>
                  <a:srgbClr val="3C3836"/>
                </a:solidFill>
                <a:latin typeface="Consolas" panose="020B0609020204030204" pitchFamily="49" charset="0"/>
              </a:rPr>
              <a:t>스테일메이트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(Stalemate)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이다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 err="1">
                <a:solidFill>
                  <a:srgbClr val="3C3836"/>
                </a:solidFill>
                <a:latin typeface="Consolas" panose="020B0609020204030204" pitchFamily="49" charset="0"/>
              </a:rPr>
              <a:t>스테일메이트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 상태는 킹이 체크 상태는 아니다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하지만 현재 차례의 플레이어가 둘 수 있는 합법적인 수가 없는 상태를 말한다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이 경우 게임은 무승부로 끝난다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python-chess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에서는 </a:t>
            </a:r>
            <a:r>
              <a:rPr lang="ko-KR" altLang="en-US" dirty="0" err="1">
                <a:solidFill>
                  <a:srgbClr val="3C3836"/>
                </a:solidFill>
                <a:latin typeface="Consolas" panose="020B0609020204030204" pitchFamily="49" charset="0"/>
              </a:rPr>
              <a:t>스테일메이트도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board.is_ </a:t>
            </a:r>
            <a:r>
              <a:rPr lang="en-US" altLang="ko-KR" dirty="0" err="1">
                <a:solidFill>
                  <a:srgbClr val="3C3836"/>
                </a:solidFill>
                <a:latin typeface="Consolas" panose="020B0609020204030204" pitchFamily="49" charset="0"/>
              </a:rPr>
              <a:t>game_over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()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에서 자동으로 종료 상태로 판단한다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en-US" altLang="ko-KR" dirty="0"/>
              <a:t>(4) </a:t>
            </a:r>
            <a:r>
              <a:rPr lang="ko-KR" altLang="en-US" dirty="0"/>
              <a:t>게임 결과 확인하기</a:t>
            </a:r>
          </a:p>
          <a:p>
            <a:pPr marL="0" indent="0">
              <a:buNone/>
            </a:pP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board.result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en-US" dirty="0"/>
              <a:t>함수는 현재 게임의 결과를 문자열로 반환한다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>
              <a:solidFill>
                <a:srgbClr val="3C38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dirty="0">
              <a:solidFill>
                <a:srgbClr val="3C38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dirty="0">
              <a:solidFill>
                <a:srgbClr val="3C38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dirty="0">
              <a:solidFill>
                <a:srgbClr val="3C38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30691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E3031-2E95-EB24-31D7-99433487C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8C05D41-8CA3-6801-DA91-CC639DB78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591" y="710255"/>
            <a:ext cx="3824236" cy="338272"/>
          </a:xfrm>
        </p:spPr>
        <p:txBody>
          <a:bodyPr>
            <a:normAutofit/>
          </a:bodyPr>
          <a:lstStyle/>
          <a:p>
            <a:r>
              <a:rPr lang="en-US" altLang="ko-KR" sz="1200" dirty="0"/>
              <a:t>GUI </a:t>
            </a:r>
            <a:r>
              <a:rPr lang="ko-KR" altLang="en-US" sz="1200" dirty="0"/>
              <a:t>체스 구현하기</a:t>
            </a:r>
          </a:p>
        </p:txBody>
      </p:sp>
      <p:sp>
        <p:nvSpPr>
          <p:cNvPr id="27" name="내용 개체 틀 3">
            <a:extLst>
              <a:ext uri="{FF2B5EF4-FFF2-40B4-BE49-F238E27FC236}">
                <a16:creationId xmlns:a16="http://schemas.microsoft.com/office/drawing/2014/main" id="{BF731B1B-60C2-0A70-228B-6069D2380C84}"/>
              </a:ext>
            </a:extLst>
          </p:cNvPr>
          <p:cNvSpPr txBox="1">
            <a:spLocks/>
          </p:cNvSpPr>
          <p:nvPr/>
        </p:nvSpPr>
        <p:spPr>
          <a:xfrm>
            <a:off x="1027371" y="1324917"/>
            <a:ext cx="4945165" cy="721677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Python</a:t>
            </a:r>
            <a:r>
              <a:rPr lang="ko-KR" altLang="en-US" dirty="0"/>
              <a:t>에서 </a:t>
            </a:r>
            <a:r>
              <a:rPr lang="en-US" altLang="ko-KR" dirty="0"/>
              <a:t>GUI(Graphical User Interface) </a:t>
            </a:r>
            <a:r>
              <a:rPr lang="ko-KR" altLang="en-US" dirty="0"/>
              <a:t>프로그램을 만들기 위한 기본 라이브러리인 </a:t>
            </a:r>
            <a:r>
              <a:rPr lang="en-US" altLang="ko-KR" dirty="0" err="1"/>
              <a:t>Tkinter</a:t>
            </a:r>
            <a:r>
              <a:rPr lang="ko-KR" altLang="en-US" dirty="0"/>
              <a:t>를 이용하여 화면에서 직접 체스판을 조작할 수 있는 </a:t>
            </a:r>
            <a:r>
              <a:rPr lang="en-US" altLang="ko-KR" dirty="0"/>
              <a:t>GUI </a:t>
            </a:r>
            <a:r>
              <a:rPr lang="ko-KR" altLang="en-US" dirty="0"/>
              <a:t>체스 프로그램을 구현한다</a:t>
            </a:r>
            <a:r>
              <a:rPr lang="en-US" altLang="ko-KR" dirty="0"/>
              <a:t>. </a:t>
            </a:r>
            <a:r>
              <a:rPr lang="ko-KR" altLang="en-US" dirty="0"/>
              <a:t>콘솔 기반 프로그램에서는 사용자가 </a:t>
            </a:r>
            <a:r>
              <a:rPr lang="en-US" altLang="ko-KR" dirty="0"/>
              <a:t>e2e4</a:t>
            </a:r>
            <a:r>
              <a:rPr lang="ko-KR" altLang="en-US" dirty="0"/>
              <a:t>와 같은 문자열을 입력했지만</a:t>
            </a:r>
            <a:r>
              <a:rPr lang="en-US" altLang="ko-KR" dirty="0"/>
              <a:t>, GUI </a:t>
            </a:r>
            <a:r>
              <a:rPr lang="ko-KR" altLang="en-US" dirty="0"/>
              <a:t>프로그램에서는 마우스로 말을 선택하고 이동할 위치를 클릭하여 수를 입력한다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GUI </a:t>
            </a:r>
            <a:r>
              <a:rPr lang="ko-KR" altLang="en-US" dirty="0"/>
              <a:t>체스 구현에서는 </a:t>
            </a:r>
            <a:r>
              <a:rPr lang="en-US" altLang="ko-KR" dirty="0"/>
              <a:t>GUI </a:t>
            </a:r>
            <a:r>
              <a:rPr lang="ko-KR" altLang="en-US" dirty="0"/>
              <a:t>보드 구성</a:t>
            </a:r>
            <a:r>
              <a:rPr lang="en-US" altLang="ko-KR" dirty="0"/>
              <a:t>, </a:t>
            </a:r>
            <a:r>
              <a:rPr lang="ko-KR" altLang="en-US" dirty="0"/>
              <a:t>마우스 입력 처리</a:t>
            </a:r>
            <a:r>
              <a:rPr lang="en-US" altLang="ko-KR" dirty="0"/>
              <a:t>, </a:t>
            </a:r>
            <a:r>
              <a:rPr lang="ko-KR" altLang="en-US" dirty="0"/>
              <a:t>이벤트 기반 프로그래밍</a:t>
            </a:r>
            <a:r>
              <a:rPr lang="en-US" altLang="ko-KR" dirty="0"/>
              <a:t>, </a:t>
            </a:r>
            <a:r>
              <a:rPr lang="ko-KR" altLang="en-US" dirty="0"/>
              <a:t>실시간 화면 업데이트 방법을 학습한다</a:t>
            </a:r>
            <a:r>
              <a:rPr lang="en-US" altLang="ko-KR" dirty="0"/>
              <a:t>. </a:t>
            </a:r>
            <a:r>
              <a:rPr lang="ko-KR" altLang="en-US" dirty="0"/>
              <a:t>또한 </a:t>
            </a:r>
            <a:r>
              <a:rPr lang="en-US" altLang="ko-KR" dirty="0" err="1"/>
              <a:t>Tkinter</a:t>
            </a:r>
            <a:r>
              <a:rPr lang="en-US" altLang="ko-KR" dirty="0"/>
              <a:t> </a:t>
            </a:r>
            <a:r>
              <a:rPr lang="ko-KR" altLang="en-US" dirty="0"/>
              <a:t>화면 인터페이스와 </a:t>
            </a:r>
            <a:r>
              <a:rPr lang="en-US" altLang="ko-KR" dirty="0"/>
              <a:t>python-chess</a:t>
            </a:r>
            <a:r>
              <a:rPr lang="ko-KR" altLang="en-US" dirty="0"/>
              <a:t>의 상태</a:t>
            </a:r>
            <a:r>
              <a:rPr lang="en-US" altLang="ko-KR" dirty="0"/>
              <a:t>(State) </a:t>
            </a:r>
            <a:r>
              <a:rPr lang="ko-KR" altLang="en-US" dirty="0"/>
              <a:t>처리 기능을 연결하여 사용자의 입력에 따라 </a:t>
            </a:r>
            <a:r>
              <a:rPr lang="ko-KR" altLang="en-US" dirty="0" err="1"/>
              <a:t>체스판</a:t>
            </a:r>
            <a:r>
              <a:rPr lang="ko-KR" altLang="en-US" dirty="0"/>
              <a:t> 상태가 실시간으로 변경되는 </a:t>
            </a:r>
            <a:r>
              <a:rPr lang="en-US" altLang="ko-KR" dirty="0"/>
              <a:t>GUI </a:t>
            </a:r>
            <a:r>
              <a:rPr lang="ko-KR" altLang="en-US" dirty="0"/>
              <a:t>체스 프로그램을 구현한다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즉</a:t>
            </a:r>
            <a:r>
              <a:rPr lang="en-US" altLang="ko-KR" dirty="0"/>
              <a:t>, GUI </a:t>
            </a:r>
            <a:r>
              <a:rPr lang="ko-KR" altLang="en-US" dirty="0"/>
              <a:t>체스 구현은 다음 두 가지를 연결하는 과정이다</a:t>
            </a:r>
            <a:r>
              <a:rPr lang="en-US" altLang="ko-KR" dirty="0"/>
              <a:t>.</a:t>
            </a:r>
            <a:r>
              <a:rPr lang="ko-KR" altLang="en-US" dirty="0"/>
              <a:t>화면 인터페이스와 체스 상태 처리를 연결하는 과정으로 사용자의 입력</a:t>
            </a:r>
            <a:r>
              <a:rPr lang="en-US" altLang="ko-KR" dirty="0"/>
              <a:t>, </a:t>
            </a:r>
            <a:r>
              <a:rPr lang="ko-KR" altLang="en-US" dirty="0"/>
              <a:t>체스 규칙</a:t>
            </a:r>
            <a:r>
              <a:rPr lang="en-US" altLang="ko-KR" dirty="0"/>
              <a:t>, </a:t>
            </a:r>
            <a:r>
              <a:rPr lang="ko-KR" altLang="en-US" dirty="0"/>
              <a:t>보드 상태</a:t>
            </a:r>
            <a:r>
              <a:rPr lang="en-US" altLang="ko-KR" dirty="0"/>
              <a:t>, </a:t>
            </a:r>
            <a:r>
              <a:rPr lang="ko-KR" altLang="en-US" dirty="0"/>
              <a:t>화면 출력이 하나로 연결되며 체스 시스템 구현의 완성 단계로 이어진다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이 그림은 콘솔</a:t>
            </a:r>
            <a:r>
              <a:rPr lang="en-US" altLang="ko-KR" dirty="0"/>
              <a:t>(Console) </a:t>
            </a:r>
            <a:r>
              <a:rPr lang="ko-KR" altLang="en-US" dirty="0"/>
              <a:t>기반 체스 프로그램과 </a:t>
            </a:r>
            <a:r>
              <a:rPr lang="en-US" altLang="ko-KR" dirty="0"/>
              <a:t>GUI </a:t>
            </a:r>
            <a:r>
              <a:rPr lang="ko-KR" altLang="en-US" dirty="0"/>
              <a:t>기반 체스 프로그램의 동작 과정을 비교한 것이다</a:t>
            </a:r>
            <a:r>
              <a:rPr lang="en-US" altLang="ko-KR" dirty="0"/>
              <a:t>. </a:t>
            </a: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3CF2509E-E134-3862-BAC5-B4687CE67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1228" y="4933306"/>
            <a:ext cx="3478009" cy="2966537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FD2088D3-9545-87E1-2D3D-DFC652881F1C}"/>
              </a:ext>
            </a:extLst>
          </p:cNvPr>
          <p:cNvSpPr txBox="1">
            <a:spLocks/>
          </p:cNvSpPr>
          <p:nvPr/>
        </p:nvSpPr>
        <p:spPr>
          <a:xfrm>
            <a:off x="968517" y="4529902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 dirty="0"/>
              <a:t>콘솔 프로그램과 </a:t>
            </a:r>
            <a:r>
              <a:rPr lang="en-US" altLang="ko-KR" sz="1100" dirty="0"/>
              <a:t>GUI </a:t>
            </a:r>
            <a:r>
              <a:rPr lang="ko-KR" altLang="en-US" sz="1100" dirty="0"/>
              <a:t>프로그램의 차이</a:t>
            </a:r>
          </a:p>
        </p:txBody>
      </p:sp>
    </p:spTree>
    <p:extLst>
      <p:ext uri="{BB962C8B-B14F-4D97-AF65-F5344CB8AC3E}">
        <p14:creationId xmlns:p14="http://schemas.microsoft.com/office/powerpoint/2010/main" val="3546013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28B15-7FF8-2E07-40D6-A73DCD038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1173E-D0F0-7DF1-5C21-D49049B434C6}"/>
              </a:ext>
            </a:extLst>
          </p:cNvPr>
          <p:cNvSpPr txBox="1">
            <a:spLocks/>
          </p:cNvSpPr>
          <p:nvPr/>
        </p:nvSpPr>
        <p:spPr>
          <a:xfrm>
            <a:off x="689208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콘솔 프로그램과 </a:t>
            </a:r>
            <a:r>
              <a:rPr lang="en-US" altLang="ko-KR" sz="1200" dirty="0"/>
              <a:t>GUI </a:t>
            </a:r>
            <a:r>
              <a:rPr lang="ko-KR" altLang="en-US" sz="1200" dirty="0"/>
              <a:t>프로그램의 차이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0906A07E-0E40-88A2-C8C4-E3A2C6AF1004}"/>
              </a:ext>
            </a:extLst>
          </p:cNvPr>
          <p:cNvSpPr txBox="1">
            <a:spLocks/>
          </p:cNvSpPr>
          <p:nvPr/>
        </p:nvSpPr>
        <p:spPr>
          <a:xfrm>
            <a:off x="689208" y="1135381"/>
            <a:ext cx="4984284" cy="762761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000" b="0" i="0" u="none" strike="noStrike" dirty="0">
                <a:effectLst/>
              </a:rPr>
              <a:t>콘솔 기반 체스에서는 사용자가 </a:t>
            </a:r>
            <a:r>
              <a:rPr lang="en-US" altLang="ko-KR" sz="1000" b="0" i="0" u="none" strike="noStrike" dirty="0">
                <a:effectLst/>
              </a:rPr>
              <a:t>e2e4</a:t>
            </a:r>
            <a:r>
              <a:rPr lang="ko-KR" altLang="en-US" sz="1000" b="0" i="0" u="none" strike="noStrike" dirty="0">
                <a:effectLst/>
              </a:rPr>
              <a:t>와 같은 문자열 형태로 수</a:t>
            </a:r>
            <a:r>
              <a:rPr lang="en-US" altLang="ko-KR" sz="1000" b="0" i="0" u="none" strike="noStrike" dirty="0">
                <a:effectLst/>
              </a:rPr>
              <a:t>(move)</a:t>
            </a:r>
            <a:r>
              <a:rPr lang="ko-KR" altLang="en-US" sz="1000" b="0" i="0" u="none" strike="noStrike" dirty="0">
                <a:effectLst/>
              </a:rPr>
              <a:t>를 입력한다</a:t>
            </a:r>
            <a:r>
              <a:rPr lang="en-US" altLang="ko-KR" sz="1000" b="0" i="0" u="none" strike="noStrike" dirty="0">
                <a:effectLst/>
              </a:rPr>
              <a:t>. </a:t>
            </a:r>
            <a:r>
              <a:rPr lang="ko-KR" altLang="en-US" sz="1000" b="0" i="0" u="none" strike="noStrike" dirty="0">
                <a:effectLst/>
              </a:rPr>
              <a:t>프로그램은 입력된 문자열을 분석하여 출발 위치와 도착 위치를 확인한 뒤</a:t>
            </a:r>
            <a:r>
              <a:rPr lang="en-US" altLang="ko-KR" sz="1000" b="0" i="0" u="none" strike="noStrike" dirty="0">
                <a:effectLst/>
              </a:rPr>
              <a:t>, </a:t>
            </a:r>
            <a:r>
              <a:rPr lang="ko-KR" altLang="en-US" sz="1000" b="0" i="0" u="none" strike="noStrike" dirty="0">
                <a:effectLst/>
              </a:rPr>
              <a:t>합법적인 수인지 검사한다</a:t>
            </a:r>
            <a:r>
              <a:rPr lang="en-US" altLang="ko-KR" sz="1000" b="0" i="0" u="none" strike="noStrike" dirty="0">
                <a:effectLst/>
              </a:rPr>
              <a:t>. </a:t>
            </a:r>
            <a:r>
              <a:rPr lang="ko-KR" altLang="en-US" sz="1000" b="0" i="0" u="none" strike="noStrike" dirty="0">
                <a:effectLst/>
              </a:rPr>
              <a:t>이후 </a:t>
            </a:r>
            <a:r>
              <a:rPr lang="en-US" altLang="ko-KR" sz="1000" b="0" i="0" u="none" strike="noStrike" dirty="0">
                <a:effectLst/>
              </a:rPr>
              <a:t>Move </a:t>
            </a:r>
            <a:r>
              <a:rPr lang="ko-KR" altLang="en-US" sz="1000" b="0" i="0" u="none" strike="noStrike" dirty="0">
                <a:effectLst/>
              </a:rPr>
              <a:t>객체를 생성하고 보드 상태</a:t>
            </a:r>
            <a:r>
              <a:rPr lang="en-US" altLang="ko-KR" sz="1000" b="0" i="0" u="none" strike="noStrike" dirty="0">
                <a:effectLst/>
              </a:rPr>
              <a:t>(State)</a:t>
            </a:r>
            <a:r>
              <a:rPr lang="ko-KR" altLang="en-US" sz="1000" b="0" i="0" u="none" strike="noStrike" dirty="0">
                <a:effectLst/>
              </a:rPr>
              <a:t>를 변경한 뒤 텍스트 형태로 체스판을 출력한다</a:t>
            </a:r>
            <a:r>
              <a:rPr lang="en-US" altLang="ko-KR" sz="1000" b="0" i="0" u="none" strike="noStrike" dirty="0">
                <a:effectLst/>
              </a:rPr>
              <a:t>. </a:t>
            </a:r>
          </a:p>
          <a:p>
            <a:pPr marL="0" indent="0">
              <a:buNone/>
            </a:pPr>
            <a:r>
              <a:rPr lang="ko-KR" altLang="en-US" sz="1000" b="0" i="0" u="none" strike="noStrike" dirty="0">
                <a:effectLst/>
              </a:rPr>
              <a:t>반면 </a:t>
            </a:r>
            <a:r>
              <a:rPr lang="en-US" altLang="ko-KR" sz="1000" b="0" i="0" u="none" strike="noStrike" dirty="0">
                <a:effectLst/>
              </a:rPr>
              <a:t>GUI </a:t>
            </a:r>
            <a:r>
              <a:rPr lang="ko-KR" altLang="en-US" sz="1000" b="0" i="0" u="none" strike="noStrike" dirty="0">
                <a:effectLst/>
              </a:rPr>
              <a:t>기반 체스에서는 사용자가 마우스로 체스 말을 선택하고 이동할 위치를 클릭한다</a:t>
            </a:r>
            <a:r>
              <a:rPr lang="en-US" altLang="ko-KR" sz="1000" b="0" i="0" u="none" strike="noStrike" dirty="0">
                <a:effectLst/>
              </a:rPr>
              <a:t>. </a:t>
            </a:r>
            <a:r>
              <a:rPr lang="ko-KR" altLang="en-US" sz="1000" b="0" i="0" u="none" strike="noStrike" dirty="0">
                <a:effectLst/>
              </a:rPr>
              <a:t>프로그램은 클릭한 위치를 바탕으로 이동 정보를 생성하고</a:t>
            </a:r>
            <a:r>
              <a:rPr lang="en-US" altLang="ko-KR" sz="1000" b="0" i="0" u="none" strike="noStrike" dirty="0">
                <a:effectLst/>
              </a:rPr>
              <a:t>, </a:t>
            </a:r>
            <a:r>
              <a:rPr lang="ko-KR" altLang="en-US" sz="1000" b="0" i="0" u="none" strike="noStrike" dirty="0">
                <a:effectLst/>
              </a:rPr>
              <a:t>선택된 말과 이동 가능한 위치를 화면에 표시한다</a:t>
            </a:r>
            <a:r>
              <a:rPr lang="en-US" altLang="ko-KR" sz="1000" b="0" i="0" u="none" strike="noStrike" dirty="0">
                <a:effectLst/>
              </a:rPr>
              <a:t>. </a:t>
            </a:r>
            <a:r>
              <a:rPr lang="ko-KR" altLang="en-US" sz="1000" b="0" i="0" u="none" strike="noStrike" dirty="0">
                <a:effectLst/>
              </a:rPr>
              <a:t>이후 합법적인 수인지 검사한 뒤 </a:t>
            </a:r>
            <a:r>
              <a:rPr lang="en-US" altLang="ko-KR" sz="1000" b="0" i="0" u="none" strike="noStrike" dirty="0">
                <a:effectLst/>
              </a:rPr>
              <a:t>Move </a:t>
            </a:r>
            <a:r>
              <a:rPr lang="ko-KR" altLang="en-US" sz="1000" b="0" i="0" u="none" strike="noStrike" dirty="0">
                <a:effectLst/>
              </a:rPr>
              <a:t>객체를 생성하고</a:t>
            </a:r>
            <a:r>
              <a:rPr lang="en-US" altLang="ko-KR" sz="1000" b="0" i="0" u="none" strike="noStrike" dirty="0">
                <a:effectLst/>
              </a:rPr>
              <a:t>, </a:t>
            </a:r>
            <a:r>
              <a:rPr lang="ko-KR" altLang="en-US" sz="1000" b="0" i="0" u="none" strike="noStrike" dirty="0">
                <a:effectLst/>
              </a:rPr>
              <a:t>보드 상태</a:t>
            </a:r>
            <a:r>
              <a:rPr lang="en-US" altLang="ko-KR" sz="1000" b="0" i="0" u="none" strike="noStrike" dirty="0">
                <a:effectLst/>
              </a:rPr>
              <a:t>(State)</a:t>
            </a:r>
            <a:r>
              <a:rPr lang="ko-KR" altLang="en-US" sz="1000" b="0" i="0" u="none" strike="noStrike" dirty="0">
                <a:effectLst/>
              </a:rPr>
              <a:t>를 변경하면서 화면을 다시 렌더링</a:t>
            </a:r>
            <a:r>
              <a:rPr lang="en-US" altLang="ko-KR" sz="1000" b="0" i="0" u="none" strike="noStrike" dirty="0">
                <a:effectLst/>
              </a:rPr>
              <a:t>(rendering)</a:t>
            </a:r>
            <a:r>
              <a:rPr lang="ko-KR" altLang="en-US" sz="1000" b="0" i="0" u="none" strike="noStrike" dirty="0">
                <a:effectLst/>
              </a:rPr>
              <a:t>한다</a:t>
            </a:r>
            <a:r>
              <a:rPr lang="en-US" altLang="ko-KR" sz="1000" b="0" i="0" u="none" strike="noStrike" dirty="0">
                <a:effectLst/>
              </a:rPr>
              <a:t>.</a:t>
            </a:r>
          </a:p>
          <a:p>
            <a:pPr marL="0" indent="0">
              <a:buNone/>
            </a:pPr>
            <a:r>
              <a:rPr lang="ko-KR" altLang="en-US" sz="1000" b="0" i="0" u="none" strike="noStrike" dirty="0">
                <a:effectLst/>
              </a:rPr>
              <a:t>즉</a:t>
            </a:r>
            <a:r>
              <a:rPr lang="en-US" altLang="ko-KR" sz="1000" b="0" i="0" u="none" strike="noStrike" dirty="0">
                <a:effectLst/>
              </a:rPr>
              <a:t>, </a:t>
            </a:r>
            <a:r>
              <a:rPr lang="ko-KR" altLang="en-US" sz="1000" b="0" i="0" u="none" strike="noStrike" dirty="0">
                <a:effectLst/>
              </a:rPr>
              <a:t>콘솔 기반 체스는 키보드 문자열 입력 중심으로 동작하고</a:t>
            </a:r>
            <a:r>
              <a:rPr lang="en-US" altLang="ko-KR" sz="1000" b="0" i="0" u="none" strike="noStrike" dirty="0">
                <a:effectLst/>
              </a:rPr>
              <a:t>, GUI </a:t>
            </a:r>
            <a:r>
              <a:rPr lang="ko-KR" altLang="en-US" sz="1000" b="0" i="0" u="none" strike="noStrike" dirty="0">
                <a:effectLst/>
              </a:rPr>
              <a:t>기반 체스는 마우스 이벤트와 화면 인터페이스를 중심으로 동작한다는 차이가 있다</a:t>
            </a:r>
            <a:r>
              <a:rPr lang="en-US" altLang="ko-KR" sz="1000" b="0" i="0" u="none" strike="noStrike" dirty="0">
                <a:effectLst/>
              </a:rPr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sz="1000" b="0" i="0" u="none" strike="noStrike" dirty="0">
              <a:effectLst/>
            </a:endParaRP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sz="1000" b="0" i="0" u="none" strike="noStrike" dirty="0">
              <a:effectLst/>
            </a:endParaRP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sz="1000" b="0" i="0" u="none" strike="noStrike" dirty="0">
              <a:effectLst/>
            </a:endParaRP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sz="1000" b="0" i="0" u="none" strike="noStrike" dirty="0">
              <a:effectLst/>
            </a:endParaRP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sz="1000" b="0" i="0" u="none" strike="noStrike" dirty="0">
              <a:effectLst/>
            </a:endParaRP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sz="1000" b="0" i="0" u="none" strike="noStrike" dirty="0">
                <a:effectLst/>
              </a:rPr>
              <a:t>이 그림은 </a:t>
            </a:r>
            <a:r>
              <a:rPr lang="en-US" altLang="ko-KR" sz="1000" b="0" i="0" u="none" strike="noStrike" dirty="0">
                <a:effectLst/>
              </a:rPr>
              <a:t>GUI </a:t>
            </a:r>
            <a:r>
              <a:rPr lang="ko-KR" altLang="en-US" sz="1000" b="0" i="0" u="none" strike="noStrike" dirty="0">
                <a:effectLst/>
              </a:rPr>
              <a:t>기반 체스 프로그램이 동작하는 전체 과정을 나타낸 것이다</a:t>
            </a:r>
            <a:r>
              <a:rPr lang="en-US" altLang="ko-KR" sz="1000" b="0" i="0" u="none" strike="noStrike" dirty="0">
                <a:effectLst/>
              </a:rPr>
              <a:t>. </a:t>
            </a:r>
            <a:r>
              <a:rPr lang="ko-KR" altLang="en-US" sz="1000" b="0" i="0" u="none" strike="noStrike" dirty="0">
                <a:effectLst/>
              </a:rPr>
              <a:t>프로그램은 먼저 </a:t>
            </a:r>
            <a:r>
              <a:rPr lang="ko-KR" altLang="en-US" sz="1000" b="0" i="0" u="none" strike="noStrike" dirty="0" err="1">
                <a:effectLst/>
              </a:rPr>
              <a:t>체스판</a:t>
            </a:r>
            <a:r>
              <a:rPr lang="en-US" altLang="ko-KR" sz="1000" b="0" i="0" u="none" strike="noStrike" dirty="0">
                <a:effectLst/>
              </a:rPr>
              <a:t>(Board)</a:t>
            </a:r>
            <a:r>
              <a:rPr lang="ko-KR" altLang="en-US" sz="1000" b="0" i="0" u="none" strike="noStrike" dirty="0">
                <a:effectLst/>
              </a:rPr>
              <a:t>을 화면에 출력한다</a:t>
            </a:r>
            <a:r>
              <a:rPr lang="en-US" altLang="ko-KR" sz="1000" b="0" i="0" u="none" strike="noStrike" dirty="0">
                <a:effectLst/>
              </a:rPr>
              <a:t>. </a:t>
            </a:r>
            <a:r>
              <a:rPr lang="ko-KR" altLang="en-US" sz="1000" b="0" i="0" u="none" strike="noStrike" dirty="0">
                <a:effectLst/>
              </a:rPr>
              <a:t>이후 사용자가 마우스로 이동할 말을 클릭하면 프로그램은 선택한 말의 위치를 저장한다</a:t>
            </a:r>
            <a:r>
              <a:rPr lang="en-US" altLang="ko-KR" sz="1000" b="0" i="0" u="none" strike="noStrike" dirty="0">
                <a:effectLst/>
              </a:rPr>
              <a:t>. </a:t>
            </a:r>
            <a:r>
              <a:rPr lang="ko-KR" altLang="en-US" sz="1000" b="0" i="0" u="none" strike="noStrike" dirty="0">
                <a:effectLst/>
              </a:rPr>
              <a:t>다음으로 사용자가 이동할 위치를 클릭하면 프로그램은 출발 위치와 도착 위치 정보를 이용하여 </a:t>
            </a:r>
            <a:r>
              <a:rPr lang="en-US" altLang="ko-KR" sz="1000" b="0" i="0" u="none" strike="noStrike" dirty="0">
                <a:effectLst/>
              </a:rPr>
              <a:t>Move </a:t>
            </a:r>
            <a:r>
              <a:rPr lang="ko-KR" altLang="en-US" sz="1000" b="0" i="0" u="none" strike="noStrike" dirty="0">
                <a:effectLst/>
              </a:rPr>
              <a:t>객체를 생성한다</a:t>
            </a:r>
            <a:r>
              <a:rPr lang="en-US" altLang="ko-KR" sz="1000" b="0" i="0" u="none" strike="noStrike" dirty="0">
                <a:effectLst/>
              </a:rPr>
              <a:t>. </a:t>
            </a:r>
          </a:p>
          <a:p>
            <a:pPr marL="0" indent="0">
              <a:buNone/>
            </a:pPr>
            <a:endParaRPr lang="en-US" altLang="ko-KR" sz="1000" b="0" i="0" u="none" strike="noStrike" dirty="0">
              <a:effectLst/>
            </a:endParaRPr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43FB93-D97A-C288-03A3-35EF1DC2D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607" b="57861"/>
          <a:stretch>
            <a:fillRect/>
          </a:stretch>
        </p:blipFill>
        <p:spPr>
          <a:xfrm>
            <a:off x="689208" y="4406076"/>
            <a:ext cx="2609192" cy="2187506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D1B02DA-3709-EBA6-5CFB-3362394965DA}"/>
              </a:ext>
            </a:extLst>
          </p:cNvPr>
          <p:cNvSpPr txBox="1">
            <a:spLocks/>
          </p:cNvSpPr>
          <p:nvPr/>
        </p:nvSpPr>
        <p:spPr>
          <a:xfrm>
            <a:off x="689208" y="3927486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100" dirty="0"/>
              <a:t>GUI </a:t>
            </a:r>
            <a:r>
              <a:rPr lang="ko-KR" altLang="en-US" sz="1100" dirty="0"/>
              <a:t>기반 체스 프로그램 동작 과정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5D2C26-CC76-CB20-3ABC-3F71170DC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140" r="24607" b="-1"/>
          <a:stretch>
            <a:fillRect/>
          </a:stretch>
        </p:blipFill>
        <p:spPr>
          <a:xfrm>
            <a:off x="3298400" y="4313545"/>
            <a:ext cx="2609193" cy="300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487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1C9A2-8965-5894-516C-B36FF30A1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8909F3D-EF83-1FEF-D501-CA229ED60CE3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GUI </a:t>
            </a:r>
            <a:r>
              <a:rPr lang="ko-KR" altLang="en-US" sz="1200" dirty="0"/>
              <a:t>기반 체스 프로그램 동작 과정</a:t>
            </a:r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E36B8395-EA04-1F4C-8E06-C99120CBEF9C}"/>
              </a:ext>
            </a:extLst>
          </p:cNvPr>
          <p:cNvSpPr txBox="1">
            <a:spLocks/>
          </p:cNvSpPr>
          <p:nvPr/>
        </p:nvSpPr>
        <p:spPr>
          <a:xfrm>
            <a:off x="1009677" y="1076960"/>
            <a:ext cx="5076798" cy="772160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생성된 수</a:t>
            </a:r>
            <a:r>
              <a:rPr lang="en-US" altLang="ko-KR" dirty="0"/>
              <a:t>(move)</a:t>
            </a:r>
            <a:r>
              <a:rPr lang="ko-KR" altLang="en-US" dirty="0"/>
              <a:t>는 현재 상태</a:t>
            </a:r>
            <a:r>
              <a:rPr lang="en-US" altLang="ko-KR" dirty="0"/>
              <a:t>(State)</a:t>
            </a:r>
            <a:r>
              <a:rPr lang="ko-KR" altLang="en-US" dirty="0"/>
              <a:t>에서 가능한 합법적인 수</a:t>
            </a:r>
            <a:r>
              <a:rPr lang="en-US" altLang="ko-KR" dirty="0"/>
              <a:t>(legal move)</a:t>
            </a:r>
            <a:r>
              <a:rPr lang="ko-KR" altLang="en-US" dirty="0"/>
              <a:t>인지 검사한다</a:t>
            </a:r>
            <a:r>
              <a:rPr lang="en-US" altLang="ko-KR" dirty="0"/>
              <a:t>. </a:t>
            </a:r>
            <a:r>
              <a:rPr lang="ko-KR" altLang="en-US" dirty="0"/>
              <a:t>합법적인 수라면 </a:t>
            </a:r>
            <a:r>
              <a:rPr lang="en-US" altLang="ko-KR" dirty="0" err="1"/>
              <a:t>board.push</a:t>
            </a:r>
            <a:r>
              <a:rPr lang="en-US" altLang="ko-KR" dirty="0"/>
              <a:t>(move)</a:t>
            </a:r>
            <a:r>
              <a:rPr lang="ko-KR" altLang="en-US" dirty="0"/>
              <a:t>를 실행하여 현재 보드 상태를 다음 상태</a:t>
            </a:r>
            <a:r>
              <a:rPr lang="en-US" altLang="ko-KR" dirty="0"/>
              <a:t>(Next State)</a:t>
            </a:r>
            <a:r>
              <a:rPr lang="ko-KR" altLang="en-US" dirty="0"/>
              <a:t>로 변경한다</a:t>
            </a:r>
            <a:r>
              <a:rPr lang="en-US" altLang="ko-KR" dirty="0"/>
              <a:t>. </a:t>
            </a:r>
            <a:r>
              <a:rPr lang="ko-KR" altLang="en-US" dirty="0"/>
              <a:t>상태</a:t>
            </a:r>
            <a:r>
              <a:rPr lang="en-US" altLang="ko-KR" dirty="0"/>
              <a:t>(State)</a:t>
            </a:r>
            <a:r>
              <a:rPr lang="ko-KR" altLang="en-US" dirty="0"/>
              <a:t>가 변경되면 프로그램은 </a:t>
            </a:r>
            <a:r>
              <a:rPr lang="ko-KR" altLang="en-US" dirty="0" err="1"/>
              <a:t>체스판</a:t>
            </a:r>
            <a:r>
              <a:rPr lang="ko-KR" altLang="en-US" dirty="0"/>
              <a:t> 화면을 다시 그려 변경된 결과를 실시간으로 출력한다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GUI </a:t>
            </a:r>
            <a:r>
              <a:rPr lang="ko-KR" altLang="en-US" dirty="0"/>
              <a:t>체스 프로그램은 사용자의 마우스 입력</a:t>
            </a:r>
            <a:r>
              <a:rPr lang="en-US" altLang="ko-KR" dirty="0"/>
              <a:t>, </a:t>
            </a:r>
            <a:r>
              <a:rPr lang="ko-KR" altLang="en-US" dirty="0"/>
              <a:t>상태</a:t>
            </a:r>
            <a:r>
              <a:rPr lang="en-US" altLang="ko-KR" dirty="0"/>
              <a:t>(State) </a:t>
            </a:r>
            <a:r>
              <a:rPr lang="ko-KR" altLang="en-US" dirty="0"/>
              <a:t>변경</a:t>
            </a:r>
            <a:r>
              <a:rPr lang="en-US" altLang="ko-KR" dirty="0"/>
              <a:t>,</a:t>
            </a:r>
            <a:r>
              <a:rPr lang="ko-KR" altLang="en-US" dirty="0"/>
              <a:t> 화면 업데이트 과정을 반복하면서 동작한다</a:t>
            </a:r>
            <a:r>
              <a:rPr lang="en-US" altLang="ko-KR" dirty="0"/>
              <a:t>.</a:t>
            </a:r>
          </a:p>
          <a:p>
            <a:pPr>
              <a:buAutoNum type="arabicParenBoth"/>
            </a:pPr>
            <a:r>
              <a:rPr lang="en-US" altLang="ko-KR" dirty="0" err="1"/>
              <a:t>Tkinter</a:t>
            </a:r>
            <a:r>
              <a:rPr lang="en-US" altLang="ko-KR" dirty="0"/>
              <a:t> GUI </a:t>
            </a:r>
            <a:r>
              <a:rPr lang="ko-KR" altLang="en-US" dirty="0"/>
              <a:t>창 만들기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GUI(Graphical User Interface) </a:t>
            </a:r>
            <a:r>
              <a:rPr lang="ko-KR" altLang="en-US" dirty="0"/>
              <a:t>프로그램은 콘솔</a:t>
            </a:r>
            <a:r>
              <a:rPr lang="en-US" altLang="ko-KR" dirty="0"/>
              <a:t>(Console) </a:t>
            </a:r>
            <a:r>
              <a:rPr lang="ko-KR" altLang="en-US" dirty="0"/>
              <a:t>프로그램과 다르게 화면</a:t>
            </a:r>
            <a:r>
              <a:rPr lang="en-US" altLang="ko-KR" dirty="0"/>
              <a:t>(Window)</a:t>
            </a:r>
            <a:r>
              <a:rPr lang="ko-KR" altLang="en-US" dirty="0"/>
              <a:t>을 이용하여 사용자와 상호작용한다</a:t>
            </a:r>
            <a:r>
              <a:rPr lang="en-US" altLang="ko-KR" dirty="0"/>
              <a:t>. </a:t>
            </a:r>
            <a:r>
              <a:rPr lang="ko-KR" altLang="en-US" dirty="0"/>
              <a:t>체스 </a:t>
            </a:r>
            <a:r>
              <a:rPr lang="en-US" altLang="ko-KR" dirty="0"/>
              <a:t>GUI </a:t>
            </a:r>
            <a:r>
              <a:rPr lang="ko-KR" altLang="en-US" dirty="0"/>
              <a:t>프로그램에서는 </a:t>
            </a:r>
            <a:r>
              <a:rPr lang="ko-KR" altLang="en-US" dirty="0" err="1"/>
              <a:t>체스판</a:t>
            </a:r>
            <a:r>
              <a:rPr lang="en-US" altLang="ko-KR" dirty="0"/>
              <a:t>(Board), </a:t>
            </a:r>
            <a:r>
              <a:rPr lang="ko-KR" altLang="en-US" dirty="0"/>
              <a:t>체스 말</a:t>
            </a:r>
            <a:r>
              <a:rPr lang="en-US" altLang="ko-KR" dirty="0"/>
              <a:t>(Piece), </a:t>
            </a:r>
            <a:r>
              <a:rPr lang="ko-KR" altLang="en-US" dirty="0"/>
              <a:t>선택 표시 등의 정보를 화면에 출력해야 하므로 먼저 </a:t>
            </a:r>
            <a:r>
              <a:rPr lang="en-US" altLang="ko-KR" dirty="0"/>
              <a:t>GUI </a:t>
            </a:r>
            <a:r>
              <a:rPr lang="ko-KR" altLang="en-US" dirty="0"/>
              <a:t>창</a:t>
            </a:r>
            <a:r>
              <a:rPr lang="en-US" altLang="ko-KR" dirty="0"/>
              <a:t>(Window)</a:t>
            </a:r>
            <a:r>
              <a:rPr lang="ko-KR" altLang="en-US" dirty="0"/>
              <a:t>을 생성해야 한다</a:t>
            </a:r>
            <a:r>
              <a:rPr lang="en-US" altLang="ko-KR" dirty="0"/>
              <a:t>. Python</a:t>
            </a:r>
            <a:r>
              <a:rPr lang="ko-KR" altLang="en-US" dirty="0"/>
              <a:t>에서는 </a:t>
            </a:r>
            <a:r>
              <a:rPr lang="en-US" altLang="ko-KR" dirty="0" err="1"/>
              <a:t>Tkinter</a:t>
            </a:r>
            <a:r>
              <a:rPr lang="en-US" altLang="ko-KR" dirty="0"/>
              <a:t> </a:t>
            </a:r>
            <a:r>
              <a:rPr lang="ko-KR" altLang="en-US" dirty="0"/>
              <a:t>라이브러리를 사용하여 </a:t>
            </a:r>
            <a:r>
              <a:rPr lang="en-US" altLang="ko-KR" dirty="0"/>
              <a:t>GUI </a:t>
            </a:r>
            <a:r>
              <a:rPr lang="ko-KR" altLang="en-US" dirty="0"/>
              <a:t>창을 만들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en-US" b="1" dirty="0"/>
              <a:t>예제 코드 작성</a:t>
            </a:r>
            <a:r>
              <a:rPr lang="en-US" altLang="ko-KR" b="1" dirty="0"/>
              <a:t> 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코드</a:t>
            </a:r>
            <a:r>
              <a:rPr lang="en-US" altLang="ko-KR" b="1" dirty="0"/>
              <a:t> </a:t>
            </a:r>
            <a:r>
              <a:rPr lang="ko-KR" altLang="en-US" b="1" dirty="0"/>
              <a:t>실행</a:t>
            </a:r>
            <a:r>
              <a:rPr lang="en-US" altLang="ko-KR" b="1" dirty="0"/>
              <a:t> </a:t>
            </a:r>
            <a:r>
              <a:rPr lang="ko-KR" altLang="en-US" b="1" dirty="0"/>
              <a:t>결과</a:t>
            </a:r>
            <a:r>
              <a:rPr lang="en-US" altLang="ko-KR" b="1" dirty="0"/>
              <a:t>]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코드</a:t>
            </a:r>
            <a:r>
              <a:rPr lang="en-US" altLang="ko-KR" b="1" dirty="0"/>
              <a:t> </a:t>
            </a:r>
            <a:r>
              <a:rPr lang="ko-KR" altLang="en-US" b="1" dirty="0"/>
              <a:t>설명</a:t>
            </a:r>
            <a:r>
              <a:rPr lang="en-US" altLang="ko-KR" b="1" dirty="0"/>
              <a:t>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:</a:t>
            </a:r>
            <a:r>
              <a:rPr lang="en-US" altLang="ko-KR" dirty="0"/>
              <a:t> </a:t>
            </a:r>
            <a:r>
              <a:rPr lang="en-US" altLang="ko-KR" dirty="0" err="1"/>
              <a:t>Tkinter</a:t>
            </a:r>
            <a:r>
              <a:rPr lang="en-US" altLang="ko-KR" dirty="0"/>
              <a:t> </a:t>
            </a:r>
            <a:r>
              <a:rPr lang="ko-KR" altLang="en-US" dirty="0"/>
              <a:t>라이브러리를 불러온다</a:t>
            </a:r>
            <a:r>
              <a:rPr lang="en-US" altLang="ko-KR" dirty="0"/>
              <a:t>. </a:t>
            </a:r>
            <a:r>
              <a:rPr lang="en-US" altLang="ko-KR" dirty="0" err="1"/>
              <a:t>Tkinter</a:t>
            </a:r>
            <a:r>
              <a:rPr lang="ko-KR" altLang="en-US" dirty="0"/>
              <a:t>는 </a:t>
            </a:r>
            <a:r>
              <a:rPr lang="en-US" altLang="ko-KR" dirty="0"/>
              <a:t>Python</a:t>
            </a:r>
            <a:r>
              <a:rPr lang="ko-KR" altLang="en-US" dirty="0"/>
              <a:t>에서 </a:t>
            </a:r>
            <a:r>
              <a:rPr lang="en-US" altLang="ko-KR" dirty="0"/>
              <a:t>GUI </a:t>
            </a:r>
            <a:r>
              <a:rPr lang="ko-KR" altLang="en-US" dirty="0"/>
              <a:t>프로그램을 만들기 위한 기본 라이브러리이다</a:t>
            </a:r>
            <a:r>
              <a:rPr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tk.Tk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:</a:t>
            </a:r>
            <a:r>
              <a:rPr lang="en-US" altLang="ko-KR" dirty="0"/>
              <a:t> GUI </a:t>
            </a:r>
            <a:r>
              <a:rPr lang="ko-KR" altLang="en-US" dirty="0"/>
              <a:t>프로그램의 메인 창</a:t>
            </a:r>
            <a:r>
              <a:rPr lang="en-US" altLang="ko-KR" dirty="0"/>
              <a:t>(Window)</a:t>
            </a:r>
            <a:r>
              <a:rPr lang="ko-KR" altLang="en-US" dirty="0"/>
              <a:t>을 생성한다</a:t>
            </a:r>
            <a:r>
              <a:rPr lang="en-US" altLang="ko-KR" dirty="0"/>
              <a:t>. </a:t>
            </a:r>
            <a:r>
              <a:rPr lang="ko-KR" altLang="en-US" dirty="0"/>
              <a:t>이 창 위에 앞으로</a:t>
            </a:r>
            <a:r>
              <a:rPr lang="en-US" altLang="ko-KR" dirty="0"/>
              <a:t>:</a:t>
            </a:r>
            <a:r>
              <a:rPr lang="ko-KR" altLang="en-US" dirty="0"/>
              <a:t> 스판</a:t>
            </a:r>
            <a:r>
              <a:rPr lang="en-US" altLang="ko-KR" dirty="0"/>
              <a:t>(Board), </a:t>
            </a:r>
            <a:r>
              <a:rPr lang="ko-KR" altLang="en-US" dirty="0"/>
              <a:t>체스 말</a:t>
            </a:r>
            <a:r>
              <a:rPr lang="en-US" altLang="ko-KR" dirty="0"/>
              <a:t>(Piece), </a:t>
            </a:r>
            <a:r>
              <a:rPr lang="ko-KR" altLang="en-US" dirty="0"/>
              <a:t>버튼</a:t>
            </a:r>
            <a:r>
              <a:rPr lang="en-US" altLang="ko-KR" dirty="0"/>
              <a:t>(Button), </a:t>
            </a:r>
            <a:r>
              <a:rPr lang="ko-KR" altLang="en-US" dirty="0"/>
              <a:t>상태 표시</a:t>
            </a:r>
            <a:r>
              <a:rPr lang="en-US" altLang="ko-KR" dirty="0"/>
              <a:t>(Label)</a:t>
            </a:r>
            <a:r>
              <a:rPr lang="ko-KR" altLang="en-US" dirty="0"/>
              <a:t>등을 추가하게 된다</a:t>
            </a:r>
            <a:r>
              <a:rPr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root.title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 err="1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 Chess"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 :</a:t>
            </a:r>
            <a:r>
              <a:rPr lang="en-US" altLang="ko-KR" dirty="0"/>
              <a:t> </a:t>
            </a:r>
            <a:r>
              <a:rPr lang="ko-KR" altLang="en-US" dirty="0"/>
              <a:t>프로그램 창 제목을 </a:t>
            </a:r>
            <a:r>
              <a:rPr lang="en-US" altLang="ko-KR" dirty="0"/>
              <a:t>"</a:t>
            </a:r>
            <a:r>
              <a:rPr lang="en-US" altLang="ko-KR" dirty="0" err="1"/>
              <a:t>Tkinter</a:t>
            </a:r>
            <a:r>
              <a:rPr lang="en-US" altLang="ko-KR" dirty="0"/>
              <a:t> Chess"</a:t>
            </a:r>
            <a:r>
              <a:rPr lang="ko-KR" altLang="en-US" dirty="0"/>
              <a:t>로 설정한다</a:t>
            </a:r>
            <a:r>
              <a:rPr lang="en-US" altLang="ko-KR" dirty="0"/>
              <a:t>. </a:t>
            </a:r>
            <a:endParaRPr lang="en-US" altLang="ko-KR" b="1" dirty="0"/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521A2-D9B1-BD36-354F-43BCFA5BE0F3}"/>
              </a:ext>
            </a:extLst>
          </p:cNvPr>
          <p:cNvSpPr txBox="1"/>
          <p:nvPr/>
        </p:nvSpPr>
        <p:spPr>
          <a:xfrm>
            <a:off x="1265874" y="4220478"/>
            <a:ext cx="338328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tk.Tk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root.title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 i="0" u="none" strike="noStrike" dirty="0" err="1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 Chess"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root.mainloop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endParaRPr lang="ko-KR" altLang="en-US" sz="11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57A362D-FF15-3D46-8487-241EBAD84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029" y="5522131"/>
            <a:ext cx="1763554" cy="115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963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64860-C72E-BC63-19BC-2E376BA8B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E3E73-3B2D-05F0-E73B-C82FA2225507}"/>
              </a:ext>
            </a:extLst>
          </p:cNvPr>
          <p:cNvSpPr txBox="1">
            <a:spLocks/>
          </p:cNvSpPr>
          <p:nvPr/>
        </p:nvSpPr>
        <p:spPr>
          <a:xfrm>
            <a:off x="689208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GUI </a:t>
            </a:r>
            <a:r>
              <a:rPr lang="ko-KR" altLang="en-US" sz="1200" dirty="0"/>
              <a:t>기반 체스 프로그램 동작 과정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A279B5B3-E68A-DB09-2D6F-9C0DB77274A9}"/>
              </a:ext>
            </a:extLst>
          </p:cNvPr>
          <p:cNvSpPr txBox="1">
            <a:spLocks/>
          </p:cNvSpPr>
          <p:nvPr/>
        </p:nvSpPr>
        <p:spPr>
          <a:xfrm>
            <a:off x="689208" y="1135380"/>
            <a:ext cx="4984284" cy="776477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root.mainloop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 :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GUI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창이 종료되지 않고 계속 실행되도록 한다</a:t>
            </a:r>
            <a:r>
              <a:rPr lang="en-US" altLang="ko-KR" dirty="0"/>
              <a:t>. </a:t>
            </a:r>
            <a:r>
              <a:rPr lang="en-US" altLang="ko-KR" dirty="0" err="1"/>
              <a:t>Tkinter</a:t>
            </a:r>
            <a:r>
              <a:rPr lang="en-US" altLang="ko-KR" dirty="0"/>
              <a:t> </a:t>
            </a:r>
            <a:r>
              <a:rPr lang="ko-KR" altLang="en-US" dirty="0"/>
              <a:t>프로그램은 </a:t>
            </a:r>
            <a:r>
              <a:rPr lang="en-US" altLang="ko-KR" dirty="0" err="1"/>
              <a:t>mainloop</a:t>
            </a:r>
            <a:r>
              <a:rPr lang="en-US" altLang="ko-KR" dirty="0"/>
              <a:t>() </a:t>
            </a:r>
            <a:r>
              <a:rPr lang="ko-KR" altLang="en-US" dirty="0"/>
              <a:t>안에서 사용자의 입력 이벤트를 계속 처리한다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(2) </a:t>
            </a:r>
            <a:r>
              <a:rPr lang="ko-KR" altLang="en-US" dirty="0"/>
              <a:t>체스 상태</a:t>
            </a:r>
            <a:r>
              <a:rPr lang="en-US" altLang="ko-KR" dirty="0"/>
              <a:t>(State) </a:t>
            </a:r>
            <a:r>
              <a:rPr lang="ko-KR" altLang="en-US" dirty="0"/>
              <a:t>생성하기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GUI </a:t>
            </a:r>
            <a:r>
              <a:rPr lang="ko-KR" altLang="en-US" dirty="0"/>
              <a:t>체스 프로그램에서는 단순히 화면만 출력하는 것이 아니라 현재 체스 게임의 상태</a:t>
            </a:r>
            <a:r>
              <a:rPr lang="en-US" altLang="ko-KR" dirty="0"/>
              <a:t>(State)</a:t>
            </a:r>
            <a:r>
              <a:rPr lang="ko-KR" altLang="en-US" dirty="0"/>
              <a:t>를 저장하고 관리해야 한다</a:t>
            </a:r>
            <a:r>
              <a:rPr lang="en-US" altLang="ko-KR" dirty="0"/>
              <a:t>. </a:t>
            </a:r>
            <a:r>
              <a:rPr lang="ko-KR" altLang="en-US" dirty="0"/>
              <a:t>체스 상태</a:t>
            </a:r>
            <a:r>
              <a:rPr lang="en-US" altLang="ko-KR" dirty="0"/>
              <a:t>(State)</a:t>
            </a:r>
            <a:r>
              <a:rPr lang="ko-KR" altLang="en-US" dirty="0"/>
              <a:t>에는 체스</a:t>
            </a:r>
            <a:r>
              <a:rPr lang="en-US" altLang="ko-KR" dirty="0"/>
              <a:t> </a:t>
            </a:r>
            <a:r>
              <a:rPr lang="ko-KR" altLang="en-US" dirty="0"/>
              <a:t>말의</a:t>
            </a:r>
            <a:r>
              <a:rPr lang="en-US" altLang="ko-KR" dirty="0"/>
              <a:t> </a:t>
            </a:r>
            <a:r>
              <a:rPr lang="ko-KR" altLang="en-US" dirty="0"/>
              <a:t>위치</a:t>
            </a:r>
            <a:r>
              <a:rPr lang="en-US" altLang="ko-KR" dirty="0"/>
              <a:t>, </a:t>
            </a:r>
            <a:r>
              <a:rPr lang="ko-KR" altLang="en-US" dirty="0"/>
              <a:t>현재 턴</a:t>
            </a:r>
            <a:r>
              <a:rPr lang="en-US" altLang="ko-KR" dirty="0"/>
              <a:t>(turn), </a:t>
            </a:r>
            <a:r>
              <a:rPr lang="ko-KR" altLang="en-US" dirty="0"/>
              <a:t>가능한 수</a:t>
            </a:r>
            <a:r>
              <a:rPr lang="en-US" altLang="ko-KR" dirty="0"/>
              <a:t>(legal moves), </a:t>
            </a:r>
            <a:r>
              <a:rPr lang="ko-KR" altLang="en-US" dirty="0"/>
              <a:t>체크</a:t>
            </a:r>
            <a:r>
              <a:rPr lang="en-US" altLang="ko-KR" dirty="0"/>
              <a:t>(Check)</a:t>
            </a:r>
            <a:r>
              <a:rPr lang="ko-KR" altLang="en-US" dirty="0"/>
              <a:t> 상태</a:t>
            </a:r>
            <a:r>
              <a:rPr lang="en-US" altLang="ko-KR" dirty="0"/>
              <a:t>, </a:t>
            </a:r>
            <a:r>
              <a:rPr lang="ko-KR" altLang="en-US" dirty="0"/>
              <a:t>게임 종료 여부와 같은 정보가 포함된다</a:t>
            </a:r>
            <a:r>
              <a:rPr lang="en-US" altLang="ko-KR" dirty="0"/>
              <a:t>. python-chess</a:t>
            </a:r>
            <a:r>
              <a:rPr lang="ko-KR" altLang="en-US" dirty="0"/>
              <a:t>의 </a:t>
            </a:r>
            <a:r>
              <a:rPr lang="en-US" altLang="ko-KR" dirty="0"/>
              <a:t>Board() </a:t>
            </a:r>
            <a:r>
              <a:rPr lang="ko-KR" altLang="en-US" dirty="0"/>
              <a:t>객체를 사용하면 이러한 체스 상태</a:t>
            </a:r>
            <a:r>
              <a:rPr lang="en-US" altLang="ko-KR" dirty="0"/>
              <a:t>(State)</a:t>
            </a:r>
            <a:r>
              <a:rPr lang="ko-KR" altLang="en-US" dirty="0"/>
              <a:t>를 자동으로 관리할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이 단계에서는 </a:t>
            </a:r>
            <a:r>
              <a:rPr lang="en-US" altLang="ko-KR" dirty="0"/>
              <a:t>python-chess </a:t>
            </a:r>
            <a:r>
              <a:rPr lang="ko-KR" altLang="en-US" dirty="0"/>
              <a:t>라이브러리 불러오기</a:t>
            </a:r>
            <a:r>
              <a:rPr lang="en-US" altLang="ko-KR" dirty="0"/>
              <a:t>, </a:t>
            </a:r>
            <a:r>
              <a:rPr lang="ko-KR" altLang="en-US" dirty="0"/>
              <a:t>체스 상태</a:t>
            </a:r>
            <a:r>
              <a:rPr lang="en-US" altLang="ko-KR" dirty="0"/>
              <a:t>(State) </a:t>
            </a:r>
            <a:r>
              <a:rPr lang="ko-KR" altLang="en-US" dirty="0"/>
              <a:t>생성</a:t>
            </a:r>
            <a:r>
              <a:rPr lang="en-US" altLang="ko-KR" dirty="0"/>
              <a:t>, </a:t>
            </a:r>
            <a:r>
              <a:rPr lang="ko-KR" altLang="en-US" dirty="0"/>
              <a:t>현재 체스 상태 출력 기능을 구현한다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en-US" b="1" dirty="0"/>
              <a:t>예제 코드 작성</a:t>
            </a:r>
            <a:r>
              <a:rPr lang="en-US" altLang="ko-KR" b="1" dirty="0"/>
              <a:t> 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코드</a:t>
            </a:r>
            <a:r>
              <a:rPr lang="en-US" altLang="ko-KR" b="1" dirty="0"/>
              <a:t> </a:t>
            </a:r>
            <a:r>
              <a:rPr lang="ko-KR" altLang="en-US" b="1" dirty="0"/>
              <a:t>실행</a:t>
            </a:r>
            <a:r>
              <a:rPr lang="en-US" altLang="ko-KR" b="1" dirty="0"/>
              <a:t> </a:t>
            </a:r>
            <a:r>
              <a:rPr lang="ko-KR" altLang="en-US" b="1" dirty="0"/>
              <a:t>결과</a:t>
            </a:r>
            <a:r>
              <a:rPr lang="en-US" altLang="ko-KR" b="1" dirty="0"/>
              <a:t>]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코드</a:t>
            </a:r>
            <a:r>
              <a:rPr lang="en-US" altLang="ko-KR" b="1" dirty="0"/>
              <a:t> </a:t>
            </a:r>
            <a:r>
              <a:rPr lang="ko-KR" altLang="en-US" b="1" dirty="0"/>
              <a:t>설명</a:t>
            </a:r>
            <a:r>
              <a:rPr lang="en-US" altLang="ko-KR" b="1" dirty="0"/>
              <a:t>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chess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:</a:t>
            </a:r>
            <a:r>
              <a:rPr lang="en-US" altLang="ko-KR" dirty="0"/>
              <a:t> python-chess </a:t>
            </a:r>
            <a:r>
              <a:rPr lang="ko-KR" altLang="en-US" dirty="0"/>
              <a:t>라이브러리를 불러온다</a:t>
            </a:r>
            <a:r>
              <a:rPr lang="en-US" altLang="ko-KR" dirty="0"/>
              <a:t>. python-chess</a:t>
            </a:r>
            <a:r>
              <a:rPr lang="ko-KR" altLang="en-US" dirty="0"/>
              <a:t>는 체스 규칙과 상태</a:t>
            </a:r>
            <a:r>
              <a:rPr lang="en-US" altLang="ko-KR" dirty="0"/>
              <a:t>(State)</a:t>
            </a:r>
            <a:r>
              <a:rPr lang="ko-KR" altLang="en-US" dirty="0"/>
              <a:t>를 처리하기 위한 라이브러리이다</a:t>
            </a:r>
            <a:r>
              <a:rPr lang="en-US" altLang="ko-KR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3373FF-E305-8432-E026-B69AAA179F9C}"/>
              </a:ext>
            </a:extLst>
          </p:cNvPr>
          <p:cNvSpPr txBox="1"/>
          <p:nvPr/>
        </p:nvSpPr>
        <p:spPr>
          <a:xfrm>
            <a:off x="1288391" y="4145280"/>
            <a:ext cx="338328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chess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tk.Tk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root.title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 i="0" u="none" strike="noStrike" dirty="0" err="1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 Chess"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chess.Board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print(board)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root.mainloop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endParaRPr lang="ko-KR" altLang="en-US" sz="11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9F0B48D-E6C4-1D50-AB9D-884B0C971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477" y="6507651"/>
            <a:ext cx="1763554" cy="115926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B7FAFA6-2B52-413C-35C2-48B1051C0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350" y="6498701"/>
            <a:ext cx="1055370" cy="116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359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BD496-C0E1-AFB2-DBDD-21F275C6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F73DA8D-B47E-F902-CAA5-41DBB1804EBA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GUI </a:t>
            </a:r>
            <a:r>
              <a:rPr lang="ko-KR" altLang="en-US" sz="1200" dirty="0"/>
              <a:t>기반 체스 프로그램 동작 과정</a:t>
            </a:r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8CE06860-61ED-7F5D-638A-DDA119ADECC2}"/>
              </a:ext>
            </a:extLst>
          </p:cNvPr>
          <p:cNvSpPr txBox="1">
            <a:spLocks/>
          </p:cNvSpPr>
          <p:nvPr/>
        </p:nvSpPr>
        <p:spPr>
          <a:xfrm>
            <a:off x="1009677" y="1076960"/>
            <a:ext cx="5076798" cy="772160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chess.Board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: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현재 체스 상태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(State)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를 콘솔 화면에 출력한다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초기 상태에서는 기본 체스 시작 배치가 출력된다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(3) </a:t>
            </a:r>
            <a:r>
              <a:rPr lang="ko-KR" altLang="en-US" dirty="0" err="1"/>
              <a:t>체스판</a:t>
            </a:r>
            <a:r>
              <a:rPr lang="ko-KR" altLang="en-US" dirty="0"/>
              <a:t> </a:t>
            </a:r>
            <a:r>
              <a:rPr lang="en-US" altLang="ko-KR" dirty="0"/>
              <a:t>Canvas </a:t>
            </a:r>
            <a:r>
              <a:rPr lang="ko-KR" altLang="en-US" dirty="0"/>
              <a:t>만들기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GUI </a:t>
            </a:r>
            <a:r>
              <a:rPr lang="ko-KR" altLang="en-US" dirty="0"/>
              <a:t>체스 프로그램에서는 </a:t>
            </a:r>
            <a:r>
              <a:rPr lang="ko-KR" altLang="en-US" dirty="0" err="1"/>
              <a:t>체스판</a:t>
            </a:r>
            <a:r>
              <a:rPr lang="en-US" altLang="ko-KR" dirty="0"/>
              <a:t>(Board)</a:t>
            </a:r>
            <a:r>
              <a:rPr lang="ko-KR" altLang="en-US" dirty="0"/>
              <a:t>을 화면에 직접 그려야 한다</a:t>
            </a:r>
            <a:r>
              <a:rPr lang="en-US" altLang="ko-KR" dirty="0"/>
              <a:t>. </a:t>
            </a:r>
            <a:r>
              <a:rPr lang="en-US" altLang="ko-KR" dirty="0" err="1"/>
              <a:t>Tkinter</a:t>
            </a:r>
            <a:r>
              <a:rPr lang="ko-KR" altLang="en-US" dirty="0"/>
              <a:t>에서는 그림을 그릴 수 있는 공간인 </a:t>
            </a:r>
            <a:r>
              <a:rPr lang="en-US" altLang="ko-KR" dirty="0"/>
              <a:t>Canvas </a:t>
            </a:r>
            <a:r>
              <a:rPr lang="ko-KR" altLang="en-US" dirty="0"/>
              <a:t>객체를 제공한다</a:t>
            </a:r>
            <a:r>
              <a:rPr lang="en-US" altLang="ko-KR" dirty="0"/>
              <a:t>. Canvas</a:t>
            </a:r>
            <a:r>
              <a:rPr lang="ko-KR" altLang="en-US" dirty="0"/>
              <a:t>를 이용하면 사각형</a:t>
            </a:r>
            <a:r>
              <a:rPr lang="en-US" altLang="ko-KR" dirty="0"/>
              <a:t>(Rectangle), </a:t>
            </a:r>
            <a:r>
              <a:rPr lang="ko-KR" altLang="en-US" dirty="0"/>
              <a:t>문자</a:t>
            </a:r>
            <a:r>
              <a:rPr lang="en-US" altLang="ko-KR" dirty="0"/>
              <a:t>(Text), </a:t>
            </a:r>
            <a:r>
              <a:rPr lang="ko-KR" altLang="en-US" dirty="0"/>
              <a:t>이미지</a:t>
            </a:r>
            <a:r>
              <a:rPr lang="en-US" altLang="ko-KR" dirty="0"/>
              <a:t>(Image) </a:t>
            </a:r>
            <a:r>
              <a:rPr lang="ko-KR" altLang="en-US" dirty="0"/>
              <a:t>등을 화면에 출력할 수 있다</a:t>
            </a:r>
            <a:r>
              <a:rPr lang="en-US" altLang="ko-KR" dirty="0"/>
              <a:t>. </a:t>
            </a:r>
            <a:r>
              <a:rPr lang="ko-KR" altLang="en-US" dirty="0"/>
              <a:t>체스 프로그램에서는 </a:t>
            </a:r>
            <a:r>
              <a:rPr lang="en-US" altLang="ko-KR" dirty="0"/>
              <a:t>Canvas</a:t>
            </a:r>
            <a:r>
              <a:rPr lang="ko-KR" altLang="en-US" dirty="0"/>
              <a:t>를 사용하여 </a:t>
            </a:r>
            <a:r>
              <a:rPr lang="ko-KR" altLang="en-US" dirty="0" err="1"/>
              <a:t>체스판</a:t>
            </a:r>
            <a:r>
              <a:rPr lang="ko-KR" altLang="en-US" dirty="0"/>
              <a:t> 칸 출력</a:t>
            </a:r>
            <a:r>
              <a:rPr lang="en-US" altLang="ko-KR" dirty="0"/>
              <a:t>, </a:t>
            </a:r>
            <a:r>
              <a:rPr lang="ko-KR" altLang="en-US" dirty="0"/>
              <a:t>체스 말</a:t>
            </a:r>
            <a:r>
              <a:rPr lang="en-US" altLang="ko-KR" dirty="0"/>
              <a:t>(Piece) </a:t>
            </a:r>
            <a:r>
              <a:rPr lang="ko-KR" altLang="en-US" dirty="0"/>
              <a:t>출력</a:t>
            </a:r>
            <a:r>
              <a:rPr lang="en-US" altLang="ko-KR" dirty="0"/>
              <a:t>, </a:t>
            </a:r>
            <a:r>
              <a:rPr lang="ko-KR" altLang="en-US" dirty="0"/>
              <a:t>선택 표시</a:t>
            </a:r>
            <a:r>
              <a:rPr lang="en-US" altLang="ko-KR" dirty="0"/>
              <a:t>, </a:t>
            </a:r>
            <a:r>
              <a:rPr lang="ko-KR" altLang="en-US" dirty="0"/>
              <a:t>이동 가능 위치 표시 등의 기능을 구현하게 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이번 단계에서는 </a:t>
            </a:r>
            <a:r>
              <a:rPr lang="en-US" altLang="ko-KR" dirty="0"/>
              <a:t>Canvas </a:t>
            </a:r>
            <a:r>
              <a:rPr lang="ko-KR" altLang="en-US" dirty="0"/>
              <a:t>객체 생성</a:t>
            </a:r>
            <a:r>
              <a:rPr lang="en-US" altLang="ko-KR" dirty="0"/>
              <a:t>, </a:t>
            </a:r>
            <a:r>
              <a:rPr lang="ko-KR" altLang="en-US" dirty="0" err="1"/>
              <a:t>체스판</a:t>
            </a:r>
            <a:r>
              <a:rPr lang="ko-KR" altLang="en-US" dirty="0"/>
              <a:t> 크기 설정</a:t>
            </a:r>
            <a:r>
              <a:rPr lang="en-US" altLang="ko-KR" dirty="0"/>
              <a:t>, Canvas</a:t>
            </a:r>
            <a:r>
              <a:rPr lang="ko-KR" altLang="en-US" dirty="0"/>
              <a:t>를 </a:t>
            </a:r>
            <a:r>
              <a:rPr lang="en-US" altLang="ko-KR" dirty="0"/>
              <a:t>GUI </a:t>
            </a:r>
            <a:r>
              <a:rPr lang="ko-KR" altLang="en-US" dirty="0"/>
              <a:t>창에 배치 기능을 구현한다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en-US" b="1" dirty="0"/>
              <a:t>예제 코드 작성</a:t>
            </a:r>
            <a:r>
              <a:rPr lang="en-US" altLang="ko-KR" b="1" dirty="0"/>
              <a:t> 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코드</a:t>
            </a:r>
            <a:r>
              <a:rPr lang="en-US" altLang="ko-KR" b="1" dirty="0"/>
              <a:t> </a:t>
            </a:r>
            <a:r>
              <a:rPr lang="ko-KR" altLang="en-US" b="1" dirty="0"/>
              <a:t>실행</a:t>
            </a:r>
            <a:r>
              <a:rPr lang="en-US" altLang="ko-KR" b="1" dirty="0"/>
              <a:t> </a:t>
            </a:r>
            <a:r>
              <a:rPr lang="ko-KR" altLang="en-US" b="1" dirty="0"/>
              <a:t>결과</a:t>
            </a:r>
            <a:r>
              <a:rPr lang="en-US" altLang="ko-KR" b="1" dirty="0"/>
              <a:t>]</a:t>
            </a:r>
            <a:endParaRPr lang="en-US" altLang="ko-KR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A76B9B-1749-AC58-E071-ACAC472D6A22}"/>
              </a:ext>
            </a:extLst>
          </p:cNvPr>
          <p:cNvSpPr txBox="1"/>
          <p:nvPr/>
        </p:nvSpPr>
        <p:spPr>
          <a:xfrm>
            <a:off x="1523656" y="4041845"/>
            <a:ext cx="401828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chess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tk.Tk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root.title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 i="0" u="none" strike="noStrike" dirty="0" err="1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 Chess"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chess.Board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72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board_pixel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canvas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tk.Canvas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root, width=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board_pixel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100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height=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board_pixel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canvas.pack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root.mainloop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endParaRPr lang="ko-KR" altLang="en-US" sz="11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D1EF733-5BD6-6657-C5C9-8BFDE4BAB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955" y="6815727"/>
            <a:ext cx="1691498" cy="177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115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AC39D-BFC7-D3B7-5990-C3CF1DE31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9B82F-33AE-CB24-372C-337AAB8AD092}"/>
              </a:ext>
            </a:extLst>
          </p:cNvPr>
          <p:cNvSpPr txBox="1">
            <a:spLocks/>
          </p:cNvSpPr>
          <p:nvPr/>
        </p:nvSpPr>
        <p:spPr>
          <a:xfrm>
            <a:off x="689208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GUI </a:t>
            </a:r>
            <a:r>
              <a:rPr lang="ko-KR" altLang="en-US" sz="1200" dirty="0"/>
              <a:t>기반 체스 프로그램 동작 과정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3FD6AE84-FF57-D87A-6AB8-B5ABF1CE904E}"/>
              </a:ext>
            </a:extLst>
          </p:cNvPr>
          <p:cNvSpPr txBox="1">
            <a:spLocks/>
          </p:cNvSpPr>
          <p:nvPr/>
        </p:nvSpPr>
        <p:spPr>
          <a:xfrm>
            <a:off x="689208" y="1135380"/>
            <a:ext cx="4984284" cy="776477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72 : </a:t>
            </a:r>
            <a:r>
              <a:rPr lang="ko-KR" altLang="en-US" sz="1100" dirty="0" err="1">
                <a:solidFill>
                  <a:srgbClr val="3C3836"/>
                </a:solidFill>
                <a:latin typeface="Consolas" panose="020B0609020204030204" pitchFamily="49" charset="0"/>
              </a:rPr>
              <a:t>체스판</a:t>
            </a:r>
            <a:r>
              <a:rPr lang="ko-KR" altLang="en-US" sz="1100" dirty="0">
                <a:solidFill>
                  <a:srgbClr val="3C3836"/>
                </a:solidFill>
                <a:latin typeface="Consolas" panose="020B0609020204030204" pitchFamily="49" charset="0"/>
              </a:rPr>
              <a:t> 한 칸의 크기를 </a:t>
            </a:r>
            <a:r>
              <a:rPr lang="en-US" altLang="ko-KR" sz="1100" dirty="0">
                <a:solidFill>
                  <a:srgbClr val="3C3836"/>
                </a:solidFill>
                <a:latin typeface="Consolas" panose="020B0609020204030204" pitchFamily="49" charset="0"/>
              </a:rPr>
              <a:t>72</a:t>
            </a:r>
            <a:r>
              <a:rPr lang="ko-KR" altLang="en-US" sz="1100" dirty="0">
                <a:solidFill>
                  <a:srgbClr val="3C3836"/>
                </a:solidFill>
                <a:latin typeface="Consolas" panose="020B0609020204030204" pitchFamily="49" charset="0"/>
              </a:rPr>
              <a:t>픽셀</a:t>
            </a:r>
            <a:r>
              <a:rPr lang="en-US" altLang="ko-KR" sz="1100" dirty="0">
                <a:solidFill>
                  <a:srgbClr val="3C3836"/>
                </a:solidFill>
                <a:latin typeface="Consolas" panose="020B0609020204030204" pitchFamily="49" charset="0"/>
              </a:rPr>
              <a:t>(pixel)</a:t>
            </a:r>
            <a:r>
              <a:rPr lang="ko-KR" altLang="en-US" sz="1100" dirty="0">
                <a:solidFill>
                  <a:srgbClr val="3C3836"/>
                </a:solidFill>
                <a:latin typeface="Consolas" panose="020B0609020204030204" pitchFamily="49" charset="0"/>
              </a:rPr>
              <a:t>로 설정한다</a:t>
            </a:r>
            <a:r>
              <a:rPr lang="en-US" altLang="ko-KR" sz="1100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sz="1100" dirty="0">
                <a:solidFill>
                  <a:srgbClr val="3C3836"/>
                </a:solidFill>
                <a:latin typeface="Consolas" panose="020B0609020204030204" pitchFamily="49" charset="0"/>
              </a:rPr>
              <a:t>체스판은 </a:t>
            </a:r>
            <a:r>
              <a:rPr lang="en-US" altLang="ko-KR" sz="1100" dirty="0">
                <a:solidFill>
                  <a:srgbClr val="3C3836"/>
                </a:solidFill>
                <a:latin typeface="Consolas" panose="020B0609020204030204" pitchFamily="49" charset="0"/>
              </a:rPr>
              <a:t>8×8 </a:t>
            </a:r>
            <a:r>
              <a:rPr lang="ko-KR" altLang="en-US" sz="1100" dirty="0">
                <a:solidFill>
                  <a:srgbClr val="3C3836"/>
                </a:solidFill>
                <a:latin typeface="Consolas" panose="020B0609020204030204" pitchFamily="49" charset="0"/>
              </a:rPr>
              <a:t>구조이므로 각 칸의 크기를 기준으로 전체 크기를 계산한다</a:t>
            </a:r>
            <a:r>
              <a:rPr lang="en-US" altLang="ko-KR" sz="11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rgbClr val="3C3836"/>
                </a:solidFill>
                <a:latin typeface="Consolas" panose="020B0609020204030204" pitchFamily="49" charset="0"/>
              </a:rPr>
              <a:t>board_pixel</a:t>
            </a:r>
            <a:r>
              <a:rPr lang="en-US" altLang="ko-KR" sz="1100" dirty="0">
                <a:solidFill>
                  <a:srgbClr val="3C3836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100" dirty="0" err="1">
                <a:solidFill>
                  <a:srgbClr val="3C3836"/>
                </a:solidFill>
                <a:latin typeface="Consolas" panose="020B0609020204030204" pitchFamily="49" charset="0"/>
              </a:rPr>
              <a:t>square_size</a:t>
            </a:r>
            <a:r>
              <a:rPr lang="en-US" altLang="ko-KR" sz="1100" dirty="0">
                <a:solidFill>
                  <a:srgbClr val="3C3836"/>
                </a:solidFill>
                <a:latin typeface="Consolas" panose="020B0609020204030204" pitchFamily="49" charset="0"/>
              </a:rPr>
              <a:t> * 8 : </a:t>
            </a:r>
            <a:r>
              <a:rPr lang="ko-KR" altLang="en-US" sz="1100" dirty="0" err="1">
                <a:solidFill>
                  <a:srgbClr val="3C3836"/>
                </a:solidFill>
                <a:latin typeface="Consolas" panose="020B0609020204030204" pitchFamily="49" charset="0"/>
              </a:rPr>
              <a:t>체스판</a:t>
            </a:r>
            <a:r>
              <a:rPr lang="ko-KR" altLang="en-US" sz="1100" dirty="0">
                <a:solidFill>
                  <a:srgbClr val="3C3836"/>
                </a:solidFill>
                <a:latin typeface="Consolas" panose="020B0609020204030204" pitchFamily="49" charset="0"/>
              </a:rPr>
              <a:t> 전체 크기를 계산한다</a:t>
            </a:r>
            <a:r>
              <a:rPr lang="en-US" altLang="ko-KR" sz="1100" dirty="0"/>
              <a:t>. </a:t>
            </a:r>
            <a:r>
              <a:rPr lang="ko-KR" altLang="en-US" sz="1100" dirty="0"/>
              <a:t>체스판은 가로 </a:t>
            </a:r>
            <a:r>
              <a:rPr lang="en-US" altLang="ko-KR" sz="1100" dirty="0"/>
              <a:t>8</a:t>
            </a:r>
            <a:r>
              <a:rPr lang="ko-KR" altLang="en-US" sz="1100" dirty="0"/>
              <a:t>칸</a:t>
            </a:r>
            <a:r>
              <a:rPr lang="en-US" altLang="ko-KR" sz="1100" dirty="0"/>
              <a:t>, </a:t>
            </a:r>
            <a:r>
              <a:rPr lang="ko-KR" altLang="en-US" sz="1100" dirty="0"/>
              <a:t>세로 </a:t>
            </a:r>
            <a:r>
              <a:rPr lang="en-US" altLang="ko-KR" sz="1100" dirty="0"/>
              <a:t>8</a:t>
            </a:r>
            <a:r>
              <a:rPr lang="ko-KR" altLang="en-US" sz="1100" dirty="0"/>
              <a:t>칸으로 구성되므로 </a:t>
            </a:r>
            <a:r>
              <a:rPr lang="en-US" altLang="ko-KR" sz="1100" dirty="0"/>
              <a:t>72 × 8 = 576 pixel </a:t>
            </a:r>
            <a:r>
              <a:rPr lang="ko-KR" altLang="en-US" sz="1100" dirty="0"/>
              <a:t>크기의 체스판이 생성된다</a:t>
            </a:r>
            <a:r>
              <a:rPr lang="en-US" altLang="ko-KR" sz="11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canvas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tk.Canvas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root,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width=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board_pixel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height=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board_pixel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100" dirty="0">
                <a:solidFill>
                  <a:srgbClr val="3C3836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100" dirty="0" err="1">
                <a:solidFill>
                  <a:srgbClr val="3C3836"/>
                </a:solidFill>
                <a:latin typeface="Consolas" panose="020B0609020204030204" pitchFamily="49" charset="0"/>
              </a:rPr>
              <a:t>Tkinter</a:t>
            </a:r>
            <a:r>
              <a:rPr lang="ko-KR" altLang="en-US" sz="1100" dirty="0">
                <a:solidFill>
                  <a:srgbClr val="3C3836"/>
                </a:solidFill>
                <a:latin typeface="Consolas" panose="020B0609020204030204" pitchFamily="49" charset="0"/>
              </a:rPr>
              <a:t>의 </a:t>
            </a:r>
            <a:r>
              <a:rPr lang="en-US" altLang="ko-KR" sz="1100" dirty="0">
                <a:solidFill>
                  <a:srgbClr val="3C3836"/>
                </a:solidFill>
                <a:latin typeface="Consolas" panose="020B0609020204030204" pitchFamily="49" charset="0"/>
              </a:rPr>
              <a:t>Canvas </a:t>
            </a:r>
            <a:r>
              <a:rPr lang="ko-KR" altLang="en-US" sz="1100" dirty="0">
                <a:solidFill>
                  <a:srgbClr val="3C3836"/>
                </a:solidFill>
                <a:latin typeface="Consolas" panose="020B0609020204030204" pitchFamily="49" charset="0"/>
              </a:rPr>
              <a:t>객체를 생성한다</a:t>
            </a:r>
            <a:r>
              <a:rPr lang="en-US" altLang="ko-KR" sz="1100" dirty="0"/>
              <a:t>. Canvas</a:t>
            </a:r>
            <a:r>
              <a:rPr lang="ko-KR" altLang="en-US" sz="1100" dirty="0"/>
              <a:t>는 화면에 그림을 그릴 수 있는 공간이다</a:t>
            </a:r>
            <a:r>
              <a:rPr lang="en-US" altLang="ko-KR" sz="1100" dirty="0"/>
              <a:t>. </a:t>
            </a:r>
            <a:r>
              <a:rPr lang="ko-KR" altLang="en-US" sz="1100" dirty="0"/>
              <a:t>앞으로 이 </a:t>
            </a:r>
            <a:r>
              <a:rPr lang="en-US" altLang="ko-KR" sz="1100" dirty="0"/>
              <a:t>Canvas </a:t>
            </a:r>
            <a:r>
              <a:rPr lang="ko-KR" altLang="en-US" sz="1100" dirty="0"/>
              <a:t>위에 </a:t>
            </a:r>
            <a:r>
              <a:rPr lang="ko-KR" altLang="en-US" sz="1100" dirty="0" err="1"/>
              <a:t>체스판</a:t>
            </a:r>
            <a:r>
              <a:rPr lang="ko-KR" altLang="en-US" sz="1100" dirty="0"/>
              <a:t> 칸</a:t>
            </a:r>
            <a:r>
              <a:rPr lang="en-US" altLang="ko-KR" sz="1100" dirty="0"/>
              <a:t>, </a:t>
            </a:r>
            <a:r>
              <a:rPr lang="ko-KR" altLang="en-US" sz="1100" dirty="0"/>
              <a:t>체스 말</a:t>
            </a:r>
            <a:r>
              <a:rPr lang="en-US" altLang="ko-KR" sz="1100" dirty="0"/>
              <a:t>, </a:t>
            </a:r>
            <a:r>
              <a:rPr lang="ko-KR" altLang="en-US" sz="1100" dirty="0"/>
              <a:t>선택 표시</a:t>
            </a:r>
            <a:r>
              <a:rPr lang="en-US" altLang="ko-KR" sz="1100" dirty="0"/>
              <a:t>, </a:t>
            </a:r>
            <a:r>
              <a:rPr lang="ko-KR" altLang="en-US" sz="1100" dirty="0"/>
              <a:t>이동 가능 위치 등을 출력하게 된다</a:t>
            </a:r>
            <a:r>
              <a:rPr lang="en-US" altLang="ko-KR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canvas.pack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):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생성한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Canvas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를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GUI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창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(Window)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에 배치한다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pack()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함수는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GUI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객체를 화면에 표시하는 역할을 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(4) </a:t>
            </a:r>
            <a:r>
              <a:rPr lang="ko-KR" altLang="en-US" dirty="0" err="1"/>
              <a:t>체스판</a:t>
            </a:r>
            <a:r>
              <a:rPr lang="ko-KR" altLang="en-US" dirty="0"/>
              <a:t> 칸 그리기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체스판</a:t>
            </a:r>
            <a:r>
              <a:rPr lang="en-US" altLang="ko-KR" dirty="0"/>
              <a:t>(Board)</a:t>
            </a:r>
            <a:r>
              <a:rPr lang="ko-KR" altLang="en-US" dirty="0"/>
              <a:t>은 </a:t>
            </a:r>
            <a:r>
              <a:rPr lang="en-US" altLang="ko-KR" dirty="0"/>
              <a:t>8</a:t>
            </a:r>
            <a:r>
              <a:rPr lang="ko-KR" altLang="en-US" dirty="0"/>
              <a:t>행 </a:t>
            </a:r>
            <a:r>
              <a:rPr lang="en-US" altLang="ko-KR" dirty="0"/>
              <a:t>× 8</a:t>
            </a:r>
            <a:r>
              <a:rPr lang="ko-KR" altLang="en-US" dirty="0"/>
              <a:t>열 구조로 이루어져 있으며 총 </a:t>
            </a:r>
            <a:r>
              <a:rPr lang="en-US" altLang="ko-KR" dirty="0"/>
              <a:t>64</a:t>
            </a:r>
            <a:r>
              <a:rPr lang="ko-KR" altLang="en-US" dirty="0"/>
              <a:t>개의 칸</a:t>
            </a:r>
            <a:r>
              <a:rPr lang="en-US" altLang="ko-KR" dirty="0"/>
              <a:t>(Square)</a:t>
            </a:r>
            <a:r>
              <a:rPr lang="ko-KR" altLang="en-US" dirty="0"/>
              <a:t>으로 구성된다</a:t>
            </a:r>
            <a:r>
              <a:rPr lang="en-US" altLang="ko-KR" dirty="0"/>
              <a:t>. GUI </a:t>
            </a:r>
            <a:r>
              <a:rPr lang="ko-KR" altLang="en-US" dirty="0"/>
              <a:t>체스 프로그램에서는 </a:t>
            </a:r>
            <a:r>
              <a:rPr lang="en-US" altLang="ko-KR" dirty="0"/>
              <a:t>Canvas </a:t>
            </a:r>
            <a:r>
              <a:rPr lang="ko-KR" altLang="en-US" dirty="0"/>
              <a:t>위에 사각형</a:t>
            </a:r>
            <a:r>
              <a:rPr lang="en-US" altLang="ko-KR" dirty="0"/>
              <a:t>(Rectangle)</a:t>
            </a:r>
            <a:r>
              <a:rPr lang="ko-KR" altLang="en-US" dirty="0"/>
              <a:t>을 반복해서 그려 </a:t>
            </a:r>
            <a:r>
              <a:rPr lang="ko-KR" altLang="en-US" dirty="0" err="1"/>
              <a:t>체스판</a:t>
            </a:r>
            <a:r>
              <a:rPr lang="ko-KR" altLang="en-US" dirty="0"/>
              <a:t> 모양을 만들어야 한다 또한 실제 체스판처럼 밝은 색 칸과 어두운 색 칸이 번갈아 나타나도록 색을 설정해야 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이번 단계에서는 반복문을 이용한 </a:t>
            </a:r>
            <a:r>
              <a:rPr lang="ko-KR" altLang="en-US" dirty="0" err="1"/>
              <a:t>체스판</a:t>
            </a:r>
            <a:r>
              <a:rPr lang="ko-KR" altLang="en-US" dirty="0"/>
              <a:t> 생성</a:t>
            </a:r>
            <a:r>
              <a:rPr lang="en-US" altLang="ko-KR" dirty="0"/>
              <a:t>, </a:t>
            </a:r>
            <a:r>
              <a:rPr lang="ko-KR" altLang="en-US" dirty="0"/>
              <a:t>각 칸의 좌표 계산</a:t>
            </a:r>
            <a:r>
              <a:rPr lang="en-US" altLang="ko-KR" dirty="0"/>
              <a:t>, </a:t>
            </a:r>
            <a:r>
              <a:rPr lang="ko-KR" altLang="en-US" dirty="0"/>
              <a:t>밝은 칸 </a:t>
            </a:r>
            <a:r>
              <a:rPr lang="en-US" altLang="ko-KR" dirty="0"/>
              <a:t>/ </a:t>
            </a:r>
            <a:r>
              <a:rPr lang="ko-KR" altLang="en-US" dirty="0"/>
              <a:t>어두운 칸 색 설정</a:t>
            </a:r>
            <a:r>
              <a:rPr lang="en-US" altLang="ko-KR" dirty="0"/>
              <a:t>, Canvas </a:t>
            </a:r>
            <a:r>
              <a:rPr lang="ko-KR" altLang="en-US" dirty="0"/>
              <a:t>위에 사각형 출력 기능을 구현한다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en-US" b="1" dirty="0"/>
              <a:t>예제 코드 작성</a:t>
            </a:r>
            <a:r>
              <a:rPr lang="en-US" altLang="ko-KR" b="1" dirty="0"/>
              <a:t> 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8D390F-89E3-0AE3-45E6-42F963F78564}"/>
              </a:ext>
            </a:extLst>
          </p:cNvPr>
          <p:cNvSpPr txBox="1"/>
          <p:nvPr/>
        </p:nvSpPr>
        <p:spPr>
          <a:xfrm>
            <a:off x="1932146" y="7283550"/>
            <a:ext cx="3378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chess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tk.Tk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root.title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 err="1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 Chess"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chess.Board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72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board_pixel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 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6758493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3D6D6-2DD4-B4C3-2A3F-0BDA73CAC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04D9524-8D23-3DF0-E8CC-CD7591B8803C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GUI </a:t>
            </a:r>
            <a:r>
              <a:rPr lang="ko-KR" altLang="en-US" sz="1200" dirty="0"/>
              <a:t>기반 체스 프로그램 동작 과정</a:t>
            </a:r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6B6611B5-089E-CCBA-C771-19F9057088F9}"/>
              </a:ext>
            </a:extLst>
          </p:cNvPr>
          <p:cNvSpPr txBox="1">
            <a:spLocks/>
          </p:cNvSpPr>
          <p:nvPr/>
        </p:nvSpPr>
        <p:spPr>
          <a:xfrm>
            <a:off x="1009677" y="1076960"/>
            <a:ext cx="5076798" cy="772160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코드</a:t>
            </a:r>
            <a:r>
              <a:rPr lang="en-US" altLang="ko-KR" b="1" dirty="0"/>
              <a:t> </a:t>
            </a:r>
            <a:r>
              <a:rPr lang="ko-KR" altLang="en-US" b="1" dirty="0"/>
              <a:t>실행</a:t>
            </a:r>
            <a:r>
              <a:rPr lang="en-US" altLang="ko-KR" b="1" dirty="0"/>
              <a:t> </a:t>
            </a:r>
            <a:r>
              <a:rPr lang="ko-KR" altLang="en-US" b="1" dirty="0"/>
              <a:t>결과</a:t>
            </a:r>
            <a:r>
              <a:rPr lang="en-US" altLang="ko-KR" b="1" dirty="0"/>
              <a:t>]</a:t>
            </a:r>
          </a:p>
          <a:p>
            <a:pPr marL="0" indent="0">
              <a:buNone/>
            </a:pPr>
            <a:endParaRPr lang="en-US" altLang="ko-KR" b="1" dirty="0">
              <a:latin typeface="+mn-ea"/>
            </a:endParaRP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>
              <a:latin typeface="+mn-ea"/>
            </a:endParaRP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>
              <a:latin typeface="+mn-ea"/>
            </a:endParaRP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코드</a:t>
            </a:r>
            <a:r>
              <a:rPr lang="en-US" altLang="ko-KR" b="1" dirty="0"/>
              <a:t> </a:t>
            </a:r>
            <a:r>
              <a:rPr lang="ko-KR" altLang="en-US" b="1" dirty="0"/>
              <a:t>설명</a:t>
            </a:r>
            <a:r>
              <a:rPr lang="en-US" altLang="ko-KR" b="1" dirty="0"/>
              <a:t>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light_color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"#F0D9B5“ 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dark_color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"#B58863“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: </a:t>
            </a:r>
            <a:r>
              <a:rPr lang="ko-KR" altLang="en-US" dirty="0"/>
              <a:t>체스판의 밝은 칸과 어두운 칸 색상을 설정한다</a:t>
            </a:r>
            <a:r>
              <a:rPr lang="en-US" altLang="ko-KR" dirty="0"/>
              <a:t>. </a:t>
            </a:r>
            <a:r>
              <a:rPr lang="en-US" altLang="ko-KR" dirty="0" err="1"/>
              <a:t>light_color</a:t>
            </a:r>
            <a:r>
              <a:rPr lang="en-US" altLang="ko-KR" dirty="0"/>
              <a:t> : </a:t>
            </a:r>
            <a:r>
              <a:rPr lang="ko-KR" altLang="en-US" dirty="0"/>
              <a:t>밝은 칸 색</a:t>
            </a:r>
            <a:r>
              <a:rPr lang="en-US" altLang="ko-KR" dirty="0"/>
              <a:t>, </a:t>
            </a:r>
            <a:r>
              <a:rPr lang="en-US" altLang="ko-KR" dirty="0" err="1"/>
              <a:t>dark_color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어두운 칸 색</a:t>
            </a:r>
            <a:r>
              <a:rPr lang="en-US" altLang="ko-KR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row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col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체스판은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8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행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× 8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열 구조이므로 반복문을 사용하여 총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64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개의 칸을 생성한다</a:t>
            </a:r>
            <a:r>
              <a:rPr lang="en-US" altLang="ko-KR" dirty="0"/>
              <a:t>. row</a:t>
            </a:r>
            <a:r>
              <a:rPr lang="ko-KR" altLang="en-US" dirty="0"/>
              <a:t>는 행</a:t>
            </a:r>
            <a:r>
              <a:rPr lang="en-US" altLang="ko-KR" dirty="0"/>
              <a:t>(row), col</a:t>
            </a:r>
            <a:r>
              <a:rPr lang="ko-KR" altLang="en-US" dirty="0"/>
              <a:t>은 열</a:t>
            </a:r>
            <a:r>
              <a:rPr lang="en-US" altLang="ko-KR" dirty="0"/>
              <a:t>(column)</a:t>
            </a:r>
            <a:r>
              <a:rPr lang="ko-KR" altLang="en-US" dirty="0"/>
              <a:t>을 의미한다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DA146D-4F66-8DE6-3F59-86CE7D9025DD}"/>
              </a:ext>
            </a:extLst>
          </p:cNvPr>
          <p:cNvSpPr txBox="1"/>
          <p:nvPr/>
        </p:nvSpPr>
        <p:spPr>
          <a:xfrm>
            <a:off x="1402081" y="1120478"/>
            <a:ext cx="4684394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canvas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tk.Canvas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root, width=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board_pixel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height=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board_pixel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canvas.pack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light_color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"#F0D9B5"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dark_color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"#B58863"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row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col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x1 = col *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y1 = row *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x2 = x1 +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y2 = y1 +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color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light_color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(row + col) %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dark_color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canvas.create_rectangle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x1, y1, x2, y2,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fill=color,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outline=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"black"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root.mainloop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endParaRPr lang="ko-KR" altLang="en-US" sz="11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BE1FFB-EF99-7E09-F0FE-EACA4FCAF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218" y="4811148"/>
            <a:ext cx="2099622" cy="221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6303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97D34-5411-6461-CD21-F72F5F9E7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C3A81-4358-6735-2AEF-608C716F9C63}"/>
              </a:ext>
            </a:extLst>
          </p:cNvPr>
          <p:cNvSpPr txBox="1">
            <a:spLocks/>
          </p:cNvSpPr>
          <p:nvPr/>
        </p:nvSpPr>
        <p:spPr>
          <a:xfrm>
            <a:off x="689208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GUI </a:t>
            </a:r>
            <a:r>
              <a:rPr lang="ko-KR" altLang="en-US" sz="1200" dirty="0"/>
              <a:t>기반 체스 프로그램 동작 과정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CF886651-759D-5754-94D4-137DB3D95C9A}"/>
              </a:ext>
            </a:extLst>
          </p:cNvPr>
          <p:cNvSpPr txBox="1">
            <a:spLocks/>
          </p:cNvSpPr>
          <p:nvPr/>
        </p:nvSpPr>
        <p:spPr>
          <a:xfrm>
            <a:off x="689208" y="1135380"/>
            <a:ext cx="4984284" cy="776477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x1 = col *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r>
              <a:rPr lang="en-US" altLang="ko-KR" sz="11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y1 = row *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en-US" sz="1100" dirty="0">
                <a:solidFill>
                  <a:srgbClr val="3C3836"/>
                </a:solidFill>
                <a:latin typeface="Consolas" panose="020B0609020204030204" pitchFamily="49" charset="0"/>
              </a:rPr>
              <a:t>각 칸의 시작 좌표를 계산한다</a:t>
            </a:r>
            <a:r>
              <a:rPr lang="en-US" altLang="ko-KR" sz="1100" dirty="0"/>
              <a:t>. </a:t>
            </a:r>
            <a:r>
              <a:rPr lang="ko-KR" altLang="en-US" sz="1100" dirty="0"/>
              <a:t>예를 들어 </a:t>
            </a:r>
            <a:r>
              <a:rPr lang="en-US" altLang="ko-KR" sz="1100" dirty="0"/>
              <a:t>(0,0) → </a:t>
            </a:r>
            <a:r>
              <a:rPr lang="ko-KR" altLang="en-US" sz="1100" dirty="0"/>
              <a:t>첫 번째 칸</a:t>
            </a:r>
            <a:r>
              <a:rPr lang="en-US" altLang="ko-KR" sz="1100" dirty="0"/>
              <a:t>, (1,0) → </a:t>
            </a:r>
            <a:r>
              <a:rPr lang="ko-KR" altLang="en-US" sz="1100" dirty="0"/>
              <a:t>두 번째 칸 처럼 위치가 결정된다</a:t>
            </a: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x2 = x1 +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y2 = y1 +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solidFill>
                  <a:srgbClr val="3C3836"/>
                </a:solidFill>
                <a:latin typeface="Consolas" panose="020B0609020204030204" pitchFamily="49" charset="0"/>
              </a:rPr>
              <a:t>: </a:t>
            </a:r>
            <a:r>
              <a:rPr lang="ko-KR" altLang="en-US" sz="1100" dirty="0">
                <a:solidFill>
                  <a:srgbClr val="3C3836"/>
                </a:solidFill>
                <a:latin typeface="Consolas" panose="020B0609020204030204" pitchFamily="49" charset="0"/>
              </a:rPr>
              <a:t>각 칸의 끝 좌표를 계산한다</a:t>
            </a:r>
            <a:r>
              <a:rPr lang="en-US" altLang="ko-KR" sz="1100" dirty="0"/>
              <a:t>. </a:t>
            </a:r>
            <a:r>
              <a:rPr lang="ko-KR" altLang="en-US" sz="1100" dirty="0"/>
              <a:t>즉 시작 좌표 </a:t>
            </a:r>
            <a:r>
              <a:rPr lang="en-US" altLang="ko-KR" sz="1100" dirty="0"/>
              <a:t>+ </a:t>
            </a:r>
            <a:r>
              <a:rPr lang="ko-KR" altLang="en-US" sz="1100" dirty="0"/>
              <a:t>칸 크기를 이용하여 사각형 크기를 만든다</a:t>
            </a:r>
            <a:r>
              <a:rPr lang="en-US" altLang="ko-KR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color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light_color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(row + col) %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dark_color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en-US" sz="1100" dirty="0" err="1">
                <a:solidFill>
                  <a:srgbClr val="3C3836"/>
                </a:solidFill>
                <a:latin typeface="Consolas" panose="020B0609020204030204" pitchFamily="49" charset="0"/>
              </a:rPr>
              <a:t>체스판</a:t>
            </a:r>
            <a:r>
              <a:rPr lang="ko-KR" altLang="en-US" sz="1100" dirty="0">
                <a:solidFill>
                  <a:srgbClr val="3C3836"/>
                </a:solidFill>
                <a:latin typeface="Consolas" panose="020B0609020204030204" pitchFamily="49" charset="0"/>
              </a:rPr>
              <a:t> 색상을 번갈아 설정한다</a:t>
            </a:r>
            <a:r>
              <a:rPr lang="en-US" altLang="ko-KR" sz="1100" dirty="0"/>
              <a:t>. </a:t>
            </a:r>
            <a:r>
              <a:rPr lang="ko-KR" altLang="en-US" sz="1100" dirty="0"/>
              <a:t>행과 열의 합이 짝수이면 밝은 색</a:t>
            </a:r>
            <a:r>
              <a:rPr lang="en-US" altLang="ko-KR" sz="1100" dirty="0"/>
              <a:t>, </a:t>
            </a:r>
            <a:r>
              <a:rPr lang="ko-KR" altLang="en-US" sz="1100" dirty="0"/>
              <a:t>홀수이면 어두운 색을 사용한다</a:t>
            </a:r>
            <a:r>
              <a:rPr lang="en-US" altLang="ko-KR" sz="1100" dirty="0"/>
              <a:t>. </a:t>
            </a:r>
            <a:r>
              <a:rPr lang="ko-KR" altLang="en-US" sz="1100" dirty="0"/>
              <a:t>즉</a:t>
            </a:r>
            <a:r>
              <a:rPr lang="en-US" altLang="ko-KR" sz="1100" dirty="0"/>
              <a:t>, </a:t>
            </a:r>
            <a:r>
              <a:rPr lang="ko-KR" altLang="en-US" sz="1100" dirty="0"/>
              <a:t>밝은 칸</a:t>
            </a:r>
            <a:r>
              <a:rPr lang="en-US" altLang="ko-KR" sz="1100" dirty="0"/>
              <a:t>, </a:t>
            </a:r>
            <a:r>
              <a:rPr lang="ko-KR" altLang="en-US" sz="1100" dirty="0"/>
              <a:t>어두운 칸의 반복 형태로 체스판이 만들어진다</a:t>
            </a:r>
            <a:r>
              <a:rPr lang="en-US" altLang="ko-KR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canvas.create_rectangle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x1, y1, x2, y2,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fill=color,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outline=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"black"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: Canvas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위에 사각형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(Rectangle)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을 그린다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en-US" altLang="ko-KR" dirty="0"/>
              <a:t>fill=color</a:t>
            </a:r>
            <a:r>
              <a:rPr lang="ko-KR" altLang="en-US" dirty="0"/>
              <a:t>는 칸 내부 색상을 </a:t>
            </a:r>
            <a:r>
              <a:rPr lang="en-US" altLang="ko-KR" dirty="0"/>
              <a:t>outline="black“</a:t>
            </a:r>
            <a:r>
              <a:rPr lang="ko-KR" altLang="en-US" dirty="0"/>
              <a:t>은</a:t>
            </a:r>
            <a:r>
              <a:rPr lang="en-US" altLang="ko-KR" dirty="0"/>
              <a:t> </a:t>
            </a:r>
            <a:r>
              <a:rPr lang="ko-KR" altLang="en-US" dirty="0"/>
              <a:t>칸 테두리 색상을 의미한다</a:t>
            </a:r>
            <a:r>
              <a:rPr lang="en-US" altLang="ko-KR" dirty="0"/>
              <a:t>. </a:t>
            </a:r>
            <a:r>
              <a:rPr lang="ko-KR" altLang="en-US" dirty="0"/>
              <a:t>사각형 하나가 체스판의 한 칸</a:t>
            </a:r>
            <a:r>
              <a:rPr lang="en-US" altLang="ko-KR" dirty="0"/>
              <a:t>(Square)</a:t>
            </a:r>
            <a:r>
              <a:rPr lang="ko-KR" altLang="en-US" dirty="0"/>
              <a:t>이 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(5) </a:t>
            </a:r>
            <a:r>
              <a:rPr lang="ko-KR" altLang="en-US" dirty="0"/>
              <a:t>체스 말 표시하기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앞 단계에서는 </a:t>
            </a:r>
            <a:r>
              <a:rPr lang="en-US" altLang="ko-KR" dirty="0"/>
              <a:t>Canvas </a:t>
            </a:r>
            <a:r>
              <a:rPr lang="ko-KR" altLang="en-US" dirty="0"/>
              <a:t>위에 </a:t>
            </a:r>
            <a:r>
              <a:rPr lang="en-US" altLang="ko-KR" dirty="0"/>
              <a:t>8×8 </a:t>
            </a:r>
            <a:r>
              <a:rPr lang="ko-KR" altLang="en-US" dirty="0" err="1"/>
              <a:t>체스판</a:t>
            </a:r>
            <a:r>
              <a:rPr lang="ko-KR" altLang="en-US" dirty="0"/>
              <a:t> 칸을 그렸다</a:t>
            </a:r>
            <a:r>
              <a:rPr lang="en-US" altLang="ko-KR" dirty="0"/>
              <a:t>. </a:t>
            </a:r>
            <a:r>
              <a:rPr lang="ko-KR" altLang="en-US" dirty="0"/>
              <a:t>이번 단계에서는 각 칸에 체스 말</a:t>
            </a:r>
            <a:r>
              <a:rPr lang="en-US" altLang="ko-KR" dirty="0"/>
              <a:t>(Piece)</a:t>
            </a:r>
            <a:r>
              <a:rPr lang="ko-KR" altLang="en-US" dirty="0"/>
              <a:t>을 표시한다</a:t>
            </a:r>
            <a:r>
              <a:rPr lang="en-US" altLang="ko-KR" dirty="0"/>
              <a:t>. python-chess</a:t>
            </a:r>
            <a:r>
              <a:rPr lang="ko-KR" altLang="en-US" dirty="0"/>
              <a:t>의 </a:t>
            </a:r>
            <a:r>
              <a:rPr lang="en-US" altLang="ko-KR" dirty="0"/>
              <a:t>Board </a:t>
            </a:r>
            <a:r>
              <a:rPr lang="ko-KR" altLang="en-US" dirty="0"/>
              <a:t>객체는 현재 체스 말의 위치를 알고 있다</a:t>
            </a:r>
            <a:r>
              <a:rPr lang="en-US" altLang="ko-KR" dirty="0"/>
              <a:t>. </a:t>
            </a:r>
            <a:r>
              <a:rPr lang="ko-KR" altLang="en-US" dirty="0"/>
              <a:t>따라서 각 칸을 확인하면서 그 위치에 말이 있으면 </a:t>
            </a:r>
            <a:r>
              <a:rPr lang="en-US" altLang="ko-KR" dirty="0"/>
              <a:t>Canvas </a:t>
            </a:r>
            <a:r>
              <a:rPr lang="ko-KR" altLang="en-US" dirty="0"/>
              <a:t>위에 해당 말 기호를 출력하면 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이번 단계에서는 체스 말 기호 설정</a:t>
            </a:r>
            <a:r>
              <a:rPr lang="en-US" altLang="ko-KR" dirty="0"/>
              <a:t>, </a:t>
            </a:r>
            <a:r>
              <a:rPr lang="ko-KR" altLang="en-US" dirty="0"/>
              <a:t>각 칸의 체스 좌표 변환</a:t>
            </a:r>
            <a:r>
              <a:rPr lang="en-US" altLang="ko-KR" dirty="0"/>
              <a:t>, </a:t>
            </a:r>
            <a:r>
              <a:rPr lang="ko-KR" altLang="en-US" dirty="0"/>
              <a:t>해당 위치의 말 확인</a:t>
            </a:r>
            <a:r>
              <a:rPr lang="en-US" altLang="ko-KR" dirty="0"/>
              <a:t>, Canvas </a:t>
            </a:r>
            <a:r>
              <a:rPr lang="ko-KR" altLang="en-US" dirty="0"/>
              <a:t>위에 체스 말 출력 기능을 구현한다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en-US" b="1" dirty="0"/>
              <a:t>예제 코드 작성</a:t>
            </a:r>
            <a:r>
              <a:rPr lang="en-US" altLang="ko-KR" b="1" dirty="0"/>
              <a:t> 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5BB6B8-ACBD-3DE5-7264-8AF6067CE875}"/>
              </a:ext>
            </a:extLst>
          </p:cNvPr>
          <p:cNvSpPr txBox="1"/>
          <p:nvPr/>
        </p:nvSpPr>
        <p:spPr>
          <a:xfrm>
            <a:off x="1932146" y="7576720"/>
            <a:ext cx="3378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chess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tk.Tk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root.title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i="0" u="none" strike="noStrike" dirty="0" err="1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 Chess"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chess.Board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670612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2CCFE-12D0-3B45-9870-D45D0AF11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BE1E99B-1FA5-3157-34AC-7A2DA5CFF113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GUI </a:t>
            </a:r>
            <a:r>
              <a:rPr lang="ko-KR" altLang="en-US" sz="1200" dirty="0"/>
              <a:t>기반 체스 프로그램 동작 과정</a:t>
            </a:r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8A648B85-E668-D258-11C0-B7194FE5A1C5}"/>
              </a:ext>
            </a:extLst>
          </p:cNvPr>
          <p:cNvSpPr txBox="1">
            <a:spLocks/>
          </p:cNvSpPr>
          <p:nvPr/>
        </p:nvSpPr>
        <p:spPr>
          <a:xfrm>
            <a:off x="1009677" y="1076960"/>
            <a:ext cx="5076798" cy="772160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 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                                        [</a:t>
            </a:r>
            <a:r>
              <a:rPr lang="ko-KR" altLang="en-US" b="1" dirty="0"/>
              <a:t>코드</a:t>
            </a:r>
            <a:r>
              <a:rPr lang="en-US" altLang="ko-KR" b="1" dirty="0"/>
              <a:t> </a:t>
            </a:r>
            <a:r>
              <a:rPr lang="ko-KR" altLang="en-US" b="1" dirty="0"/>
              <a:t>실행</a:t>
            </a:r>
            <a:r>
              <a:rPr lang="en-US" altLang="ko-KR" b="1" dirty="0"/>
              <a:t> </a:t>
            </a:r>
            <a:r>
              <a:rPr lang="ko-KR" altLang="en-US" b="1" dirty="0"/>
              <a:t>결과</a:t>
            </a:r>
            <a:r>
              <a:rPr lang="en-US" altLang="ko-KR" b="1" dirty="0"/>
              <a:t>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938BA0-82A7-FE2B-BE47-E1909195A98B}"/>
              </a:ext>
            </a:extLst>
          </p:cNvPr>
          <p:cNvSpPr txBox="1"/>
          <p:nvPr/>
        </p:nvSpPr>
        <p:spPr>
          <a:xfrm>
            <a:off x="1107440" y="1089998"/>
            <a:ext cx="4867275" cy="718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72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board_pixel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canvas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tk.Canvas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root,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width=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board_pixel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height=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board_pixel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canvas.pack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light_color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"#F0D9B5"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dark_color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"#B58863"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piece_symbols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{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"♙"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"N"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"♘"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"♗"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"♖"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"Q"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"♕"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"K"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"♔"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"♟"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"n"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"♞"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"♝"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"♜"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"q"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"♛"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"k"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"♚"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row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col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x1 = col *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y1 = row *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x2 = x1 +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y2 = y1 +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color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light_color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(row + col) %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dark_color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canvas.create_rectangle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x1, y1, x2, y2,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fill=color,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outline=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"black"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square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chess.square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(col,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- row)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piece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board.piece_at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(square)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piece: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symbol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piece_symbols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piece.symbol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()]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canvas.create_text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(x1 + x2) //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(y1 + y2) //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text=symbol,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font=(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"Arial"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34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root.mainloop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endParaRPr lang="en-US" altLang="ko-KR" sz="1100" dirty="0">
              <a:solidFill>
                <a:srgbClr val="3C3836"/>
              </a:solidFill>
              <a:latin typeface="Consolas" panose="020B0609020204030204" pitchFamily="49" charset="0"/>
            </a:endParaRPr>
          </a:p>
          <a:p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endParaRPr lang="ko-KR" altLang="en-US" sz="11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FADFC4-4F2F-5DC5-E590-46B63C7F6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744" y="6756400"/>
            <a:ext cx="1725932" cy="180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1490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13217-EDE3-B040-7BD9-FB7978AA9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787A2-F22D-AD79-EFEB-131716DE4B98}"/>
              </a:ext>
            </a:extLst>
          </p:cNvPr>
          <p:cNvSpPr txBox="1">
            <a:spLocks/>
          </p:cNvSpPr>
          <p:nvPr/>
        </p:nvSpPr>
        <p:spPr>
          <a:xfrm>
            <a:off x="689208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GUI </a:t>
            </a:r>
            <a:r>
              <a:rPr lang="ko-KR" altLang="en-US" sz="1200" dirty="0"/>
              <a:t>기반 체스 프로그램 동작 과정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4608D380-FAC6-23E0-BF71-7C8054F7E3C6}"/>
              </a:ext>
            </a:extLst>
          </p:cNvPr>
          <p:cNvSpPr txBox="1">
            <a:spLocks/>
          </p:cNvSpPr>
          <p:nvPr/>
        </p:nvSpPr>
        <p:spPr>
          <a:xfrm>
            <a:off x="689208" y="1135380"/>
            <a:ext cx="4984284" cy="776477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piece_symbols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{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"♙"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"N"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"♘"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"♗"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"♖"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"Q"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"♕"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"K"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"♔"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"♟"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"n"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"♞"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"♝"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"♜"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"q"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"♛"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"k"</a:t>
            </a:r>
            <a:r>
              <a:rPr lang="en-US" altLang="ko-KR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"♚"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}: </a:t>
            </a:r>
            <a:r>
              <a:rPr lang="ko-KR" altLang="en-US" sz="1100" dirty="0">
                <a:solidFill>
                  <a:srgbClr val="3C3836"/>
                </a:solidFill>
                <a:latin typeface="Consolas" panose="020B0609020204030204" pitchFamily="49" charset="0"/>
              </a:rPr>
              <a:t>체스 말의 문자 기호를 저장한 </a:t>
            </a:r>
            <a:r>
              <a:rPr lang="ko-KR" altLang="en-US" sz="1100" dirty="0" err="1">
                <a:solidFill>
                  <a:srgbClr val="3C3836"/>
                </a:solidFill>
                <a:latin typeface="Consolas" panose="020B0609020204030204" pitchFamily="49" charset="0"/>
              </a:rPr>
              <a:t>딕셔너리이다</a:t>
            </a:r>
            <a:r>
              <a:rPr lang="en-US" altLang="ko-KR" sz="1100" dirty="0"/>
              <a:t>. python-chess</a:t>
            </a:r>
            <a:r>
              <a:rPr lang="ko-KR" altLang="en-US" sz="1100" dirty="0"/>
              <a:t>에서는 말의 종류를 문자로 표현한다</a:t>
            </a:r>
            <a:r>
              <a:rPr lang="en-US" altLang="ko-KR" sz="11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 = chess.square(col, </a:t>
            </a:r>
            <a:r>
              <a:rPr lang="it-IT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it-IT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- row) </a:t>
            </a:r>
            <a:r>
              <a:rPr lang="en-US" altLang="ko-KR" sz="1100" dirty="0">
                <a:solidFill>
                  <a:srgbClr val="3C3836"/>
                </a:solidFill>
                <a:latin typeface="Consolas" panose="020B0609020204030204" pitchFamily="49" charset="0"/>
              </a:rPr>
              <a:t>: </a:t>
            </a:r>
            <a:r>
              <a:rPr lang="ko-KR" altLang="en-US" sz="1100" dirty="0">
                <a:solidFill>
                  <a:srgbClr val="3C3836"/>
                </a:solidFill>
                <a:latin typeface="Consolas" panose="020B0609020204030204" pitchFamily="49" charset="0"/>
              </a:rPr>
              <a:t>화면의 행과 열을 </a:t>
            </a:r>
            <a:r>
              <a:rPr lang="en-US" altLang="ko-KR" sz="1100" dirty="0">
                <a:solidFill>
                  <a:srgbClr val="3C3836"/>
                </a:solidFill>
                <a:latin typeface="Consolas" panose="020B0609020204030204" pitchFamily="49" charset="0"/>
              </a:rPr>
              <a:t>python-chess</a:t>
            </a:r>
            <a:r>
              <a:rPr lang="ko-KR" altLang="en-US" sz="1100" dirty="0">
                <a:solidFill>
                  <a:srgbClr val="3C3836"/>
                </a:solidFill>
                <a:latin typeface="Consolas" panose="020B0609020204030204" pitchFamily="49" charset="0"/>
              </a:rPr>
              <a:t>에서 사용하는 체스 좌표로 변환한다</a:t>
            </a:r>
            <a:r>
              <a:rPr lang="en-US" altLang="ko-KR" sz="1100" dirty="0"/>
              <a:t>. Canvas</a:t>
            </a:r>
            <a:r>
              <a:rPr lang="ko-KR" altLang="en-US" sz="1100" dirty="0"/>
              <a:t>의 좌표는 위에서 아래로 증가하지만</a:t>
            </a:r>
            <a:r>
              <a:rPr lang="en-US" altLang="ko-KR" sz="1100" dirty="0"/>
              <a:t>, </a:t>
            </a:r>
            <a:r>
              <a:rPr lang="ko-KR" altLang="en-US" sz="1100" dirty="0"/>
              <a:t>체스 좌표는 아래쪽이 </a:t>
            </a:r>
            <a:r>
              <a:rPr lang="en-US" altLang="ko-KR" sz="1100" dirty="0"/>
              <a:t>1</a:t>
            </a:r>
            <a:r>
              <a:rPr lang="ko-KR" altLang="en-US" sz="1100" dirty="0"/>
              <a:t>번 랭크이고 위쪽이 </a:t>
            </a:r>
            <a:r>
              <a:rPr lang="en-US" altLang="ko-KR" sz="1100" dirty="0"/>
              <a:t>8</a:t>
            </a:r>
            <a:r>
              <a:rPr lang="ko-KR" altLang="en-US" sz="1100" dirty="0"/>
              <a:t>번 랭크이다</a:t>
            </a:r>
            <a:r>
              <a:rPr lang="en-US" altLang="ko-KR" sz="1100" dirty="0"/>
              <a:t>. </a:t>
            </a:r>
            <a:r>
              <a:rPr lang="ko-KR" altLang="en-US" sz="1100" dirty="0"/>
              <a:t>그래서 </a:t>
            </a:r>
            <a:r>
              <a:rPr lang="en-US" altLang="ko-KR" sz="1100" dirty="0"/>
              <a:t>7 - row</a:t>
            </a:r>
            <a:r>
              <a:rPr lang="ko-KR" altLang="en-US" sz="1100" dirty="0"/>
              <a:t>를 사용하여 방향을 맞춘다</a:t>
            </a:r>
            <a:r>
              <a:rPr lang="en-US" altLang="ko-KR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piece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board.piece_at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(square) : </a:t>
            </a:r>
            <a:r>
              <a:rPr lang="ko-KR" altLang="en-US" sz="1100" dirty="0">
                <a:solidFill>
                  <a:srgbClr val="3C3836"/>
                </a:solidFill>
                <a:latin typeface="Consolas" panose="020B0609020204030204" pitchFamily="49" charset="0"/>
              </a:rPr>
              <a:t>해당 칸</a:t>
            </a:r>
            <a:r>
              <a:rPr lang="en-US" altLang="ko-KR" sz="1100" dirty="0">
                <a:solidFill>
                  <a:srgbClr val="3C3836"/>
                </a:solidFill>
                <a:latin typeface="Consolas" panose="020B0609020204030204" pitchFamily="49" charset="0"/>
              </a:rPr>
              <a:t>(square)</a:t>
            </a:r>
            <a:r>
              <a:rPr lang="ko-KR" altLang="en-US" sz="1100" dirty="0">
                <a:solidFill>
                  <a:srgbClr val="3C3836"/>
                </a:solidFill>
                <a:latin typeface="Consolas" panose="020B0609020204030204" pitchFamily="49" charset="0"/>
              </a:rPr>
              <a:t>에 체스 말이 있는지 확인한다</a:t>
            </a:r>
            <a:r>
              <a:rPr lang="en-US" altLang="ko-KR" sz="1100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sz="1100" dirty="0">
                <a:solidFill>
                  <a:srgbClr val="3C3836"/>
                </a:solidFill>
                <a:latin typeface="Consolas" panose="020B0609020204030204" pitchFamily="49" charset="0"/>
              </a:rPr>
              <a:t>말이 있으면 </a:t>
            </a:r>
            <a:r>
              <a:rPr lang="en-US" altLang="ko-KR" sz="1100" dirty="0">
                <a:solidFill>
                  <a:srgbClr val="3C3836"/>
                </a:solidFill>
                <a:latin typeface="Consolas" panose="020B0609020204030204" pitchFamily="49" charset="0"/>
              </a:rPr>
              <a:t>Piece </a:t>
            </a:r>
            <a:r>
              <a:rPr lang="ko-KR" altLang="en-US" sz="1100" dirty="0">
                <a:solidFill>
                  <a:srgbClr val="3C3836"/>
                </a:solidFill>
                <a:latin typeface="Consolas" panose="020B0609020204030204" pitchFamily="49" charset="0"/>
              </a:rPr>
              <a:t>객체가 반환되고</a:t>
            </a:r>
            <a:r>
              <a:rPr lang="en-US" altLang="ko-KR" sz="1100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1100" dirty="0">
                <a:solidFill>
                  <a:srgbClr val="3C3836"/>
                </a:solidFill>
                <a:latin typeface="Consolas" panose="020B0609020204030204" pitchFamily="49" charset="0"/>
              </a:rPr>
              <a:t>말이 없으면 </a:t>
            </a:r>
            <a:r>
              <a:rPr lang="en-US" altLang="ko-KR" sz="1100" dirty="0">
                <a:solidFill>
                  <a:srgbClr val="3C3836"/>
                </a:solidFill>
                <a:latin typeface="Consolas" panose="020B0609020204030204" pitchFamily="49" charset="0"/>
              </a:rPr>
              <a:t>None</a:t>
            </a:r>
            <a:r>
              <a:rPr lang="ko-KR" altLang="en-US" sz="1100" dirty="0">
                <a:solidFill>
                  <a:srgbClr val="3C3836"/>
                </a:solidFill>
                <a:latin typeface="Consolas" panose="020B0609020204030204" pitchFamily="49" charset="0"/>
              </a:rPr>
              <a:t>이 반환된다</a:t>
            </a:r>
            <a:r>
              <a:rPr lang="en-US" altLang="ko-KR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piece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: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현재 칸에 말이 있는 경우에만 말 기호를 출력한다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symbol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piece_symbols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piece.symbol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()] :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현재 말의 문자 기호를 가져온 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화면에 출력할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Unicode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체스 기호로 변환한다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예를 들어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 P → ♙, k → ♚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처럼 변환된다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err="1"/>
              <a:t>canvas.create_text</a:t>
            </a:r>
            <a:r>
              <a:rPr lang="en-US" altLang="ko-KR" dirty="0"/>
              <a:t>(</a:t>
            </a:r>
            <a:br>
              <a:rPr lang="en-US" altLang="ko-KR" dirty="0"/>
            </a:br>
            <a:r>
              <a:rPr lang="en-US" altLang="ko-KR" dirty="0"/>
              <a:t>(x1 + x2) // 2,</a:t>
            </a:r>
            <a:br>
              <a:rPr lang="en-US" altLang="ko-KR" dirty="0"/>
            </a:br>
            <a:r>
              <a:rPr lang="en-US" altLang="ko-KR" dirty="0"/>
              <a:t>(y1 + y2) // 2,</a:t>
            </a:r>
            <a:br>
              <a:rPr lang="en-US" altLang="ko-KR" dirty="0"/>
            </a:br>
            <a:r>
              <a:rPr lang="en-US" altLang="ko-KR" dirty="0"/>
              <a:t>text=symbol,</a:t>
            </a:r>
            <a:br>
              <a:rPr lang="en-US" altLang="ko-KR" dirty="0"/>
            </a:br>
            <a:r>
              <a:rPr lang="en-US" altLang="ko-KR" dirty="0"/>
              <a:t>font=("Arial", 34)</a:t>
            </a:r>
            <a:br>
              <a:rPr lang="en-US" altLang="ko-KR" dirty="0"/>
            </a:br>
            <a:r>
              <a:rPr lang="en-US" altLang="ko-KR" dirty="0"/>
              <a:t>)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: Canvas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위에 체스 말 기호를 출력한다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(x1 + x2) // 2, (y1 + y2) // 2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는 각 칸의 중앙 위치를 의미한다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즉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체스 말이 각 칸의 가운데에 표시된다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r>
              <a:rPr lang="en-US" altLang="ko-KR" dirty="0"/>
              <a:t>(6) </a:t>
            </a:r>
            <a:r>
              <a:rPr lang="ko-KR" altLang="en-US" dirty="0"/>
              <a:t>마우스 클릭 이벤트 처리하기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앞 단계에서는 </a:t>
            </a:r>
            <a:r>
              <a:rPr lang="en-US" altLang="ko-KR" dirty="0"/>
              <a:t>Canvas </a:t>
            </a:r>
            <a:r>
              <a:rPr lang="ko-KR" altLang="en-US" dirty="0"/>
              <a:t>위에 체스 말</a:t>
            </a:r>
            <a:r>
              <a:rPr lang="en-US" altLang="ko-KR" dirty="0"/>
              <a:t>(Piece)</a:t>
            </a:r>
            <a:r>
              <a:rPr lang="ko-KR" altLang="en-US" dirty="0"/>
              <a:t>을 출력하였다</a:t>
            </a:r>
            <a:r>
              <a:rPr lang="en-US" altLang="ko-KR" dirty="0"/>
              <a:t>. </a:t>
            </a:r>
            <a:r>
              <a:rPr lang="ko-KR" altLang="en-US" dirty="0"/>
              <a:t>이번 단계에서는 사용자의 마우스 클릭 입력을 처리하여 어떤 칸을 선택했는지 확인한다</a:t>
            </a:r>
            <a:r>
              <a:rPr lang="en-US" altLang="ko-KR" dirty="0"/>
              <a:t>. GUI </a:t>
            </a:r>
            <a:r>
              <a:rPr lang="ko-KR" altLang="en-US" dirty="0"/>
              <a:t>체스 프로그램에서는 키보드 문자열 입력 대신 마우스 클릭</a:t>
            </a:r>
            <a:r>
              <a:rPr lang="en-US" altLang="ko-KR" dirty="0"/>
              <a:t>(Event)</a:t>
            </a:r>
            <a:r>
              <a:rPr lang="ko-KR" altLang="en-US" dirty="0"/>
              <a:t>을 이용하여 말을 선택하고 이동한다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15170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F8504-E6EB-0E08-41E8-3C0C4F9A8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854B77C-7867-2995-9A26-56199CCA582B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GUI </a:t>
            </a:r>
            <a:r>
              <a:rPr lang="ko-KR" altLang="en-US" sz="1200" dirty="0"/>
              <a:t>기반 체스 프로그램 동작 과정</a:t>
            </a:r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3D04CFC0-6E7A-5810-E0F1-D8DA0739F072}"/>
              </a:ext>
            </a:extLst>
          </p:cNvPr>
          <p:cNvSpPr txBox="1">
            <a:spLocks/>
          </p:cNvSpPr>
          <p:nvPr/>
        </p:nvSpPr>
        <p:spPr>
          <a:xfrm>
            <a:off x="1009677" y="1076960"/>
            <a:ext cx="5076798" cy="772160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 err="1"/>
              <a:t>Tkinter</a:t>
            </a:r>
            <a:r>
              <a:rPr lang="ko-KR" altLang="en-US" dirty="0"/>
              <a:t>에서는 마우스 클릭과 같은 사용자 입력을 이벤트</a:t>
            </a:r>
            <a:r>
              <a:rPr lang="en-US" altLang="ko-KR" dirty="0"/>
              <a:t>(Event)</a:t>
            </a:r>
            <a:r>
              <a:rPr lang="ko-KR" altLang="en-US" dirty="0"/>
              <a:t>라고 하며</a:t>
            </a:r>
            <a:r>
              <a:rPr lang="en-US" altLang="ko-KR" dirty="0"/>
              <a:t>, </a:t>
            </a:r>
            <a:r>
              <a:rPr lang="ko-KR" altLang="en-US" dirty="0"/>
              <a:t>프로그램은 이러한 이벤트가 발생했을 때 특정 함수를 실행하도록 구성된다</a:t>
            </a:r>
            <a:r>
              <a:rPr lang="en-US" altLang="ko-KR" dirty="0"/>
              <a:t>. </a:t>
            </a:r>
            <a:r>
              <a:rPr lang="ko-KR" altLang="en-US" dirty="0"/>
              <a:t>이를 이벤트 기반 프로그래밍</a:t>
            </a:r>
            <a:r>
              <a:rPr lang="en-US" altLang="ko-KR" dirty="0"/>
              <a:t>(Event-Driven Programming)</a:t>
            </a:r>
            <a:r>
              <a:rPr lang="ko-KR" altLang="en-US" dirty="0"/>
              <a:t>이라고 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이번 단계에서는 마우스 클릭 이벤트 연결</a:t>
            </a:r>
            <a:r>
              <a:rPr lang="en-US" altLang="ko-KR" dirty="0"/>
              <a:t>, </a:t>
            </a:r>
            <a:r>
              <a:rPr lang="ko-KR" altLang="en-US" dirty="0"/>
              <a:t>클릭 좌표 얻기</a:t>
            </a:r>
            <a:r>
              <a:rPr lang="en-US" altLang="ko-KR" dirty="0"/>
              <a:t>, </a:t>
            </a:r>
            <a:r>
              <a:rPr lang="ko-KR" altLang="en-US" dirty="0"/>
              <a:t>클릭한 체스 칸 계산</a:t>
            </a:r>
            <a:r>
              <a:rPr lang="en-US" altLang="ko-KR" dirty="0"/>
              <a:t>, </a:t>
            </a:r>
            <a:r>
              <a:rPr lang="ko-KR" altLang="en-US" dirty="0"/>
              <a:t>선택한 말 확인 기능을 구현한다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en-US" b="1" dirty="0"/>
              <a:t>예제 코드 작성</a:t>
            </a:r>
            <a:r>
              <a:rPr lang="en-US" altLang="ko-KR" b="1" dirty="0"/>
              <a:t> 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C2D26D-A857-B381-9889-E384D6AD890C}"/>
              </a:ext>
            </a:extLst>
          </p:cNvPr>
          <p:cNvSpPr txBox="1"/>
          <p:nvPr/>
        </p:nvSpPr>
        <p:spPr>
          <a:xfrm>
            <a:off x="967039" y="2762677"/>
            <a:ext cx="5162074" cy="598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chess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tk.Tk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root.title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 i="0" u="none" strike="noStrike" dirty="0" err="1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 Chess"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chess.Board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72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board_pixel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</a:p>
          <a:p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canvas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tk.Canvas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root,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width=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board_pixel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height=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board_pixel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canvas.pack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light_color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"#F0D9B5"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dark_color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"#B58863"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piece_symbols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 {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"♙"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"N"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"♘"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"♗"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"♖"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"Q"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"♕"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"K"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"♔"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"♟"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"n"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"♞"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"♝"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"♜"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"q"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"♛"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"k"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"♚"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row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col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range(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x1 = col *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 y1 = row *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x2 = x1 +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y2 = y1 +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color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light_color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(row + col) %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dark_color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canvas.create_rectangle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x1, y1, x2, y2,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fill=color,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outline=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"black"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)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2050033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9DF38-573A-0BC1-34B7-625A23D1C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CD7C8-5746-D457-48A3-F0FCD0F484CD}"/>
              </a:ext>
            </a:extLst>
          </p:cNvPr>
          <p:cNvSpPr txBox="1">
            <a:spLocks/>
          </p:cNvSpPr>
          <p:nvPr/>
        </p:nvSpPr>
        <p:spPr>
          <a:xfrm>
            <a:off x="689208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GUI </a:t>
            </a:r>
            <a:r>
              <a:rPr lang="ko-KR" altLang="en-US" sz="1200" dirty="0"/>
              <a:t>기반 체스 프로그램 동작 과정</a:t>
            </a:r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E31F5733-211D-1B01-7891-8A36105D6110}"/>
              </a:ext>
            </a:extLst>
          </p:cNvPr>
          <p:cNvSpPr txBox="1">
            <a:spLocks/>
          </p:cNvSpPr>
          <p:nvPr/>
        </p:nvSpPr>
        <p:spPr>
          <a:xfrm>
            <a:off x="603277" y="1148080"/>
            <a:ext cx="5076798" cy="772160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코드 실행 결과</a:t>
            </a:r>
            <a:r>
              <a:rPr lang="en-US" altLang="ko-KR" b="1" dirty="0"/>
              <a:t>]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코드 설명</a:t>
            </a:r>
            <a:r>
              <a:rPr lang="en-US" altLang="ko-KR" b="1" dirty="0"/>
              <a:t>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0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on_click</a:t>
            </a:r>
            <a:r>
              <a:rPr lang="en-US" altLang="ko-KR" sz="10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(event)</a:t>
            </a:r>
            <a:r>
              <a:rPr lang="en-US" altLang="ko-KR" sz="10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마우스 클릭 이벤트가 발생했을 때 실행되는 함수이다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en-US" altLang="ko-KR" dirty="0" err="1">
                <a:solidFill>
                  <a:srgbClr val="3C3836"/>
                </a:solidFill>
                <a:latin typeface="Consolas" panose="020B0609020204030204" pitchFamily="49" charset="0"/>
              </a:rPr>
              <a:t>Tkinter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는 클릭 정보를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event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객체에 저장하여 함수로 전달한다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F8DA64-55B7-7159-355E-5049A5152D3D}"/>
              </a:ext>
            </a:extLst>
          </p:cNvPr>
          <p:cNvSpPr txBox="1"/>
          <p:nvPr/>
        </p:nvSpPr>
        <p:spPr>
          <a:xfrm>
            <a:off x="680720" y="1148080"/>
            <a:ext cx="4541520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       square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chess.square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(col,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- row)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piece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board.piece_at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(square)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piece: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symbol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piece_symbols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piece.symbol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()]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canvas.create_text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(x1 + x2) //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(y1 + y2) //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text=symbol,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    font=(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"Arial"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34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    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ko-KR" sz="1100" b="0" i="0" u="none" strike="noStrike" dirty="0" err="1">
                <a:solidFill>
                  <a:srgbClr val="076678"/>
                </a:solidFill>
                <a:effectLst/>
                <a:latin typeface="Consolas" panose="020B0609020204030204" pitchFamily="49" charset="0"/>
              </a:rPr>
              <a:t>on_click</a:t>
            </a:r>
            <a:r>
              <a:rPr lang="en-US" altLang="ko-KR" sz="1100" b="0" i="0" u="none" strike="noStrike" dirty="0">
                <a:solidFill>
                  <a:srgbClr val="B57614"/>
                </a:solidFill>
                <a:effectLst/>
                <a:latin typeface="Consolas" panose="020B0609020204030204" pitchFamily="49" charset="0"/>
              </a:rPr>
              <a:t>(event)</a:t>
            </a:r>
            <a:r>
              <a:rPr lang="en-US" altLang="ko-KR" sz="1100" b="0" i="0" u="none" strike="noStrike" dirty="0">
                <a:solidFill>
                  <a:srgbClr val="427B5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col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event.x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row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event.y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square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chess.square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(col, </a:t>
            </a:r>
            <a:r>
              <a:rPr lang="en-US" altLang="ko-KR" sz="11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- row)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piece =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board.piece_at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(square)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클릭 위치 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row, col)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piece: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선택한 말 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piece)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        print(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빈 칸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canvas.bind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"&lt;Button-1&gt;"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on_click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root.mainloop</a:t>
            </a:r>
            <a: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1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</a:br>
            <a:endParaRPr lang="ko-KR" altLang="en-US" sz="11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B5E87B8-80E7-1BC0-C42D-25A7147A1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653" y="5133786"/>
            <a:ext cx="2998788" cy="247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7015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48C0C-3985-DF0F-16BE-F8E313DA5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6723FDE-3676-1CB4-E887-CB32B82EC983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GUI </a:t>
            </a:r>
            <a:r>
              <a:rPr lang="ko-KR" altLang="en-US" sz="1200" dirty="0"/>
              <a:t>기반 체스 프로그램 동작 과정</a:t>
            </a:r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B26D065D-3C0A-A48F-CAB5-BE01F19A43AB}"/>
              </a:ext>
            </a:extLst>
          </p:cNvPr>
          <p:cNvSpPr txBox="1">
            <a:spLocks/>
          </p:cNvSpPr>
          <p:nvPr/>
        </p:nvSpPr>
        <p:spPr>
          <a:xfrm>
            <a:off x="1009677" y="1076960"/>
            <a:ext cx="5076798" cy="748939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event.x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event.y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사용자가 클릭한 마우스의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x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좌표와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y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좌표를 의미한다</a:t>
            </a:r>
            <a:r>
              <a:rPr lang="en-US" altLang="ko-KR" dirty="0"/>
              <a:t>. </a:t>
            </a:r>
            <a:r>
              <a:rPr lang="ko-KR" altLang="en-US" dirty="0"/>
              <a:t>예를 들어 </a:t>
            </a:r>
            <a:r>
              <a:rPr lang="en-US" altLang="ko-KR" dirty="0" err="1"/>
              <a:t>event.x</a:t>
            </a:r>
            <a:r>
              <a:rPr lang="en-US" altLang="ko-KR" dirty="0"/>
              <a:t> = 150, </a:t>
            </a:r>
            <a:r>
              <a:rPr lang="en-US" altLang="ko-KR" dirty="0" err="1"/>
              <a:t>event.y</a:t>
            </a:r>
            <a:r>
              <a:rPr lang="en-US" altLang="ko-KR" dirty="0"/>
              <a:t> = 300</a:t>
            </a:r>
            <a:r>
              <a:rPr lang="ko-KR" altLang="en-US" dirty="0"/>
              <a:t>이면 화면의 </a:t>
            </a:r>
            <a:r>
              <a:rPr lang="en-US" altLang="ko-KR" dirty="0"/>
              <a:t>(150, 300) </a:t>
            </a:r>
            <a:r>
              <a:rPr lang="ko-KR" altLang="en-US" dirty="0"/>
              <a:t>위치를 클릭한 것이다</a:t>
            </a:r>
            <a:r>
              <a:rPr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col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event.x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row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event.y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square_size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: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클릭한 픽셀 좌표를 체스판의 행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 err="1">
                <a:solidFill>
                  <a:srgbClr val="3C3836"/>
                </a:solidFill>
                <a:latin typeface="Consolas" panose="020B0609020204030204" pitchFamily="49" charset="0"/>
              </a:rPr>
              <a:t>roxw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),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열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(col)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위치로 변환한다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예를 들어 한 칸의 크기가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72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픽셀일 때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event. = 150, 150 // 72 = 2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이므로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2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번째 열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(column)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을 클릭한 것이다</a:t>
            </a:r>
            <a:r>
              <a:rPr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square = chess.square(col, </a:t>
            </a:r>
            <a:r>
              <a:rPr lang="it-IT" altLang="ko-KR" sz="1000" b="0" i="0" u="none" strike="noStrike" dirty="0">
                <a:solidFill>
                  <a:srgbClr val="8F3F71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it-IT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- row)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 : Canvas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좌표를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python-chess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체스 좌표로 변환한다</a:t>
            </a:r>
            <a:r>
              <a:rPr lang="en-US" altLang="ko-KR" dirty="0"/>
              <a:t>. Canvas</a:t>
            </a:r>
            <a:r>
              <a:rPr lang="ko-KR" altLang="en-US" dirty="0"/>
              <a:t>는 위쪽에서 아래로 </a:t>
            </a:r>
            <a:r>
              <a:rPr lang="en-US" altLang="ko-KR" dirty="0"/>
              <a:t>y</a:t>
            </a:r>
            <a:r>
              <a:rPr lang="ko-KR" altLang="en-US" dirty="0"/>
              <a:t>좌표가 증가하지만 체스 좌표는 아래쪽이 </a:t>
            </a:r>
            <a:r>
              <a:rPr lang="en-US" altLang="ko-KR" dirty="0"/>
              <a:t>1</a:t>
            </a:r>
            <a:r>
              <a:rPr lang="ko-KR" altLang="en-US" dirty="0"/>
              <a:t>번 랭크</a:t>
            </a:r>
            <a:r>
              <a:rPr lang="en-US" altLang="ko-KR" dirty="0"/>
              <a:t>(rank), </a:t>
            </a:r>
            <a:r>
              <a:rPr lang="ko-KR" altLang="en-US" dirty="0"/>
              <a:t>위쪽이 </a:t>
            </a:r>
            <a:r>
              <a:rPr lang="en-US" altLang="ko-KR" dirty="0"/>
              <a:t>8</a:t>
            </a:r>
            <a:r>
              <a:rPr lang="ko-KR" altLang="en-US" dirty="0"/>
              <a:t>번 랭크이므로 </a:t>
            </a:r>
            <a:r>
              <a:rPr lang="en-US" altLang="ko-KR" dirty="0"/>
              <a:t>7 - row</a:t>
            </a:r>
            <a:r>
              <a:rPr lang="ko-KR" altLang="en-US" dirty="0"/>
              <a:t>를 사용하여 방향을 맞춘다</a:t>
            </a:r>
            <a:r>
              <a:rPr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piece =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board.piece_at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(square) :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현재 클릭한 칸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(square)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에 체스 말이 있는지 확인한다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말이 존재하면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Piece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객체가 반환되고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빈 칸이면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None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이 반환된다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>
                <a:solidFill>
                  <a:srgbClr val="9D000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 piece :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클릭한 위치에 말이 있는 경우에만 실행된다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예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P →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백색 폰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, k →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흑색 킹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Q →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백색 퀸처럼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python-chess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는 말을 문자로 표현한다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canvas.bind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0" u="none" strike="noStrike" dirty="0">
                <a:solidFill>
                  <a:srgbClr val="79740E"/>
                </a:solidFill>
                <a:effectLst/>
                <a:latin typeface="Consolas" panose="020B0609020204030204" pitchFamily="49" charset="0"/>
              </a:rPr>
              <a:t>"&lt;Button-1&gt;"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i="0" u="none" strike="noStrike" dirty="0" err="1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on_click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마우스 왼쪽 버튼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(Button-1)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클릭 이벤트를 </a:t>
            </a:r>
            <a:r>
              <a:rPr lang="en-US" altLang="ko-KR" dirty="0" err="1">
                <a:solidFill>
                  <a:srgbClr val="3C3836"/>
                </a:solidFill>
                <a:latin typeface="Consolas" panose="020B0609020204030204" pitchFamily="49" charset="0"/>
              </a:rPr>
              <a:t>on_click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함수와 연결한다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즉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사용자가 체스판을 클릭하면 자동으로 </a:t>
            </a:r>
            <a:r>
              <a:rPr lang="en-US" altLang="ko-KR" dirty="0" err="1">
                <a:solidFill>
                  <a:srgbClr val="3C3836"/>
                </a:solidFill>
                <a:latin typeface="Consolas" panose="020B0609020204030204" pitchFamily="49" charset="0"/>
              </a:rPr>
              <a:t>on_click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함수가 실행된다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(7) </a:t>
            </a:r>
            <a:r>
              <a:rPr lang="ko-KR" altLang="en-US" dirty="0"/>
              <a:t>이벤트</a:t>
            </a:r>
            <a:r>
              <a:rPr lang="en-US" altLang="ko-KR" dirty="0"/>
              <a:t>(Event) </a:t>
            </a:r>
            <a:r>
              <a:rPr lang="ko-KR" altLang="en-US" dirty="0"/>
              <a:t>기반 </a:t>
            </a:r>
            <a:r>
              <a:rPr lang="en-US" altLang="ko-KR" dirty="0"/>
              <a:t>GUI </a:t>
            </a:r>
            <a:r>
              <a:rPr lang="ko-KR" altLang="en-US" dirty="0"/>
              <a:t>체스 프로그램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GUI </a:t>
            </a:r>
            <a:r>
              <a:rPr lang="ko-KR" altLang="en-US" dirty="0"/>
              <a:t>프로그램은 콘솔 프로그램처럼 코드가 위에서 아래로 한 번만 실행되는 구조가 아니다</a:t>
            </a:r>
            <a:r>
              <a:rPr lang="en-US" altLang="ko-KR" dirty="0"/>
              <a:t>. </a:t>
            </a:r>
            <a:r>
              <a:rPr lang="ko-KR" altLang="en-US" dirty="0"/>
              <a:t>사용자가 마우스를 클릭하거나 키보드를 입력하면 이벤트</a:t>
            </a:r>
            <a:r>
              <a:rPr lang="en-US" altLang="ko-KR" dirty="0"/>
              <a:t>(Event)</a:t>
            </a:r>
            <a:r>
              <a:rPr lang="ko-KR" altLang="en-US" dirty="0"/>
              <a:t>가 발생하고</a:t>
            </a:r>
            <a:r>
              <a:rPr lang="en-US" altLang="ko-KR" dirty="0"/>
              <a:t>, </a:t>
            </a:r>
            <a:r>
              <a:rPr lang="ko-KR" altLang="en-US" dirty="0"/>
              <a:t>프로그램은 해당 이벤트에 연결된 함수</a:t>
            </a:r>
            <a:r>
              <a:rPr lang="en-US" altLang="ko-KR" dirty="0"/>
              <a:t>, </a:t>
            </a:r>
            <a:r>
              <a:rPr lang="ko-KR" altLang="en-US" dirty="0"/>
              <a:t>즉 이벤트 </a:t>
            </a:r>
            <a:r>
              <a:rPr lang="ko-KR" altLang="en-US" dirty="0" err="1"/>
              <a:t>핸들러</a:t>
            </a:r>
            <a:r>
              <a:rPr lang="en-US" altLang="ko-KR" dirty="0"/>
              <a:t>(Handler)</a:t>
            </a:r>
            <a:r>
              <a:rPr lang="ko-KR" altLang="en-US" dirty="0"/>
              <a:t>를 실행한다</a:t>
            </a:r>
            <a:r>
              <a:rPr lang="en-US" altLang="ko-KR" dirty="0"/>
              <a:t>. GUI </a:t>
            </a:r>
            <a:r>
              <a:rPr lang="ko-KR" altLang="en-US" dirty="0"/>
              <a:t>체스 프로그램에서는 사용자가 체스판을 클릭하면 클릭 위치를 계산하고</a:t>
            </a:r>
            <a:r>
              <a:rPr lang="en-US" altLang="ko-KR" dirty="0"/>
              <a:t>, </a:t>
            </a:r>
            <a:r>
              <a:rPr lang="ko-KR" altLang="en-US" dirty="0"/>
              <a:t>현재 체스 상태</a:t>
            </a:r>
            <a:r>
              <a:rPr lang="en-US" altLang="ko-KR" dirty="0"/>
              <a:t>(State)</a:t>
            </a:r>
            <a:r>
              <a:rPr lang="ko-KR" altLang="en-US" dirty="0"/>
              <a:t>를 확인한 뒤</a:t>
            </a:r>
            <a:r>
              <a:rPr lang="en-US" altLang="ko-KR" dirty="0"/>
              <a:t>, </a:t>
            </a:r>
            <a:r>
              <a:rPr lang="ko-KR" altLang="en-US" dirty="0"/>
              <a:t>선택된 말이나 이동 가능한 칸을 화면에 다시 출력</a:t>
            </a:r>
            <a:r>
              <a:rPr lang="en-US" altLang="ko-KR" dirty="0"/>
              <a:t>(Rendering)</a:t>
            </a:r>
            <a:r>
              <a:rPr lang="ko-KR" altLang="en-US" dirty="0"/>
              <a:t>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이 과정에서 프로그램은 사용자의 입력을 반복적으로 기다리며</a:t>
            </a:r>
            <a:r>
              <a:rPr lang="en-US" altLang="ko-KR" dirty="0"/>
              <a:t>, </a:t>
            </a:r>
            <a:r>
              <a:rPr lang="ko-KR" altLang="en-US" dirty="0"/>
              <a:t>이벤트가 발생할 때마다 상태</a:t>
            </a:r>
            <a:r>
              <a:rPr lang="en-US" altLang="ko-KR" dirty="0"/>
              <a:t>(State)</a:t>
            </a:r>
            <a:r>
              <a:rPr lang="ko-KR" altLang="en-US" dirty="0"/>
              <a:t>를 변경하고 화면을 다시 갱신한다</a:t>
            </a:r>
            <a:r>
              <a:rPr lang="en-US" altLang="ko-KR" dirty="0"/>
              <a:t>. </a:t>
            </a:r>
            <a:r>
              <a:rPr lang="ko-KR" altLang="en-US" dirty="0"/>
              <a:t>이러한 구조를 이벤트 기반</a:t>
            </a:r>
            <a:r>
              <a:rPr lang="en-US" altLang="ko-KR" dirty="0"/>
              <a:t>(Event-Driven) </a:t>
            </a:r>
            <a:r>
              <a:rPr lang="ko-KR" altLang="en-US" dirty="0"/>
              <a:t>구조라고 한다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24434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6E1BE-5780-672B-57E4-8C3BB2282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F7B31-038F-6FB6-9424-CEFDBD456086}"/>
              </a:ext>
            </a:extLst>
          </p:cNvPr>
          <p:cNvSpPr txBox="1">
            <a:spLocks/>
          </p:cNvSpPr>
          <p:nvPr/>
        </p:nvSpPr>
        <p:spPr>
          <a:xfrm>
            <a:off x="689208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GUI </a:t>
            </a:r>
            <a:r>
              <a:rPr lang="ko-KR" altLang="en-US" sz="1200" dirty="0"/>
              <a:t>기반 체스 프로그램 동작 과정</a:t>
            </a:r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9AF322F6-6F12-C447-DA5E-DFB4F51609BF}"/>
              </a:ext>
            </a:extLst>
          </p:cNvPr>
          <p:cNvSpPr txBox="1">
            <a:spLocks/>
          </p:cNvSpPr>
          <p:nvPr/>
        </p:nvSpPr>
        <p:spPr>
          <a:xfrm>
            <a:off x="603277" y="1148080"/>
            <a:ext cx="5076798" cy="772160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ko-KR" altLang="ko-KR" dirty="0"/>
              <a:t>이번 예제에서는 </a:t>
            </a:r>
            <a:r>
              <a:rPr lang="ko-KR" altLang="ko-KR" dirty="0" err="1"/>
              <a:t>Tkinter의</a:t>
            </a:r>
            <a:r>
              <a:rPr lang="ko-KR" altLang="ko-KR" dirty="0"/>
              <a:t> 이벤트(</a:t>
            </a:r>
            <a:r>
              <a:rPr lang="ko-KR" altLang="ko-KR" dirty="0" err="1"/>
              <a:t>Event</a:t>
            </a:r>
            <a:r>
              <a:rPr lang="ko-KR" altLang="ko-KR" dirty="0"/>
              <a:t>) 시스템을 이용하여 체스판을 클릭하면 말을 선택하고 이동할 수 있는 GUI 체스 프로그램을 구현한다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ko-KR" altLang="en-US" dirty="0"/>
              <a:t>구현할 주요 기능은 다음과 같다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마우스 클릭 이벤트 연결</a:t>
            </a:r>
            <a:endParaRPr lang="en-US" altLang="ko-KR" dirty="0"/>
          </a:p>
          <a:p>
            <a:pPr marL="285750" lvl="1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클릭 좌표를 </a:t>
            </a:r>
            <a:r>
              <a:rPr lang="ko-KR" altLang="en-US" dirty="0" err="1"/>
              <a:t>체스판</a:t>
            </a:r>
            <a:r>
              <a:rPr lang="ko-KR" altLang="en-US" dirty="0"/>
              <a:t> 좌표로 변환</a:t>
            </a:r>
            <a:endParaRPr lang="en-US" altLang="ko-KR" dirty="0"/>
          </a:p>
          <a:p>
            <a:pPr marL="285750" lvl="1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체스 말 선택 및 선택 해제</a:t>
            </a:r>
            <a:endParaRPr lang="en-US" altLang="ko-KR" dirty="0"/>
          </a:p>
          <a:p>
            <a:pPr marL="285750" lvl="1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이동 가능한 위치 </a:t>
            </a:r>
            <a:r>
              <a:rPr lang="ko-KR" altLang="en-US" dirty="0" err="1"/>
              <a:t>계산체스</a:t>
            </a:r>
            <a:r>
              <a:rPr lang="ko-KR" altLang="en-US" dirty="0"/>
              <a:t> 말 이동</a:t>
            </a:r>
            <a:endParaRPr lang="en-US" altLang="ko-KR" dirty="0"/>
          </a:p>
          <a:p>
            <a:pPr marL="285750" lvl="1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체크</a:t>
            </a:r>
            <a:r>
              <a:rPr lang="en-US" altLang="ko-KR" dirty="0"/>
              <a:t>(Check) </a:t>
            </a:r>
            <a:r>
              <a:rPr lang="ko-KR" altLang="en-US" dirty="0"/>
              <a:t>및 게임 종료 상태 확인</a:t>
            </a:r>
            <a:endParaRPr lang="en-US" altLang="ko-KR" dirty="0"/>
          </a:p>
          <a:p>
            <a:pPr marL="285750" lvl="1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체스판</a:t>
            </a:r>
            <a:r>
              <a:rPr lang="ko-KR" altLang="en-US" dirty="0"/>
              <a:t> 화면 갱신</a:t>
            </a:r>
            <a:r>
              <a:rPr lang="en-US" altLang="ko-KR" dirty="0"/>
              <a:t>(Rendering)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b="1" dirty="0"/>
              <a:t>[</a:t>
            </a:r>
            <a:r>
              <a:rPr lang="ko-KR" altLang="en-US" b="1" dirty="0"/>
              <a:t>예제 코드 작성</a:t>
            </a:r>
            <a:r>
              <a:rPr lang="en-US" altLang="ko-KR" b="1" dirty="0"/>
              <a:t> ]</a:t>
            </a:r>
          </a:p>
          <a:p>
            <a:pPr marL="0" indent="0">
              <a:lnSpc>
                <a:spcPct val="160000"/>
              </a:lnSpc>
              <a:buNone/>
            </a:pPr>
            <a:endParaRPr lang="en-US" altLang="ko-KR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AD8257-9B6E-8FB9-F756-E78FC5EEEF0C}"/>
              </a:ext>
            </a:extLst>
          </p:cNvPr>
          <p:cNvSpPr txBox="1"/>
          <p:nvPr/>
        </p:nvSpPr>
        <p:spPr>
          <a:xfrm>
            <a:off x="871538" y="4173430"/>
            <a:ext cx="4672012" cy="4567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20F0502020204030204" pitchFamily="49" charset="0"/>
              </a:rPr>
              <a:t>import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tkinter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as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tk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20F0502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20F0502020204030204" pitchFamily="49" charset="0"/>
              </a:rPr>
              <a:t>from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tkinter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20F0502020204030204" pitchFamily="49" charset="0"/>
              </a:rPr>
              <a:t>import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messagebox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20F0502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20F0502020204030204" pitchFamily="49" charset="0"/>
              </a:rPr>
              <a:t>import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chess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20F0502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ko-KR" altLang="ko-KR" sz="1000" b="0" dirty="0">
              <a:solidFill>
                <a:srgbClr val="3C4043"/>
              </a:solidFill>
              <a:effectLst/>
              <a:latin typeface="Roboto Mono" panose="020F0502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20F0502020204030204" pitchFamily="49" charset="0"/>
              </a:rPr>
              <a:t>class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 </a:t>
            </a:r>
            <a:r>
              <a:rPr lang="ko-KR" altLang="ko-KR" sz="1000" b="0" dirty="0" err="1">
                <a:solidFill>
                  <a:srgbClr val="C92786"/>
                </a:solidFill>
                <a:effectLst/>
                <a:latin typeface="Roboto Mono" panose="020F0502020204030204" pitchFamily="49" charset="0"/>
              </a:rPr>
              <a:t>ChessGUI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def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 </a:t>
            </a:r>
            <a:r>
              <a:rPr lang="ko-KR" altLang="ko-KR" sz="1000" b="0" dirty="0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__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init</a:t>
            </a:r>
            <a:r>
              <a:rPr lang="ko-KR" altLang="ko-KR" sz="1000" b="0" dirty="0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__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(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self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,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root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root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 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root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20F0502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root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title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(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1000" b="0" dirty="0" err="1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Tkinter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 </a:t>
            </a:r>
            <a:r>
              <a:rPr lang="ko-KR" altLang="ko-KR" sz="1000" b="0" dirty="0" err="1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Chess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board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 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chess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.</a:t>
            </a:r>
            <a:r>
              <a:rPr lang="ko-KR" altLang="ko-KR" sz="1000" b="0" dirty="0" err="1">
                <a:solidFill>
                  <a:srgbClr val="C92786"/>
                </a:solidFill>
                <a:effectLst/>
                <a:latin typeface="Roboto Mono" panose="020F0502020204030204" pitchFamily="49" charset="0"/>
              </a:rPr>
              <a:t>Board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selected_square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 = </a:t>
            </a:r>
            <a:r>
              <a:rPr lang="ko-KR" altLang="ko-KR" sz="1000" b="0" dirty="0" err="1">
                <a:solidFill>
                  <a:srgbClr val="C92786"/>
                </a:solidFill>
                <a:effectLst/>
                <a:latin typeface="Roboto Mono" panose="020F0502020204030204" pitchFamily="49" charset="0"/>
              </a:rPr>
              <a:t>None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20F0502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square_size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 = </a:t>
            </a:r>
            <a:r>
              <a:rPr lang="ko-KR" altLang="ko-KR" sz="1000" b="0" dirty="0">
                <a:solidFill>
                  <a:srgbClr val="098591"/>
                </a:solidFill>
                <a:effectLst/>
                <a:latin typeface="Roboto Mono" panose="020F0502020204030204" pitchFamily="49" charset="0"/>
              </a:rPr>
              <a:t>72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20F0502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light_color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 = 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"#F0D9B5"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20F0502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dark_color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 = 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"#B58863"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20F0502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select_color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 = 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"#F6F669"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20F0502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move_color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 = 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"#A9D18E"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20F0502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piece_symbols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 = {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         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800" b="0" dirty="0" err="1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P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"♙"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,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800" b="0" dirty="0" err="1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N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"♘"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,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800" b="0" dirty="0" err="1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B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"♗"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,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800" b="0" dirty="0" err="1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R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"♖"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,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800" b="0" dirty="0" err="1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Q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"♕"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,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"K"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"♔"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           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800" b="0" dirty="0" err="1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p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"♟"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,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800" b="0" dirty="0" err="1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n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"♞"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,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800" b="0" dirty="0" err="1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b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"♝"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,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800" b="0" dirty="0" err="1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r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"♜"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,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800" b="0" dirty="0" err="1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q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"♛"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,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"k"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"♚</a:t>
            </a:r>
            <a:r>
              <a:rPr lang="ko-KR" altLang="ko-KR" sz="7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endParaRPr lang="ko-KR" altLang="ko-KR" sz="700" b="0" dirty="0">
              <a:solidFill>
                <a:srgbClr val="3C4043"/>
              </a:solidFill>
              <a:effectLst/>
              <a:latin typeface="Roboto Mono" panose="020F0502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        }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status_label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 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tk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.</a:t>
            </a:r>
            <a:r>
              <a:rPr lang="ko-KR" altLang="ko-KR" sz="1000" b="0" dirty="0" err="1">
                <a:solidFill>
                  <a:srgbClr val="C92786"/>
                </a:solidFill>
                <a:effectLst/>
                <a:latin typeface="Roboto Mono" panose="020F0502020204030204" pitchFamily="49" charset="0"/>
              </a:rPr>
              <a:t>Label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root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text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=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1000" b="0" dirty="0" err="1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White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 </a:t>
            </a:r>
            <a:r>
              <a:rPr lang="ko-KR" altLang="ko-KR" sz="1000" b="0" dirty="0" err="1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to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 </a:t>
            </a:r>
            <a:r>
              <a:rPr lang="ko-KR" altLang="ko-KR" sz="1000" b="0" dirty="0" err="1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move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font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=(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1000" b="0" dirty="0" err="1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Arial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, </a:t>
            </a:r>
            <a:r>
              <a:rPr lang="ko-KR" altLang="ko-KR" sz="1000" b="0" dirty="0">
                <a:solidFill>
                  <a:srgbClr val="098591"/>
                </a:solidFill>
                <a:effectLst/>
                <a:latin typeface="Roboto Mono" panose="020F0502020204030204" pitchFamily="49" charset="0"/>
              </a:rPr>
              <a:t>14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, 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1000" b="0" dirty="0" err="1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bold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20F0502020204030204" pitchFamily="49" charset="0"/>
              </a:rPr>
              <a:t>"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),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20F0502020204030204" pitchFamily="49" charset="0"/>
              </a:rPr>
              <a:t>pady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=</a:t>
            </a:r>
            <a:r>
              <a:rPr lang="ko-KR" altLang="ko-KR" sz="1000" b="0" dirty="0">
                <a:solidFill>
                  <a:srgbClr val="098591"/>
                </a:solidFill>
                <a:effectLst/>
                <a:latin typeface="Roboto Mono" panose="020F0502020204030204" pitchFamily="49" charset="0"/>
              </a:rPr>
              <a:t>10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20F0502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20F0502020204030204" pitchFamily="49" charset="0"/>
              </a:rPr>
              <a:t>        )</a:t>
            </a:r>
          </a:p>
        </p:txBody>
      </p:sp>
    </p:spTree>
    <p:extLst>
      <p:ext uri="{BB962C8B-B14F-4D97-AF65-F5344CB8AC3E}">
        <p14:creationId xmlns:p14="http://schemas.microsoft.com/office/powerpoint/2010/main" val="28943369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2309D-4D49-6A12-EFE1-A9F881D89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A989F8C-2D57-208E-3FBC-B2C7A3022046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GUI </a:t>
            </a:r>
            <a:r>
              <a:rPr lang="ko-KR" altLang="en-US" sz="1200" dirty="0"/>
              <a:t>기반 체스 프로그램 동작 과정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76B890-B58C-6B36-D2CB-5337DD2CC808}"/>
              </a:ext>
            </a:extLst>
          </p:cNvPr>
          <p:cNvSpPr txBox="1"/>
          <p:nvPr/>
        </p:nvSpPr>
        <p:spPr>
          <a:xfrm>
            <a:off x="875506" y="953419"/>
            <a:ext cx="5106194" cy="7619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status_label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pack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  <a:b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</a:b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board_pixel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square_size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* </a:t>
            </a:r>
            <a:r>
              <a:rPr lang="ko-KR" altLang="ko-KR" sz="100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8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canvas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tk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Canvas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root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width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board_pixel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height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board_pixel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highlightthickness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sz="100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0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canvas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pack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canvas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bind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"&lt;Button-1&gt;"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on_click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draw_board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update_status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def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draw_board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canvas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delete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0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all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legal_targets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set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  <a:endParaRPr lang="en-US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is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not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None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for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in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legal_moves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from_square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legal_targets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add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to_square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  <a:endParaRPr lang="en-US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for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row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in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range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0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8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for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in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range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0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8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x1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*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square_size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y1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row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*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square_size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x2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x1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+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square_size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y2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y1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+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square_size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0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7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-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row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color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light_color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row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+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 % </a:t>
            </a:r>
            <a:r>
              <a:rPr lang="ko-KR" altLang="ko-KR" sz="100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2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== </a:t>
            </a:r>
            <a:r>
              <a:rPr lang="ko-KR" altLang="ko-KR" sz="100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endParaRPr lang="en-US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                                       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else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dark_color</a:t>
            </a:r>
            <a:endParaRPr lang="en-US" altLang="ko-KR" sz="1000" b="0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color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select_color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elif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in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legal_targets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color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move_color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canvas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create_rectangle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x1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y1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x2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y2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endParaRPr lang="en-US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                                   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fill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color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outline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0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black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  <a:endParaRPr lang="ko-KR" altLang="en-US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piece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piece_at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3816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E1A8-E71D-1862-14B4-37508C9F6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D21EF-0730-3F59-6C4F-50483EAFDDCD}"/>
              </a:ext>
            </a:extLst>
          </p:cNvPr>
          <p:cNvSpPr txBox="1">
            <a:spLocks/>
          </p:cNvSpPr>
          <p:nvPr/>
        </p:nvSpPr>
        <p:spPr>
          <a:xfrm>
            <a:off x="689208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GUI </a:t>
            </a:r>
            <a:r>
              <a:rPr lang="ko-KR" altLang="en-US" sz="1200" dirty="0"/>
              <a:t>기반 체스 프로그램 동작 과정</a:t>
            </a:r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E6A18163-F1A9-43BC-CB08-F6EE62842DB6}"/>
              </a:ext>
            </a:extLst>
          </p:cNvPr>
          <p:cNvSpPr txBox="1">
            <a:spLocks/>
          </p:cNvSpPr>
          <p:nvPr/>
        </p:nvSpPr>
        <p:spPr>
          <a:xfrm>
            <a:off x="603277" y="1148080"/>
            <a:ext cx="5076798" cy="772160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endParaRPr lang="en-US" altLang="ko-KR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19A995-B999-00AE-87B7-27CBEAAB8A17}"/>
              </a:ext>
            </a:extLst>
          </p:cNvPr>
          <p:cNvSpPr txBox="1"/>
          <p:nvPr/>
        </p:nvSpPr>
        <p:spPr>
          <a:xfrm>
            <a:off x="689208" y="1148080"/>
            <a:ext cx="5076798" cy="7619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piece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symbol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piece_symbols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piece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symbol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()]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canvas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create_text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    (</a:t>
            </a:r>
            <a:r>
              <a:rPr lang="ko-KR" altLang="ko-KR" sz="1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x1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+ </a:t>
            </a:r>
            <a:r>
              <a:rPr lang="ko-KR" altLang="ko-KR" sz="1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x2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 </a:t>
            </a:r>
            <a:r>
              <a:rPr lang="ko-KR" altLang="ko-KR" sz="1000" b="0" dirty="0">
                <a:solidFill>
                  <a:srgbClr val="5F6368"/>
                </a:solidFill>
                <a:effectLst/>
                <a:latin typeface="Roboto Mono" panose="00000009000000000000" pitchFamily="49" charset="0"/>
              </a:rPr>
              <a:t>// 2,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    (</a:t>
            </a:r>
            <a:r>
              <a:rPr lang="ko-KR" altLang="ko-KR" sz="1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y1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+ </a:t>
            </a:r>
            <a:r>
              <a:rPr lang="ko-KR" altLang="ko-KR" sz="1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y2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 </a:t>
            </a:r>
            <a:r>
              <a:rPr lang="ko-KR" altLang="ko-KR" sz="1000" b="0" dirty="0">
                <a:solidFill>
                  <a:srgbClr val="5F6368"/>
                </a:solidFill>
                <a:effectLst/>
                <a:latin typeface="Roboto Mono" panose="00000009000000000000" pitchFamily="49" charset="0"/>
              </a:rPr>
              <a:t>// 2,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text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symbol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font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=(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0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Arial</a:t>
            </a:r>
            <a:r>
              <a:rPr lang="ko-KR" altLang="ko-KR" sz="10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0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34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)</a:t>
            </a:r>
            <a:b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</a:b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def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on_click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event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event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>
                <a:solidFill>
                  <a:srgbClr val="5F6368"/>
                </a:solidFill>
                <a:effectLst/>
                <a:latin typeface="Roboto Mono" panose="00000009000000000000" pitchFamily="49" charset="0"/>
              </a:rPr>
              <a:t>// </a:t>
            </a:r>
            <a:r>
              <a:rPr lang="ko-KR" altLang="ko-KR" sz="1000" b="0" dirty="0" err="1">
                <a:solidFill>
                  <a:srgbClr val="5F6368"/>
                </a:solidFill>
                <a:effectLst/>
                <a:latin typeface="Roboto Mono" panose="00000009000000000000" pitchFamily="49" charset="0"/>
              </a:rPr>
              <a:t>self.square_size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row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event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>
                <a:solidFill>
                  <a:srgbClr val="5F6368"/>
                </a:solidFill>
                <a:effectLst/>
                <a:latin typeface="Roboto Mono" panose="00000009000000000000" pitchFamily="49" charset="0"/>
              </a:rPr>
              <a:t>// </a:t>
            </a:r>
            <a:r>
              <a:rPr lang="ko-KR" altLang="ko-KR" sz="1000" b="0" dirty="0" err="1">
                <a:solidFill>
                  <a:srgbClr val="5F6368"/>
                </a:solidFill>
                <a:effectLst/>
                <a:latin typeface="Roboto Mono" panose="00000009000000000000" pitchFamily="49" charset="0"/>
              </a:rPr>
              <a:t>self.square_size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not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ko-KR" altLang="ko-KR" sz="100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&lt;=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&lt; </a:t>
            </a:r>
            <a:r>
              <a:rPr lang="ko-KR" altLang="ko-KR" sz="100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8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and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&lt;=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row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&lt; </a:t>
            </a:r>
            <a:r>
              <a:rPr lang="ko-KR" altLang="ko-KR" sz="100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8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return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0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7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-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row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clicked_piece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piece_at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is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None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clicked_piece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and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clicked_piece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color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== </a:t>
            </a:r>
            <a:endParaRPr lang="en-US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                                             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turn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clicked_square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draw_board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return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None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draw_board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return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clicked_piece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and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clicked_piece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color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</a:t>
            </a:r>
            <a:endParaRPr lang="en-US" altLang="ko-KR" sz="1000" b="0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00" dirty="0">
                <a:solidFill>
                  <a:srgbClr val="000000"/>
                </a:solidFill>
                <a:latin typeface="Roboto Mono" panose="00000009000000000000" pitchFamily="49" charset="0"/>
              </a:rPr>
              <a:t>                                               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turn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clicked_square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draw_board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return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  <a:endParaRPr lang="en-US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in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legal_moves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push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0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None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draw_board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update_status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0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0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check_game_over</a:t>
            </a: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0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return</a:t>
            </a:r>
            <a:endParaRPr lang="ko-KR" altLang="ko-KR" sz="10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4710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6A1B8-8C11-C42B-F945-CBE081E89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8903641-29C5-45F1-9455-5A8EFA4CDDB1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GUI </a:t>
            </a:r>
            <a:r>
              <a:rPr lang="ko-KR" altLang="en-US" sz="1200" dirty="0"/>
              <a:t>기반 체스 프로그램 동작 과정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C0EB5-85CB-3F69-134C-6870B9FAFFEE}"/>
              </a:ext>
            </a:extLst>
          </p:cNvPr>
          <p:cNvSpPr txBox="1"/>
          <p:nvPr/>
        </p:nvSpPr>
        <p:spPr>
          <a:xfrm>
            <a:off x="875506" y="953419"/>
            <a:ext cx="5106194" cy="7619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</a:t>
            </a:r>
            <a:r>
              <a:rPr lang="ko-KR" altLang="ko-KR" sz="1000" dirty="0" err="1">
                <a:solidFill>
                  <a:srgbClr val="185ABC"/>
                </a:solidFill>
                <a:latin typeface="Roboto Mono" panose="00000009000000000000" pitchFamily="49" charset="0"/>
              </a:rPr>
              <a:t>if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is_pawn_promotion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selected_square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, </a:t>
            </a:r>
            <a:endParaRPr lang="en-US" altLang="ko-KR" sz="1000" dirty="0">
              <a:solidFill>
                <a:srgbClr val="3C4043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                                               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clicked_square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promotion_move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=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chess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C92786"/>
                </a:solidFill>
                <a:latin typeface="Roboto Mono" panose="00000009000000000000" pitchFamily="49" charset="0"/>
              </a:rPr>
              <a:t>Move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selected_square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, </a:t>
            </a:r>
            <a:endParaRPr lang="en-US" altLang="ko-KR" sz="1000" dirty="0">
              <a:solidFill>
                <a:srgbClr val="3C4043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                         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clicked_square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,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promotion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=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chess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C92786"/>
                </a:solidFill>
                <a:latin typeface="Roboto Mono" panose="00000009000000000000" pitchFamily="49" charset="0"/>
              </a:rPr>
              <a:t>QUEEN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    </a:t>
            </a:r>
            <a:r>
              <a:rPr lang="ko-KR" altLang="ko-KR" sz="1000" dirty="0" err="1">
                <a:solidFill>
                  <a:srgbClr val="185ABC"/>
                </a:solidFill>
                <a:latin typeface="Roboto Mono" panose="00000009000000000000" pitchFamily="49" charset="0"/>
              </a:rPr>
              <a:t>if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promotion_move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185ABC"/>
                </a:solidFill>
                <a:latin typeface="Roboto Mono" panose="00000009000000000000" pitchFamily="49" charset="0"/>
              </a:rPr>
              <a:t>in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board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legal_moves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board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push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promotion_move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selected_square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= </a:t>
            </a:r>
            <a:r>
              <a:rPr lang="ko-KR" altLang="ko-KR" sz="1000" dirty="0" err="1">
                <a:solidFill>
                  <a:srgbClr val="C92786"/>
                </a:solidFill>
                <a:latin typeface="Roboto Mono" panose="00000009000000000000" pitchFamily="49" charset="0"/>
              </a:rPr>
              <a:t>None</a:t>
            </a:r>
            <a:endParaRPr lang="ko-KR" altLang="ko-KR" sz="1000" dirty="0">
              <a:solidFill>
                <a:srgbClr val="3C4043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draw_board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update_status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check_game_over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        </a:t>
            </a:r>
            <a:r>
              <a:rPr lang="ko-KR" altLang="ko-KR" sz="1000" dirty="0" err="1">
                <a:solidFill>
                  <a:srgbClr val="185ABC"/>
                </a:solidFill>
                <a:latin typeface="Roboto Mono" panose="00000009000000000000" pitchFamily="49" charset="0"/>
              </a:rPr>
              <a:t>return</a:t>
            </a:r>
            <a:endParaRPr lang="ko-KR" altLang="ko-KR" sz="1000" dirty="0">
              <a:solidFill>
                <a:srgbClr val="3C4043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selected_square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= </a:t>
            </a:r>
            <a:r>
              <a:rPr lang="ko-KR" altLang="ko-KR" sz="1000" dirty="0" err="1">
                <a:solidFill>
                  <a:srgbClr val="C92786"/>
                </a:solidFill>
                <a:latin typeface="Roboto Mono" panose="00000009000000000000" pitchFamily="49" charset="0"/>
              </a:rPr>
              <a:t>None</a:t>
            </a:r>
            <a:endParaRPr lang="ko-KR" altLang="ko-KR" sz="1000" dirty="0">
              <a:solidFill>
                <a:srgbClr val="3C4043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draw_board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def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is_pawn_promotion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,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from_sq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,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to_sq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piece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=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board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piece_at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from_sq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</a:t>
            </a:r>
            <a:r>
              <a:rPr lang="ko-KR" altLang="ko-KR" sz="1000" dirty="0" err="1">
                <a:solidFill>
                  <a:srgbClr val="185ABC"/>
                </a:solidFill>
                <a:latin typeface="Roboto Mono" panose="00000009000000000000" pitchFamily="49" charset="0"/>
              </a:rPr>
              <a:t>if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not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piece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or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piece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piece_type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!=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chess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C92786"/>
                </a:solidFill>
                <a:latin typeface="Roboto Mono" panose="00000009000000000000" pitchFamily="49" charset="0"/>
              </a:rPr>
              <a:t>PAWN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    </a:t>
            </a:r>
            <a:r>
              <a:rPr lang="ko-KR" altLang="ko-KR" sz="1000" dirty="0" err="1">
                <a:solidFill>
                  <a:srgbClr val="185ABC"/>
                </a:solidFill>
                <a:latin typeface="Roboto Mono" panose="00000009000000000000" pitchFamily="49" charset="0"/>
              </a:rPr>
              <a:t>return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C92786"/>
                </a:solidFill>
                <a:latin typeface="Roboto Mono" panose="00000009000000000000" pitchFamily="49" charset="0"/>
              </a:rPr>
              <a:t>False</a:t>
            </a:r>
            <a:endParaRPr lang="ko-KR" altLang="ko-KR" sz="1000" dirty="0">
              <a:solidFill>
                <a:srgbClr val="3C4043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rank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=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chess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square_rank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to_sq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</a:t>
            </a:r>
            <a:r>
              <a:rPr lang="ko-KR" altLang="ko-KR" sz="1000" dirty="0" err="1">
                <a:solidFill>
                  <a:srgbClr val="185ABC"/>
                </a:solidFill>
                <a:latin typeface="Roboto Mono" panose="00000009000000000000" pitchFamily="49" charset="0"/>
              </a:rPr>
              <a:t>return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rank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== </a:t>
            </a:r>
            <a:r>
              <a:rPr lang="ko-KR" altLang="ko-KR" sz="1000" dirty="0">
                <a:solidFill>
                  <a:srgbClr val="098591"/>
                </a:solidFill>
                <a:latin typeface="Roboto Mono" panose="00000009000000000000" pitchFamily="49" charset="0"/>
              </a:rPr>
              <a:t>0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or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rank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== </a:t>
            </a:r>
            <a:r>
              <a:rPr lang="ko-KR" altLang="ko-KR" sz="1000" dirty="0">
                <a:solidFill>
                  <a:srgbClr val="098591"/>
                </a:solidFill>
                <a:latin typeface="Roboto Mono" panose="00000009000000000000" pitchFamily="49" charset="0"/>
              </a:rPr>
              <a:t>7</a:t>
            </a:r>
            <a:endParaRPr lang="ko-KR" altLang="ko-KR" sz="1000" dirty="0">
              <a:solidFill>
                <a:srgbClr val="3C4043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def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update_status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turn_text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= 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White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to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move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185ABC"/>
                </a:solidFill>
                <a:latin typeface="Roboto Mono" panose="00000009000000000000" pitchFamily="49" charset="0"/>
              </a:rPr>
              <a:t>if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board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turn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== </a:t>
            </a:r>
            <a:endParaRPr lang="en-US" altLang="ko-KR" sz="1000" dirty="0">
              <a:solidFill>
                <a:srgbClr val="3C4043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                              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chess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C92786"/>
                </a:solidFill>
                <a:latin typeface="Roboto Mono" panose="00000009000000000000" pitchFamily="49" charset="0"/>
              </a:rPr>
              <a:t>WHITE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185ABC"/>
                </a:solidFill>
                <a:latin typeface="Roboto Mono" panose="00000009000000000000" pitchFamily="49" charset="0"/>
              </a:rPr>
              <a:t>else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"Black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to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move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</a:t>
            </a:r>
            <a:endParaRPr lang="ko-KR" altLang="ko-KR" sz="1000" dirty="0">
              <a:solidFill>
                <a:srgbClr val="3C4043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</a:t>
            </a:r>
            <a:r>
              <a:rPr lang="ko-KR" altLang="ko-KR" sz="1000" dirty="0" err="1">
                <a:solidFill>
                  <a:srgbClr val="185ABC"/>
                </a:solidFill>
                <a:latin typeface="Roboto Mono" panose="00000009000000000000" pitchFamily="49" charset="0"/>
              </a:rPr>
              <a:t>if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board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is_check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turn_text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+= 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  |  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Check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!"</a:t>
            </a:r>
            <a:endParaRPr lang="ko-KR" altLang="ko-KR" sz="1000" dirty="0">
              <a:solidFill>
                <a:srgbClr val="3C4043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status_label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config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text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=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turn_text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def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check_game_over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</a:t>
            </a:r>
            <a:r>
              <a:rPr lang="ko-KR" altLang="ko-KR" sz="1000" dirty="0" err="1">
                <a:solidFill>
                  <a:srgbClr val="185ABC"/>
                </a:solidFill>
                <a:latin typeface="Roboto Mono" panose="00000009000000000000" pitchFamily="49" charset="0"/>
              </a:rPr>
              <a:t>if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board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is_checkmate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winner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= 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"Black"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185ABC"/>
                </a:solidFill>
                <a:latin typeface="Roboto Mono" panose="00000009000000000000" pitchFamily="49" charset="0"/>
              </a:rPr>
              <a:t>if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board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turn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==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chess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C92786"/>
                </a:solidFill>
                <a:latin typeface="Roboto Mono" panose="00000009000000000000" pitchFamily="49" charset="0"/>
              </a:rPr>
              <a:t>WHITE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endParaRPr lang="en-US" altLang="ko-KR" sz="1000" dirty="0">
              <a:solidFill>
                <a:srgbClr val="3C4043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                            </a:t>
            </a:r>
            <a:r>
              <a:rPr lang="ko-KR" altLang="ko-KR" sz="1000" dirty="0" err="1">
                <a:solidFill>
                  <a:srgbClr val="185ABC"/>
                </a:solidFill>
                <a:latin typeface="Roboto Mono" panose="00000009000000000000" pitchFamily="49" charset="0"/>
              </a:rPr>
              <a:t>else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White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</a:t>
            </a:r>
            <a:endParaRPr lang="ko-KR" altLang="ko-KR" sz="1000" dirty="0">
              <a:solidFill>
                <a:srgbClr val="3C4043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messagebox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showinfo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Game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Over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,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f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"Checkmate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! </a:t>
            </a:r>
            <a:endParaRPr lang="en-US" altLang="ko-KR" sz="1000" dirty="0">
              <a:solidFill>
                <a:srgbClr val="B31412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                                               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{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winner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}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wins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."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elif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board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is_stalemate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messagebox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showinfo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Game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Over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, 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Stalemate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!"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elif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board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is_insufficient_material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messagebox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showinfo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Game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Over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, 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Draw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by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</a:t>
            </a:r>
            <a:endParaRPr lang="en-US" altLang="ko-KR" sz="1000" dirty="0">
              <a:solidFill>
                <a:srgbClr val="B31412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                                      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insufficient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material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!"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elif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board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is_seventyfive_moves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messagebox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showinfo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Game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Over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, 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Draw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by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seventy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-</a:t>
            </a:r>
            <a:endParaRPr lang="en-US" altLang="ko-KR" sz="1000" dirty="0">
              <a:solidFill>
                <a:srgbClr val="B31412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                                             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five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move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rule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!"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elif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board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is_fivefold_repetition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    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messagebox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showinfo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Game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Over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, 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Draw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by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fivefold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</a:t>
            </a:r>
            <a:endParaRPr lang="en-US" altLang="ko-KR" sz="1000" dirty="0">
              <a:solidFill>
                <a:srgbClr val="B31412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                                                   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repetition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!"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)</a:t>
            </a:r>
            <a:endParaRPr lang="ko-KR" altLang="en-US" sz="1000" dirty="0">
              <a:solidFill>
                <a:srgbClr val="3C4043"/>
              </a:solidFill>
              <a:latin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9710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F2620-B9C7-3F42-42CC-09142FC3C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4B929-EBC9-F385-E66B-B0B40611351B}"/>
              </a:ext>
            </a:extLst>
          </p:cNvPr>
          <p:cNvSpPr txBox="1">
            <a:spLocks/>
          </p:cNvSpPr>
          <p:nvPr/>
        </p:nvSpPr>
        <p:spPr>
          <a:xfrm>
            <a:off x="689208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GUI </a:t>
            </a:r>
            <a:r>
              <a:rPr lang="ko-KR" altLang="en-US" sz="1200" dirty="0"/>
              <a:t>기반 체스 프로그램 동작 과정</a:t>
            </a:r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E737E6A7-8355-D4B6-834C-40E52228CBA9}"/>
              </a:ext>
            </a:extLst>
          </p:cNvPr>
          <p:cNvSpPr txBox="1">
            <a:spLocks/>
          </p:cNvSpPr>
          <p:nvPr/>
        </p:nvSpPr>
        <p:spPr>
          <a:xfrm>
            <a:off x="603277" y="2396371"/>
            <a:ext cx="5076798" cy="63590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코드 실행 결과</a:t>
            </a:r>
            <a:r>
              <a:rPr lang="en-US" altLang="ko-KR" b="1" dirty="0"/>
              <a:t>]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코드 설명</a:t>
            </a:r>
            <a:r>
              <a:rPr lang="en-US" altLang="ko-KR" b="1" dirty="0"/>
              <a:t>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rgbClr val="3C3836"/>
                </a:solidFill>
                <a:latin typeface="Consolas" panose="020B0609020204030204" pitchFamily="49" charset="0"/>
              </a:rPr>
              <a:t>self.selected_square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 :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현재 사용자가 선택한 체스 말의 위치를 저장한다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예를 들어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e2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의 폰을 클릭하면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e2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위치가 </a:t>
            </a:r>
            <a:r>
              <a:rPr lang="en-US" altLang="ko-KR" dirty="0" err="1">
                <a:solidFill>
                  <a:srgbClr val="3C3836"/>
                </a:solidFill>
                <a:latin typeface="Consolas" panose="020B0609020204030204" pitchFamily="49" charset="0"/>
              </a:rPr>
              <a:t>selected_square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에 저장된다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이후 사용자가 다른 칸을 클릭하면 해당 위치로 이동 가능한지 확인한다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clicked_square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  <a:r>
              <a:rPr lang="en-US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체스 말의 이동 정보를 생성한다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예를 들어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e2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에서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e4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로 이동한다면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"e2 → e4"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라는 이동 객체가 만들어진다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push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 :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검증된 이동을 실제 </a:t>
            </a:r>
            <a:r>
              <a:rPr lang="ko-KR" altLang="en-US" dirty="0" err="1">
                <a:solidFill>
                  <a:srgbClr val="3C3836"/>
                </a:solidFill>
                <a:latin typeface="Consolas" panose="020B0609020204030204" pitchFamily="49" charset="0"/>
              </a:rPr>
              <a:t>체스판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 상태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(State)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에 반영한다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말을 이동시키고 차례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(Turn)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도 자동으로 변경된다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draw_board</a:t>
            </a:r>
            <a:r>
              <a:rPr lang="ko-KR" altLang="ko-KR" dirty="0">
                <a:solidFill>
                  <a:srgbClr val="3C4043"/>
                </a:solidFill>
                <a:latin typeface="Roboto Mono" panose="00000009000000000000" pitchFamily="49" charset="0"/>
              </a:rPr>
              <a:t>()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 :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체스판을 다시 그리는 함수이다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GUI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프로그램에서는 데이터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(State)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가 변경되어도 화면이 자동으로 바뀌지 않으므로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말을 이동한 후 반드시 다시 렌더링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(Rendering)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해야 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update_status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  <a:r>
              <a:rPr lang="en-US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: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현재 차례와 체크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(Check)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여부를 화면에 표시한다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예를 들어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White to move, Black to move, White to move | Check!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와 같은 상태를 출력한다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</a:t>
            </a: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ko-KR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0" indent="0">
              <a:lnSpc>
                <a:spcPct val="160000"/>
              </a:lnSpc>
              <a:buNone/>
            </a:pPr>
            <a:endParaRPr lang="en-US" altLang="ko-KR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90E248-C593-A59F-2AD1-A243A6C9CD1A}"/>
              </a:ext>
            </a:extLst>
          </p:cNvPr>
          <p:cNvSpPr txBox="1"/>
          <p:nvPr/>
        </p:nvSpPr>
        <p:spPr>
          <a:xfrm>
            <a:off x="939800" y="1080980"/>
            <a:ext cx="4672012" cy="115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def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main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root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=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tk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C92786"/>
                </a:solidFill>
                <a:latin typeface="Roboto Mono" panose="00000009000000000000" pitchFamily="49" charset="0"/>
              </a:rPr>
              <a:t>Tk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app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= </a:t>
            </a:r>
            <a:r>
              <a:rPr lang="ko-KR" altLang="ko-KR" sz="1000" dirty="0" err="1">
                <a:solidFill>
                  <a:srgbClr val="C92786"/>
                </a:solidFill>
                <a:latin typeface="Roboto Mono" panose="00000009000000000000" pitchFamily="49" charset="0"/>
              </a:rPr>
              <a:t>ChessGUI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root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    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root</a:t>
            </a:r>
            <a:r>
              <a:rPr lang="ko-KR" altLang="ko-KR" sz="1000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mainloop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endParaRPr lang="ko-KR" altLang="ko-KR" sz="1000" dirty="0">
              <a:solidFill>
                <a:srgbClr val="3C4043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00" dirty="0" err="1">
                <a:solidFill>
                  <a:srgbClr val="185ABC"/>
                </a:solidFill>
                <a:latin typeface="Roboto Mono" panose="00000009000000000000" pitchFamily="49" charset="0"/>
              </a:rPr>
              <a:t>if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sz="1000" dirty="0">
                <a:solidFill>
                  <a:srgbClr val="000000"/>
                </a:solidFill>
                <a:latin typeface="Roboto Mono" panose="00000009000000000000" pitchFamily="49" charset="0"/>
              </a:rPr>
              <a:t>__</a:t>
            </a:r>
            <a:r>
              <a:rPr lang="ko-KR" altLang="ko-KR" sz="1000" dirty="0" err="1">
                <a:solidFill>
                  <a:srgbClr val="000000"/>
                </a:solidFill>
                <a:latin typeface="Roboto Mono" panose="00000009000000000000" pitchFamily="49" charset="0"/>
              </a:rPr>
              <a:t>name</a:t>
            </a:r>
            <a:r>
              <a:rPr lang="ko-KR" altLang="ko-KR" sz="1000" dirty="0">
                <a:solidFill>
                  <a:srgbClr val="000000"/>
                </a:solidFill>
                <a:latin typeface="Roboto Mono" panose="00000009000000000000" pitchFamily="49" charset="0"/>
              </a:rPr>
              <a:t>__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 == 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"__</a:t>
            </a:r>
            <a:r>
              <a:rPr lang="ko-KR" altLang="ko-KR" sz="1000" dirty="0" err="1">
                <a:solidFill>
                  <a:srgbClr val="B31412"/>
                </a:solidFill>
                <a:latin typeface="Roboto Mono" panose="00000009000000000000" pitchFamily="49" charset="0"/>
              </a:rPr>
              <a:t>main</a:t>
            </a:r>
            <a:r>
              <a:rPr lang="ko-KR" altLang="ko-KR" sz="1000" dirty="0">
                <a:solidFill>
                  <a:srgbClr val="B31412"/>
                </a:solidFill>
                <a:latin typeface="Roboto Mono" panose="00000009000000000000" pitchFamily="49" charset="0"/>
              </a:rPr>
              <a:t>__"</a:t>
            </a:r>
            <a:r>
              <a:rPr lang="ko-KR" altLang="ko-KR" sz="1000" dirty="0">
                <a:solidFill>
                  <a:srgbClr val="3C4043"/>
                </a:solidFill>
                <a:latin typeface="Roboto Mono" panose="00000009000000000000" pitchFamily="49" charset="0"/>
              </a:rPr>
              <a:t>: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EBF06B-E236-470A-EF10-1B296953E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69" y="2765202"/>
            <a:ext cx="1547631" cy="174189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C7939FB-A855-0565-4281-E09CDD1C9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826" y="2765202"/>
            <a:ext cx="1548111" cy="17418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54F3187-852E-CA5A-44CD-12626F0CB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763" y="2765202"/>
            <a:ext cx="1547631" cy="174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303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FAE30-344E-B81D-F20A-84CBADE42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D15AE45-DDF6-03A9-C3CC-9D54A92C63F9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GUI </a:t>
            </a:r>
            <a:r>
              <a:rPr lang="ko-KR" altLang="en-US" sz="1200" dirty="0"/>
              <a:t>기반 체스 프로그램 동작 과정</a:t>
            </a:r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B160114B-23AE-5C6F-9942-858FD7D5A841}"/>
              </a:ext>
            </a:extLst>
          </p:cNvPr>
          <p:cNvSpPr txBox="1">
            <a:spLocks/>
          </p:cNvSpPr>
          <p:nvPr/>
        </p:nvSpPr>
        <p:spPr>
          <a:xfrm>
            <a:off x="1009677" y="1076960"/>
            <a:ext cx="5076798" cy="748939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dirty="0" err="1">
                <a:solidFill>
                  <a:srgbClr val="000000"/>
                </a:solidFill>
                <a:latin typeface="Roboto Mono" panose="00000009000000000000" pitchFamily="49" charset="0"/>
              </a:rPr>
              <a:t>self</a:t>
            </a:r>
            <a:r>
              <a:rPr lang="ko-KR" altLang="ko-KR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dirty="0" err="1">
                <a:solidFill>
                  <a:srgbClr val="000000"/>
                </a:solidFill>
                <a:latin typeface="Roboto Mono" panose="00000009000000000000" pitchFamily="49" charset="0"/>
              </a:rPr>
              <a:t>check_game_over</a:t>
            </a:r>
            <a:r>
              <a:rPr lang="ko-KR" altLang="ko-KR" dirty="0">
                <a:solidFill>
                  <a:srgbClr val="3C4043"/>
                </a:solidFill>
                <a:latin typeface="Roboto Mono" panose="00000009000000000000" pitchFamily="49" charset="0"/>
              </a:rPr>
              <a:t>()</a:t>
            </a:r>
            <a:r>
              <a:rPr lang="en-US" altLang="ko-KR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en-US" altLang="ko-KR" sz="1000" b="0" i="0" u="none" strike="noStrike" dirty="0">
                <a:solidFill>
                  <a:srgbClr val="3C383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dirty="0" err="1">
                <a:solidFill>
                  <a:srgbClr val="3C3836"/>
                </a:solidFill>
                <a:latin typeface="Consolas" panose="020B0609020204030204" pitchFamily="49" charset="0"/>
              </a:rPr>
              <a:t>체크메이트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(Checkmate), </a:t>
            </a:r>
            <a:r>
              <a:rPr lang="ko-KR" altLang="en-US" dirty="0" err="1">
                <a:solidFill>
                  <a:srgbClr val="3C3836"/>
                </a:solidFill>
                <a:latin typeface="Consolas" panose="020B0609020204030204" pitchFamily="49" charset="0"/>
              </a:rPr>
              <a:t>스테일메이트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(Stalemate),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무승부 등을 검사한다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게임 종료 조건이 만족되면 메시지 박스를 통해 결과를 사용자에게 알려준다</a:t>
            </a:r>
            <a:r>
              <a:rPr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이번 장에서는 지금까지 학습한 체스 알고리즘을 실제 </a:t>
            </a:r>
            <a:r>
              <a:rPr lang="en-US" altLang="ko-KR" dirty="0"/>
              <a:t>GUI </a:t>
            </a:r>
            <a:r>
              <a:rPr lang="ko-KR" altLang="en-US" dirty="0"/>
              <a:t>프로그램으로 구현하였다</a:t>
            </a:r>
            <a:r>
              <a:rPr lang="en-US" altLang="ko-KR" dirty="0"/>
              <a:t>. </a:t>
            </a:r>
            <a:r>
              <a:rPr lang="en-US" altLang="ko-KR" dirty="0" err="1"/>
              <a:t>Tkinter</a:t>
            </a:r>
            <a:r>
              <a:rPr lang="ko-KR" altLang="en-US" dirty="0"/>
              <a:t>를 사용하여 체스판을 화면에 출력하고</a:t>
            </a:r>
            <a:r>
              <a:rPr lang="en-US" altLang="ko-KR" dirty="0"/>
              <a:t>, </a:t>
            </a:r>
            <a:r>
              <a:rPr lang="ko-KR" altLang="en-US" dirty="0"/>
              <a:t>사용자의 마우스 클릭 이벤트를 처리하여 체스 말을 선택하고 이동할 수 있는 프로그램을 완성하였다</a:t>
            </a:r>
            <a:r>
              <a:rPr lang="en-US" altLang="ko-KR" dirty="0"/>
              <a:t>. </a:t>
            </a:r>
            <a:r>
              <a:rPr lang="ko-KR" altLang="en-US" dirty="0"/>
              <a:t>또한 </a:t>
            </a:r>
            <a:r>
              <a:rPr lang="en-US" altLang="ko-KR" dirty="0"/>
              <a:t>python-chess </a:t>
            </a:r>
            <a:r>
              <a:rPr lang="ko-KR" altLang="en-US" dirty="0"/>
              <a:t>라이브러리를 활용하여 체스 규칙을 직접 구현하지 않고도 합법적인 이동</a:t>
            </a:r>
            <a:r>
              <a:rPr lang="en-US" altLang="ko-KR" dirty="0"/>
              <a:t>(Legal Move), </a:t>
            </a:r>
            <a:r>
              <a:rPr lang="ko-KR" altLang="en-US" dirty="0"/>
              <a:t>체크</a:t>
            </a:r>
            <a:r>
              <a:rPr lang="en-US" altLang="ko-KR" dirty="0"/>
              <a:t>(Check), </a:t>
            </a:r>
            <a:r>
              <a:rPr lang="ko-KR" altLang="en-US" dirty="0" err="1"/>
              <a:t>체크메이트</a:t>
            </a:r>
            <a:r>
              <a:rPr lang="en-US" altLang="ko-KR" dirty="0"/>
              <a:t>(Checkmate), </a:t>
            </a:r>
            <a:r>
              <a:rPr lang="ko-KR" altLang="en-US" dirty="0"/>
              <a:t>무승부</a:t>
            </a:r>
            <a:r>
              <a:rPr lang="en-US" altLang="ko-KR" dirty="0"/>
              <a:t>(Draw) </a:t>
            </a:r>
            <a:r>
              <a:rPr lang="ko-KR" altLang="en-US" dirty="0"/>
              <a:t>판정 기능을 사용할 수 있었다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en-US" altLang="ko-KR" dirty="0"/>
              <a:t>GUI </a:t>
            </a:r>
            <a:r>
              <a:rPr lang="ko-KR" altLang="en-US" dirty="0"/>
              <a:t>프로그램에서 중요한 이벤트</a:t>
            </a:r>
            <a:r>
              <a:rPr lang="en-US" altLang="ko-KR" dirty="0"/>
              <a:t>(Event) </a:t>
            </a:r>
            <a:r>
              <a:rPr lang="ko-KR" altLang="en-US" dirty="0"/>
              <a:t>기반 프로그래밍 구조를 학습하였으며</a:t>
            </a:r>
            <a:r>
              <a:rPr lang="en-US" altLang="ko-KR" dirty="0"/>
              <a:t>, </a:t>
            </a:r>
            <a:r>
              <a:rPr lang="ko-KR" altLang="en-US" dirty="0"/>
              <a:t>사용자의 입력에 따라 상태</a:t>
            </a:r>
            <a:r>
              <a:rPr lang="en-US" altLang="ko-KR" dirty="0"/>
              <a:t>(State)</a:t>
            </a:r>
            <a:r>
              <a:rPr lang="ko-KR" altLang="en-US" dirty="0"/>
              <a:t>를 변경하고 화면을 다시 출력</a:t>
            </a:r>
            <a:r>
              <a:rPr lang="en-US" altLang="ko-KR" dirty="0"/>
              <a:t>(Rendering)</a:t>
            </a:r>
            <a:r>
              <a:rPr lang="ko-KR" altLang="en-US" dirty="0"/>
              <a:t>하는 과정을 확인하였다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현재 체스 프로그램은 체스 규칙을 완벽하게 처리할 수 있지만</a:t>
            </a:r>
            <a:r>
              <a:rPr lang="en-US" altLang="ko-KR" dirty="0"/>
              <a:t>, </a:t>
            </a:r>
            <a:r>
              <a:rPr lang="ko-KR" altLang="en-US" dirty="0"/>
              <a:t>실제 상대방 역할을 수행하는 인공지능</a:t>
            </a:r>
            <a:r>
              <a:rPr lang="en-US" altLang="ko-KR" dirty="0"/>
              <a:t>(AI)</a:t>
            </a:r>
            <a:r>
              <a:rPr lang="ko-KR" altLang="en-US" dirty="0"/>
              <a:t>은 아직 존재하지 않는다</a:t>
            </a:r>
            <a:r>
              <a:rPr lang="en-US" altLang="ko-KR" dirty="0"/>
              <a:t>. </a:t>
            </a:r>
            <a:r>
              <a:rPr lang="ko-KR" altLang="en-US" dirty="0"/>
              <a:t>따라서 사용자가 백과 흑을 모두 직접 움직여야 한다</a:t>
            </a:r>
            <a:r>
              <a:rPr lang="en-US" altLang="ko-KR" dirty="0"/>
              <a:t>. </a:t>
            </a:r>
            <a:r>
              <a:rPr lang="ko-KR" altLang="en-US" dirty="0"/>
              <a:t>실제 체스 프로그램처럼 </a:t>
            </a:r>
            <a:r>
              <a:rPr lang="en-US" altLang="ko-KR" dirty="0"/>
              <a:t>AI</a:t>
            </a:r>
            <a:r>
              <a:rPr lang="ko-KR" altLang="en-US" dirty="0"/>
              <a:t>와 대국하기 위해서는 현재 </a:t>
            </a:r>
            <a:r>
              <a:rPr lang="ko-KR" altLang="en-US" dirty="0" err="1"/>
              <a:t>체스판</a:t>
            </a:r>
            <a:r>
              <a:rPr lang="ko-KR" altLang="en-US" dirty="0"/>
              <a:t> 상태를 분석하여 최적의 수를 계산할 수 있는 체스 엔진</a:t>
            </a:r>
            <a:r>
              <a:rPr lang="en-US" altLang="ko-KR" dirty="0"/>
              <a:t>(Chess Engine)</a:t>
            </a:r>
            <a:r>
              <a:rPr lang="ko-KR" altLang="en-US" dirty="0"/>
              <a:t>이 필요하다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다음 장에서는 세계 최강 수준의 오픈소스 체스 엔진인 </a:t>
            </a:r>
            <a:r>
              <a:rPr lang="en-US" altLang="ko-KR" dirty="0"/>
              <a:t>Stockfish</a:t>
            </a:r>
            <a:r>
              <a:rPr lang="ko-KR" altLang="en-US" dirty="0"/>
              <a:t>를 활용하여 체스 </a:t>
            </a:r>
            <a:r>
              <a:rPr lang="en-US" altLang="ko-KR" dirty="0"/>
              <a:t>AI</a:t>
            </a:r>
            <a:r>
              <a:rPr lang="ko-KR" altLang="en-US" dirty="0"/>
              <a:t>를 프로그램에 연결한다</a:t>
            </a:r>
            <a:r>
              <a:rPr lang="en-US" altLang="ko-KR" dirty="0"/>
              <a:t>. </a:t>
            </a:r>
            <a:r>
              <a:rPr lang="ko-KR" altLang="en-US" dirty="0"/>
              <a:t>이를 통해 사용자가 수를 두면 </a:t>
            </a:r>
            <a:r>
              <a:rPr lang="en-US" altLang="ko-KR" dirty="0"/>
              <a:t>AI</a:t>
            </a:r>
            <a:r>
              <a:rPr lang="ko-KR" altLang="en-US" dirty="0"/>
              <a:t>가 최적의 수를 계산하여 응수하는 실제 체스 프로그램을 완성해본다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76462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D05D9-FEE9-8A0E-17D0-2F58CD237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DACF8-1F5C-EC22-3C86-497D68AE5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344" y="672476"/>
            <a:ext cx="3738771" cy="338272"/>
          </a:xfrm>
        </p:spPr>
        <p:txBody>
          <a:bodyPr>
            <a:normAutofit/>
          </a:bodyPr>
          <a:lstStyle/>
          <a:p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A8F4E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Stockfish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8F4E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를 이용한 체스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A8F4E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AI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8F4E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프로그램</a:t>
            </a:r>
            <a:endParaRPr lang="ko-KR" altLang="en-US" sz="1200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5CC016BB-BB5E-43C3-7322-A78C25CFCC00}"/>
              </a:ext>
            </a:extLst>
          </p:cNvPr>
          <p:cNvSpPr txBox="1">
            <a:spLocks/>
          </p:cNvSpPr>
          <p:nvPr/>
        </p:nvSpPr>
        <p:spPr>
          <a:xfrm>
            <a:off x="920175" y="1549400"/>
            <a:ext cx="4831475" cy="751332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지금까지 우리는 콘솔 기반 체스 프로그램과 </a:t>
            </a:r>
            <a:r>
              <a:rPr lang="en-US" altLang="ko-KR" dirty="0"/>
              <a:t>GUI </a:t>
            </a:r>
            <a:r>
              <a:rPr lang="ko-KR" altLang="en-US" dirty="0"/>
              <a:t>기반 체스 프로그램을 구현하였다</a:t>
            </a:r>
            <a:r>
              <a:rPr lang="en-US" altLang="ko-KR" dirty="0"/>
              <a:t>. </a:t>
            </a:r>
            <a:r>
              <a:rPr lang="ko-KR" altLang="en-US" dirty="0"/>
              <a:t>현재 프로그램은 체스 규칙을 처리하고 화면에 체스판을 출력할 수 있지만</a:t>
            </a:r>
            <a:r>
              <a:rPr lang="en-US" altLang="ko-KR" dirty="0"/>
              <a:t>, </a:t>
            </a:r>
            <a:r>
              <a:rPr lang="ko-KR" altLang="en-US" dirty="0"/>
              <a:t>실제 상대방 역할을 수행하는 인공지능</a:t>
            </a:r>
            <a:r>
              <a:rPr lang="en-US" altLang="ko-KR" dirty="0"/>
              <a:t>(AI)</a:t>
            </a:r>
            <a:r>
              <a:rPr lang="ko-KR" altLang="en-US" dirty="0"/>
              <a:t>은 존재하지 않는다</a:t>
            </a:r>
            <a:r>
              <a:rPr lang="en-US" altLang="ko-KR" dirty="0"/>
              <a:t>. </a:t>
            </a:r>
            <a:r>
              <a:rPr lang="ko-KR" altLang="en-US" dirty="0"/>
              <a:t>따라서 사용자가 백과 흑을 모두 직접 움직여야 한다</a:t>
            </a:r>
            <a:r>
              <a:rPr lang="en-US" altLang="ko-KR" dirty="0"/>
              <a:t>. </a:t>
            </a:r>
            <a:r>
              <a:rPr lang="ko-KR" altLang="en-US" dirty="0"/>
              <a:t>실제 체스 프로그램에서는 현재 </a:t>
            </a:r>
            <a:r>
              <a:rPr lang="ko-KR" altLang="en-US" dirty="0" err="1"/>
              <a:t>체스판</a:t>
            </a:r>
            <a:r>
              <a:rPr lang="ko-KR" altLang="en-US" dirty="0"/>
              <a:t> 상태를 분석하여 가장 좋은 수를 계산하는 체스 엔진</a:t>
            </a:r>
            <a:r>
              <a:rPr lang="en-US" altLang="ko-KR" dirty="0"/>
              <a:t>(Chess Engine)</a:t>
            </a:r>
            <a:r>
              <a:rPr lang="ko-KR" altLang="en-US" dirty="0"/>
              <a:t>을 사용한다</a:t>
            </a:r>
            <a:r>
              <a:rPr lang="en-US" altLang="ko-KR" dirty="0"/>
              <a:t>. </a:t>
            </a:r>
            <a:r>
              <a:rPr lang="ko-KR" altLang="en-US" dirty="0"/>
              <a:t>체스 엔진은 수많은 경우의 수를 탐색하여 최적의 수</a:t>
            </a:r>
            <a:r>
              <a:rPr lang="en-US" altLang="ko-KR" dirty="0"/>
              <a:t>(Best Move)</a:t>
            </a:r>
            <a:r>
              <a:rPr lang="ko-KR" altLang="en-US" dirty="0"/>
              <a:t>를 선택하며</a:t>
            </a:r>
            <a:r>
              <a:rPr lang="en-US" altLang="ko-KR" dirty="0"/>
              <a:t>, </a:t>
            </a:r>
            <a:r>
              <a:rPr lang="ko-KR" altLang="en-US" dirty="0"/>
              <a:t>이를 통해 사용자는 컴퓨터와 대국할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Stockfish</a:t>
            </a:r>
            <a:r>
              <a:rPr lang="ko-KR" altLang="en-US" dirty="0"/>
              <a:t>를 사용하기 위해서는 먼저 체스 엔진 프로그램을 다운로드한 후 </a:t>
            </a:r>
            <a:r>
              <a:rPr lang="en-US" altLang="ko-KR" dirty="0"/>
              <a:t>Python </a:t>
            </a:r>
            <a:r>
              <a:rPr lang="ko-KR" altLang="en-US" dirty="0"/>
              <a:t>프로젝트와 연결해야 한다</a:t>
            </a:r>
            <a:r>
              <a:rPr lang="en-US" altLang="ko-KR" dirty="0"/>
              <a:t>. Stockfish</a:t>
            </a:r>
            <a:r>
              <a:rPr lang="ko-KR" altLang="en-US" dirty="0"/>
              <a:t>는 독립적으로 동작하는 체스 엔진으로</a:t>
            </a:r>
            <a:r>
              <a:rPr lang="en-US" altLang="ko-KR" dirty="0"/>
              <a:t>, </a:t>
            </a:r>
            <a:r>
              <a:rPr lang="ko-KR" altLang="en-US" dirty="0"/>
              <a:t>현재 </a:t>
            </a:r>
            <a:r>
              <a:rPr lang="ko-KR" altLang="en-US" dirty="0" err="1"/>
              <a:t>체스판</a:t>
            </a:r>
            <a:r>
              <a:rPr lang="ko-KR" altLang="en-US" dirty="0"/>
              <a:t> 상태를 </a:t>
            </a:r>
            <a:r>
              <a:rPr lang="ko-KR" altLang="en-US" dirty="0" err="1"/>
              <a:t>입력받아</a:t>
            </a:r>
            <a:r>
              <a:rPr lang="ko-KR" altLang="en-US" dirty="0"/>
              <a:t> 최적의 수</a:t>
            </a:r>
            <a:r>
              <a:rPr lang="en-US" altLang="ko-KR" dirty="0"/>
              <a:t>(Best Move)</a:t>
            </a:r>
            <a:r>
              <a:rPr lang="ko-KR" altLang="en-US" dirty="0"/>
              <a:t>를 계산하는 역할을 수행한다</a:t>
            </a:r>
            <a:r>
              <a:rPr lang="en-US" altLang="ko-KR" dirty="0"/>
              <a:t>. </a:t>
            </a:r>
            <a:r>
              <a:rPr lang="ko-KR" altLang="en-US" dirty="0"/>
              <a:t>이번 절에서는 </a:t>
            </a:r>
            <a:r>
              <a:rPr lang="en-US" altLang="ko-KR" dirty="0"/>
              <a:t>Stockfish</a:t>
            </a:r>
            <a:r>
              <a:rPr lang="ko-KR" altLang="en-US" dirty="0"/>
              <a:t>를 다운로드하고 </a:t>
            </a:r>
            <a:r>
              <a:rPr lang="en-US" altLang="ko-KR" dirty="0"/>
              <a:t>Python </a:t>
            </a:r>
            <a:r>
              <a:rPr lang="ko-KR" altLang="en-US" dirty="0"/>
              <a:t>프로그램에서 사용할 수 있도록 준비해보자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① 프로젝트 폴더 생성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먼저 </a:t>
            </a:r>
            <a:r>
              <a:rPr lang="en-US" altLang="ko-KR" dirty="0"/>
              <a:t>VS Code</a:t>
            </a:r>
            <a:r>
              <a:rPr lang="ko-KR" altLang="en-US" dirty="0"/>
              <a:t>를 실행한 후 체스 프로젝트를 위한 폴더를 생성한다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예를 들어 다음과 같은 구조로 프로젝트를 준비한다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857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/>
              <a:t>ChessProject.py : 메인 체스 프로그램</a:t>
            </a:r>
            <a:endParaRPr lang="en-US" altLang="ko-KR" dirty="0"/>
          </a:p>
          <a:p>
            <a:pPr marL="2857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 err="1"/>
              <a:t>engine</a:t>
            </a:r>
            <a:r>
              <a:rPr lang="ko-KR" altLang="ko-KR" dirty="0"/>
              <a:t> : </a:t>
            </a:r>
            <a:r>
              <a:rPr lang="ko-KR" altLang="ko-KR" dirty="0" err="1"/>
              <a:t>Stockfish</a:t>
            </a:r>
            <a:r>
              <a:rPr lang="ko-KR" altLang="ko-KR" dirty="0"/>
              <a:t> 엔진 저장 폴더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② </a:t>
            </a:r>
            <a:r>
              <a:rPr lang="en-US" altLang="ko-KR" dirty="0"/>
              <a:t>Stockfish </a:t>
            </a:r>
            <a:r>
              <a:rPr lang="ko-KR" altLang="en-US" dirty="0"/>
              <a:t>다운로드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Stockfish </a:t>
            </a:r>
            <a:r>
              <a:rPr lang="ko-KR" altLang="en-US" dirty="0"/>
              <a:t>공식 홈페이지에서 운영체제에 맞는 버전을 다운로드한다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Windows </a:t>
            </a:r>
            <a:r>
              <a:rPr lang="ko-KR" altLang="en-US" dirty="0"/>
              <a:t>환경에서는 다음과 같은 파일을 받을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6FCDC71-A640-05A8-9D4E-E9F9C7554B3E}"/>
              </a:ext>
            </a:extLst>
          </p:cNvPr>
          <p:cNvSpPr txBox="1">
            <a:spLocks/>
          </p:cNvSpPr>
          <p:nvPr/>
        </p:nvSpPr>
        <p:spPr>
          <a:xfrm>
            <a:off x="799963" y="1203960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ko-KR" sz="1100" dirty="0"/>
              <a:t>체스 AI 엔진이란?</a:t>
            </a:r>
            <a:endParaRPr lang="ko-KR" altLang="en-US" sz="11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708BA57-FD98-C60D-E8E3-49D7034EECDB}"/>
              </a:ext>
            </a:extLst>
          </p:cNvPr>
          <p:cNvSpPr txBox="1">
            <a:spLocks/>
          </p:cNvSpPr>
          <p:nvPr/>
        </p:nvSpPr>
        <p:spPr>
          <a:xfrm>
            <a:off x="799962" y="3362960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ko-KR" sz="1100" dirty="0" err="1"/>
              <a:t>Stockfish</a:t>
            </a:r>
            <a:r>
              <a:rPr lang="ko-KR" altLang="ko-KR" sz="1100" dirty="0"/>
              <a:t> 설치와 준비</a:t>
            </a:r>
            <a:endParaRPr lang="ko-KR" altLang="en-US" sz="11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3ACC8C9-4126-465C-CD16-74B14E737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87" y="5872995"/>
            <a:ext cx="2105319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4299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CF531-7C38-D2DE-1707-81E979FCD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412ED5D-9CAA-17C4-72CD-76D5DCFF9C1B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Stockfish</a:t>
            </a:r>
            <a:r>
              <a:rPr lang="ko-KR" altLang="en-US" sz="1200" dirty="0"/>
              <a:t>를 이용한 체스 </a:t>
            </a:r>
            <a:r>
              <a:rPr lang="en-US" altLang="ko-KR" sz="1200" dirty="0"/>
              <a:t>AI </a:t>
            </a:r>
            <a:r>
              <a:rPr lang="ko-KR" altLang="en-US" sz="1200" dirty="0"/>
              <a:t>프로그램</a:t>
            </a:r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C0A53CFC-621D-1712-AA44-32679D879456}"/>
              </a:ext>
            </a:extLst>
          </p:cNvPr>
          <p:cNvSpPr txBox="1">
            <a:spLocks/>
          </p:cNvSpPr>
          <p:nvPr/>
        </p:nvSpPr>
        <p:spPr>
          <a:xfrm>
            <a:off x="1009677" y="3963741"/>
            <a:ext cx="5076798" cy="460260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stockfish-windows-x86-64-avx2.zip</a:t>
            </a:r>
            <a:r>
              <a:rPr lang="ko-KR" altLang="en-US" dirty="0"/>
              <a:t>다운로드가 완료되면 압축 파일을 </a:t>
            </a:r>
            <a:r>
              <a:rPr lang="en-US" altLang="ko-KR" dirty="0"/>
              <a:t>engine </a:t>
            </a:r>
            <a:r>
              <a:rPr lang="ko-KR" altLang="en-US" dirty="0"/>
              <a:t>폴더 안에 복사한다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④ Python</a:t>
            </a:r>
            <a:r>
              <a:rPr lang="ko-KR" altLang="en-US" dirty="0"/>
              <a:t>과 </a:t>
            </a:r>
            <a:r>
              <a:rPr lang="en-US" altLang="ko-KR" dirty="0"/>
              <a:t>Stockfish </a:t>
            </a:r>
            <a:r>
              <a:rPr lang="ko-KR" altLang="en-US" dirty="0"/>
              <a:t>연결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Python</a:t>
            </a:r>
            <a:r>
              <a:rPr lang="ko-KR" altLang="en-US" dirty="0"/>
              <a:t>에서는 </a:t>
            </a:r>
            <a:r>
              <a:rPr lang="en-US" altLang="ko-KR" dirty="0"/>
              <a:t>python-chess </a:t>
            </a:r>
            <a:r>
              <a:rPr lang="ko-KR" altLang="en-US" dirty="0"/>
              <a:t>라이브러리의 </a:t>
            </a:r>
            <a:r>
              <a:rPr lang="en-US" altLang="ko-KR" dirty="0"/>
              <a:t>engine </a:t>
            </a:r>
            <a:r>
              <a:rPr lang="ko-KR" altLang="en-US" dirty="0"/>
              <a:t>모듈을 이용하여 </a:t>
            </a:r>
            <a:r>
              <a:rPr lang="en-US" altLang="ko-KR" dirty="0"/>
              <a:t>Stockfish</a:t>
            </a:r>
            <a:r>
              <a:rPr lang="ko-KR" altLang="en-US" dirty="0"/>
              <a:t>를 실행할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popen_uci</a:t>
            </a:r>
            <a:r>
              <a:rPr lang="en-US" altLang="ko-KR" dirty="0"/>
              <a:t>() </a:t>
            </a:r>
            <a:r>
              <a:rPr lang="ko-KR" altLang="en-US" dirty="0"/>
              <a:t>함수는 </a:t>
            </a:r>
            <a:r>
              <a:rPr lang="en-US" altLang="ko-KR" dirty="0"/>
              <a:t>UCI(Universal Chess Interface) </a:t>
            </a:r>
            <a:r>
              <a:rPr lang="ko-KR" altLang="en-US" dirty="0"/>
              <a:t>프로토콜을 사용하여 </a:t>
            </a:r>
            <a:r>
              <a:rPr lang="en-US" altLang="ko-KR" dirty="0"/>
              <a:t>Stockfish </a:t>
            </a:r>
            <a:r>
              <a:rPr lang="ko-KR" altLang="en-US" dirty="0"/>
              <a:t>엔진을 실행한다</a:t>
            </a:r>
            <a:r>
              <a:rPr lang="en-US" altLang="ko-KR" dirty="0"/>
              <a:t>. </a:t>
            </a:r>
            <a:r>
              <a:rPr lang="ko-KR" altLang="en-US" dirty="0"/>
              <a:t>실행이 성공하면 </a:t>
            </a:r>
            <a:r>
              <a:rPr lang="en-US" altLang="ko-KR" dirty="0"/>
              <a:t>Python </a:t>
            </a:r>
            <a:r>
              <a:rPr lang="ko-KR" altLang="en-US" dirty="0"/>
              <a:t>프로그램은 현재 체스 상태를 </a:t>
            </a:r>
            <a:r>
              <a:rPr lang="en-US" altLang="ko-KR" dirty="0"/>
              <a:t>Stockfish</a:t>
            </a:r>
            <a:r>
              <a:rPr lang="ko-KR" altLang="en-US" dirty="0"/>
              <a:t>에게 전달하고</a:t>
            </a:r>
            <a:r>
              <a:rPr lang="en-US" altLang="ko-KR" dirty="0"/>
              <a:t>, AI</a:t>
            </a:r>
            <a:r>
              <a:rPr lang="ko-KR" altLang="en-US" dirty="0"/>
              <a:t>가 계산한 최적의 수</a:t>
            </a:r>
            <a:r>
              <a:rPr lang="en-US" altLang="ko-KR" dirty="0"/>
              <a:t>(Best Move)</a:t>
            </a:r>
            <a:r>
              <a:rPr lang="ko-KR" altLang="en-US" dirty="0"/>
              <a:t>를 받을 수 있다</a:t>
            </a:r>
            <a:r>
              <a:rPr lang="en-US" altLang="ko-KR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3FCAE12-43B7-F558-9B23-EAC0B50E0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043" y="1109382"/>
            <a:ext cx="4491266" cy="267954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5FC2BC1-9F2B-671A-8F89-6880A02A55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07" r="3271"/>
          <a:stretch>
            <a:fillRect/>
          </a:stretch>
        </p:blipFill>
        <p:spPr>
          <a:xfrm>
            <a:off x="1213543" y="4575175"/>
            <a:ext cx="4531634" cy="9830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3740A3-AB09-7A53-DA9E-B5A2A4799A5D}"/>
              </a:ext>
            </a:extLst>
          </p:cNvPr>
          <p:cNvSpPr txBox="1"/>
          <p:nvPr/>
        </p:nvSpPr>
        <p:spPr>
          <a:xfrm>
            <a:off x="1158216" y="6687627"/>
            <a:ext cx="4928259" cy="978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import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SimpleEngine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popen_uci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/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stockfish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/stockfish-windows-x86-64-avx2.exe"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28954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58020-5CF2-B538-CBA8-EDC458DE9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B60AF-8E25-CA9F-A7F6-8AC6A0CB79D4}"/>
              </a:ext>
            </a:extLst>
          </p:cNvPr>
          <p:cNvSpPr txBox="1">
            <a:spLocks/>
          </p:cNvSpPr>
          <p:nvPr/>
        </p:nvSpPr>
        <p:spPr>
          <a:xfrm>
            <a:off x="689208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GUI </a:t>
            </a:r>
            <a:r>
              <a:rPr lang="ko-KR" altLang="en-US" sz="1200" dirty="0"/>
              <a:t>기반 체스 프로그램 동작 과정</a:t>
            </a:r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53D230A0-53F4-9F3F-3F95-1CD0711FD3B5}"/>
              </a:ext>
            </a:extLst>
          </p:cNvPr>
          <p:cNvSpPr txBox="1">
            <a:spLocks/>
          </p:cNvSpPr>
          <p:nvPr/>
        </p:nvSpPr>
        <p:spPr>
          <a:xfrm>
            <a:off x="603277" y="1080981"/>
            <a:ext cx="5076798" cy="767440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예제 코드 작성</a:t>
            </a:r>
            <a:r>
              <a:rPr lang="en-US" altLang="ko-KR" b="1" dirty="0"/>
              <a:t> ]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en-US" b="1" dirty="0"/>
              <a:t>코드 실행 결과</a:t>
            </a:r>
            <a:r>
              <a:rPr lang="en-US" altLang="ko-KR" b="1" dirty="0"/>
              <a:t>]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ko-KR" altLang="en-US" dirty="0"/>
              <a:t>이제 </a:t>
            </a:r>
            <a:r>
              <a:rPr lang="en-US" altLang="ko-KR" dirty="0"/>
              <a:t>Stockfish </a:t>
            </a:r>
            <a:r>
              <a:rPr lang="ko-KR" altLang="en-US" dirty="0"/>
              <a:t>설치가 완료되었다</a:t>
            </a:r>
            <a:r>
              <a:rPr lang="en-US" altLang="ko-KR" dirty="0"/>
              <a:t>. </a:t>
            </a:r>
            <a:r>
              <a:rPr lang="ko-KR" altLang="en-US" dirty="0"/>
              <a:t>다음으로는</a:t>
            </a:r>
            <a:r>
              <a:rPr lang="en-US" altLang="ko-KR" dirty="0"/>
              <a:t> python-chess</a:t>
            </a:r>
            <a:r>
              <a:rPr lang="ko-KR" altLang="en-US" dirty="0"/>
              <a:t>의 엔진 모듈을 사용하여 현재 </a:t>
            </a:r>
            <a:r>
              <a:rPr lang="ko-KR" altLang="en-US" dirty="0" err="1"/>
              <a:t>체스판</a:t>
            </a:r>
            <a:r>
              <a:rPr lang="ko-KR" altLang="en-US" dirty="0"/>
              <a:t> 상태를 전달하고</a:t>
            </a:r>
            <a:r>
              <a:rPr lang="en-US" altLang="ko-KR" dirty="0"/>
              <a:t>, AI</a:t>
            </a:r>
            <a:r>
              <a:rPr lang="ko-KR" altLang="en-US" dirty="0"/>
              <a:t>가 계산한 최적의 수</a:t>
            </a:r>
            <a:r>
              <a:rPr lang="en-US" altLang="ko-KR" dirty="0"/>
              <a:t>(Best Move)</a:t>
            </a:r>
            <a:r>
              <a:rPr lang="ko-KR" altLang="en-US" dirty="0"/>
              <a:t>를 받아오는 방법을 살펴본다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Stockfish </a:t>
            </a:r>
            <a:r>
              <a:rPr lang="ko-KR" altLang="en-US" dirty="0"/>
              <a:t>설치가 완료되었다면 이제 </a:t>
            </a:r>
            <a:r>
              <a:rPr lang="en-US" altLang="ko-KR" dirty="0"/>
              <a:t>Python </a:t>
            </a:r>
            <a:r>
              <a:rPr lang="ko-KR" altLang="en-US" dirty="0"/>
              <a:t>프로그램에서 </a:t>
            </a:r>
            <a:r>
              <a:rPr lang="en-US" altLang="ko-KR" dirty="0"/>
              <a:t>Stockfish</a:t>
            </a:r>
            <a:r>
              <a:rPr lang="ko-KR" altLang="en-US" dirty="0"/>
              <a:t>에게 현재 체스 상태를 전달하고 </a:t>
            </a:r>
            <a:r>
              <a:rPr lang="en-US" altLang="ko-KR" dirty="0"/>
              <a:t>AI</a:t>
            </a:r>
            <a:r>
              <a:rPr lang="ko-KR" altLang="en-US" dirty="0"/>
              <a:t>가 계산한 최적의 수</a:t>
            </a:r>
            <a:r>
              <a:rPr lang="en-US" altLang="ko-KR" dirty="0"/>
              <a:t>(Best Move)</a:t>
            </a:r>
            <a:r>
              <a:rPr lang="ko-KR" altLang="en-US" dirty="0"/>
              <a:t>를 받아올 수 있다</a:t>
            </a:r>
            <a:r>
              <a:rPr lang="en-US" altLang="ko-KR" dirty="0"/>
              <a:t>. python-chess </a:t>
            </a:r>
            <a:r>
              <a:rPr lang="ko-KR" altLang="en-US" dirty="0"/>
              <a:t>라이브러리는 </a:t>
            </a:r>
            <a:r>
              <a:rPr lang="ko-KR" altLang="en-US" dirty="0" err="1"/>
              <a:t>체스판</a:t>
            </a:r>
            <a:r>
              <a:rPr lang="ko-KR" altLang="en-US" dirty="0"/>
              <a:t> 상태를 관리하는 </a:t>
            </a:r>
            <a:r>
              <a:rPr lang="ko-KR" altLang="en-US" dirty="0" err="1"/>
              <a:t>기능뿐만</a:t>
            </a:r>
            <a:r>
              <a:rPr lang="ko-KR" altLang="en-US" dirty="0"/>
              <a:t> 아니라 체스 엔진과 통신하기 위한 </a:t>
            </a:r>
            <a:r>
              <a:rPr lang="en-US" altLang="ko-KR" dirty="0" err="1"/>
              <a:t>chess.engine</a:t>
            </a:r>
            <a:r>
              <a:rPr lang="en-US" altLang="ko-KR" dirty="0"/>
              <a:t> </a:t>
            </a:r>
            <a:r>
              <a:rPr lang="ko-KR" altLang="en-US" dirty="0"/>
              <a:t>모듈도 제공한다</a:t>
            </a:r>
            <a:r>
              <a:rPr lang="en-US" altLang="ko-KR" dirty="0"/>
              <a:t>. </a:t>
            </a:r>
            <a:r>
              <a:rPr lang="ko-KR" altLang="en-US" dirty="0"/>
              <a:t>먼저 체스판을 생성하고 </a:t>
            </a:r>
            <a:r>
              <a:rPr lang="en-US" altLang="ko-KR" dirty="0"/>
              <a:t>Stockfish </a:t>
            </a:r>
            <a:r>
              <a:rPr lang="ko-KR" altLang="en-US" dirty="0"/>
              <a:t>엔진을 실행한다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예제 코드 작성</a:t>
            </a:r>
            <a:r>
              <a:rPr lang="en-US" altLang="ko-KR" b="1" dirty="0"/>
              <a:t> ]</a:t>
            </a:r>
          </a:p>
          <a:p>
            <a:pPr marL="0" indent="0">
              <a:lnSpc>
                <a:spcPct val="160000"/>
              </a:lnSpc>
              <a:buNone/>
            </a:pPr>
            <a:endParaRPr lang="en-US" altLang="ko-KR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2D079A-9EAC-55C6-7AEF-F3EA5412AF37}"/>
              </a:ext>
            </a:extLst>
          </p:cNvPr>
          <p:cNvSpPr txBox="1"/>
          <p:nvPr/>
        </p:nvSpPr>
        <p:spPr>
          <a:xfrm>
            <a:off x="939800" y="1411180"/>
            <a:ext cx="4672012" cy="1337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import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SimpleEngine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popen_uci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/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stockfish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/stockfish-windows-x86-64-avx2.exe"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print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Stockfish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연결 성공!"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quit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6C2FBED-FCE1-91D0-6CA8-D32C55690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874" y="3078796"/>
            <a:ext cx="1543265" cy="200053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0B43230-64C5-7D40-7280-8B34F6290260}"/>
              </a:ext>
            </a:extLst>
          </p:cNvPr>
          <p:cNvSpPr txBox="1">
            <a:spLocks/>
          </p:cNvSpPr>
          <p:nvPr/>
        </p:nvSpPr>
        <p:spPr>
          <a:xfrm>
            <a:off x="482462" y="4377635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ko-KR" sz="1100" dirty="0" err="1"/>
              <a:t>python-chess</a:t>
            </a:r>
            <a:r>
              <a:rPr lang="ko-KR" altLang="ko-KR" sz="1100" dirty="0"/>
              <a:t> 엔진 모듈 사용하기</a:t>
            </a:r>
            <a:endParaRPr lang="ko-KR" alt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39B7C6-0225-5A5B-6EA0-5326E6E4C36E}"/>
              </a:ext>
            </a:extLst>
          </p:cNvPr>
          <p:cNvSpPr txBox="1"/>
          <p:nvPr/>
        </p:nvSpPr>
        <p:spPr>
          <a:xfrm>
            <a:off x="939800" y="6151714"/>
            <a:ext cx="4914900" cy="2414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import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import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SimpleEngine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popen_uci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/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stockfish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/stockfish-windows-x86-64-avx2.exe"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result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play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Limit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time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1.0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print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"AI 선택:"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result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push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result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quit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138082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689D8-63A0-ADBF-E3A5-3EA7B8425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7CB7A8B-D2D3-215A-931A-806C98AC43C0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Stockfish</a:t>
            </a:r>
            <a:r>
              <a:rPr lang="ko-KR" altLang="en-US" sz="1200" dirty="0"/>
              <a:t>를 이용한 체스 </a:t>
            </a:r>
            <a:r>
              <a:rPr lang="en-US" altLang="ko-KR" sz="1200" dirty="0"/>
              <a:t>AI </a:t>
            </a:r>
            <a:r>
              <a:rPr lang="ko-KR" altLang="en-US" sz="1200" dirty="0"/>
              <a:t>프로그램</a:t>
            </a:r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6FC93527-0ED3-6F76-EDA8-73450240C638}"/>
              </a:ext>
            </a:extLst>
          </p:cNvPr>
          <p:cNvSpPr txBox="1">
            <a:spLocks/>
          </p:cNvSpPr>
          <p:nvPr/>
        </p:nvSpPr>
        <p:spPr>
          <a:xfrm>
            <a:off x="1009677" y="1054101"/>
            <a:ext cx="5076798" cy="751225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en-US" b="1" dirty="0"/>
              <a:t>코드 실행 결과</a:t>
            </a:r>
            <a:r>
              <a:rPr lang="en-US" altLang="ko-KR" b="1" dirty="0"/>
              <a:t>]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ko-KR" altLang="en-US" sz="1100" dirty="0"/>
              <a:t>위 결과는 </a:t>
            </a:r>
            <a:r>
              <a:rPr lang="en-US" altLang="ko-KR" sz="1100" dirty="0"/>
              <a:t>Stockfish</a:t>
            </a:r>
            <a:r>
              <a:rPr lang="ko-KR" altLang="en-US" sz="1100" dirty="0"/>
              <a:t>가 현재 시작 </a:t>
            </a:r>
            <a:r>
              <a:rPr lang="ko-KR" altLang="en-US" sz="1100" dirty="0" err="1"/>
              <a:t>체스판</a:t>
            </a:r>
            <a:r>
              <a:rPr lang="ko-KR" altLang="en-US" sz="1100" dirty="0"/>
              <a:t> 상태에서 </a:t>
            </a:r>
            <a:r>
              <a:rPr lang="en-US" altLang="ko-KR" sz="1100" dirty="0"/>
              <a:t>e2 </a:t>
            </a:r>
            <a:r>
              <a:rPr lang="ko-KR" altLang="en-US" sz="1100" dirty="0"/>
              <a:t>위치의 폰을 </a:t>
            </a:r>
            <a:r>
              <a:rPr lang="en-US" altLang="ko-KR" sz="1100" dirty="0"/>
              <a:t>e4</a:t>
            </a:r>
            <a:r>
              <a:rPr lang="ko-KR" altLang="en-US" sz="1100" dirty="0"/>
              <a:t>로 이동하는 수를 가장 좋은 수</a:t>
            </a:r>
            <a:r>
              <a:rPr lang="en-US" altLang="ko-KR" sz="1100" dirty="0"/>
              <a:t>(Best Move)</a:t>
            </a:r>
            <a:r>
              <a:rPr lang="ko-KR" altLang="en-US" sz="1100" dirty="0"/>
              <a:t>로 판단했다는 의미이다</a:t>
            </a:r>
            <a:r>
              <a:rPr lang="en-US" altLang="ko-KR" sz="1100" dirty="0"/>
              <a:t>.</a:t>
            </a:r>
          </a:p>
          <a:p>
            <a:pPr marL="0" indent="0"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코드 설명</a:t>
            </a:r>
            <a:r>
              <a:rPr lang="en-US" altLang="ko-KR" b="1" dirty="0"/>
              <a:t>]</a:t>
            </a:r>
          </a:p>
          <a:p>
            <a:pPr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result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play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  <a:r>
              <a:rPr lang="en-US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altLang="ko-KR" sz="800" dirty="0">
                <a:solidFill>
                  <a:srgbClr val="3C3836"/>
                </a:solidFill>
                <a:latin typeface="Consolas" panose="020B0609020204030204" pitchFamily="49" charset="0"/>
              </a:rPr>
              <a:t>: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현재 </a:t>
            </a:r>
            <a:r>
              <a:rPr lang="ko-KR" altLang="en-US" dirty="0" err="1">
                <a:solidFill>
                  <a:srgbClr val="3C3836"/>
                </a:solidFill>
                <a:latin typeface="Consolas" panose="020B0609020204030204" pitchFamily="49" charset="0"/>
              </a:rPr>
              <a:t>체스판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 상태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(board)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를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Stockfish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엔진에게 전달하고 최적의 수를 계산하도록 요청한다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첫 번째 매개변수인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board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는 현재 </a:t>
            </a:r>
            <a:r>
              <a:rPr lang="ko-KR" altLang="en-US" dirty="0" err="1">
                <a:solidFill>
                  <a:srgbClr val="3C3836"/>
                </a:solidFill>
                <a:latin typeface="Consolas" panose="020B0609020204030204" pitchFamily="49" charset="0"/>
              </a:rPr>
              <a:t>체스판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 상태를 의미하며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, Stockfish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는 이 상태를 분석하여 가장 좋은 수를 탐색한다</a:t>
            </a:r>
            <a:r>
              <a:rPr lang="en-US" altLang="ko-KR" dirty="0"/>
              <a:t>.</a:t>
            </a:r>
          </a:p>
          <a:p>
            <a:pPr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Limit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time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1.0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  <a:r>
              <a:rPr lang="en-US" altLang="ko-KR" dirty="0">
                <a:solidFill>
                  <a:srgbClr val="000000"/>
                </a:solidFill>
                <a:latin typeface="Roboto Mono" panose="00000009000000000000" pitchFamily="49" charset="0"/>
              </a:rPr>
              <a:t> : </a:t>
            </a:r>
            <a:r>
              <a:rPr lang="en-US" altLang="ko-KR" sz="200" dirty="0">
                <a:solidFill>
                  <a:srgbClr val="3C3836"/>
                </a:solidFill>
                <a:latin typeface="Consolas" panose="020B0609020204030204" pitchFamily="49" charset="0"/>
              </a:rPr>
              <a:t>: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Stockfish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가 수를 계산할 수 있는 시간을 설정한다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여기서는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1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초 동안 체스판을 분석한 후 최적의 수를 반환한다</a:t>
            </a:r>
            <a:r>
              <a:rPr lang="en-US" altLang="ko-KR" dirty="0"/>
              <a:t>.</a:t>
            </a:r>
          </a:p>
          <a:p>
            <a:pPr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result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en-US" altLang="ko-KR" dirty="0">
                <a:solidFill>
                  <a:srgbClr val="000000"/>
                </a:solidFill>
                <a:latin typeface="Roboto Mono" panose="00000009000000000000" pitchFamily="49" charset="0"/>
              </a:rPr>
              <a:t> :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Stockfish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가 계산한 최적의 수를 반환한다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예를 들어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e2e4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가 출력되었다면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e2 → e4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로 폰을 이동하라는 의미이다</a:t>
            </a:r>
            <a:r>
              <a:rPr lang="en-US" altLang="ko-KR" dirty="0"/>
              <a:t>.</a:t>
            </a:r>
          </a:p>
          <a:p>
            <a:pPr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quit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  <a:r>
              <a:rPr lang="en-US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Roboto Mono" panose="00000009000000000000" pitchFamily="49" charset="0"/>
              </a:rPr>
              <a:t>: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Stockfish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엔진을 종료한다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체스 엔진은 별도의 프로세스로 실행되기 때문에 프로그램 종료 전에 반드시 엔진을 정리해야 한다</a:t>
            </a:r>
            <a:r>
              <a:rPr lang="en-US" altLang="ko-KR" dirty="0"/>
              <a:t>.</a:t>
            </a:r>
          </a:p>
          <a:p>
            <a:pPr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>
              <a:lnSpc>
                <a:spcPts val="135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89B6A32-C88C-C072-8ADD-BC6454AAE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143" y="1404003"/>
            <a:ext cx="1247949" cy="190527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389E343D-F610-B67C-B38C-897C882147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3661"/>
          <a:stretch>
            <a:fillRect/>
          </a:stretch>
        </p:blipFill>
        <p:spPr>
          <a:xfrm>
            <a:off x="1646238" y="4843934"/>
            <a:ext cx="3690128" cy="384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283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F8A5A-40E5-55EC-5D27-429378BB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21A86-6C4F-4F4D-1772-785D0A471A35}"/>
              </a:ext>
            </a:extLst>
          </p:cNvPr>
          <p:cNvSpPr txBox="1">
            <a:spLocks/>
          </p:cNvSpPr>
          <p:nvPr/>
        </p:nvSpPr>
        <p:spPr>
          <a:xfrm>
            <a:off x="689208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GUI </a:t>
            </a:r>
            <a:r>
              <a:rPr lang="ko-KR" altLang="en-US" sz="1200" dirty="0"/>
              <a:t>기반 체스 프로그램 동작 과정</a:t>
            </a:r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6F1C147D-B425-B6A1-04B6-2EB5BE92E1F1}"/>
              </a:ext>
            </a:extLst>
          </p:cNvPr>
          <p:cNvSpPr txBox="1">
            <a:spLocks/>
          </p:cNvSpPr>
          <p:nvPr/>
        </p:nvSpPr>
        <p:spPr>
          <a:xfrm>
            <a:off x="603277" y="1080981"/>
            <a:ext cx="5076798" cy="767440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위 과정은 </a:t>
            </a:r>
            <a:r>
              <a:rPr lang="en-US" altLang="ko-KR" dirty="0"/>
              <a:t>Python </a:t>
            </a:r>
            <a:r>
              <a:rPr lang="ko-KR" altLang="en-US" dirty="0"/>
              <a:t>프로그램이 </a:t>
            </a:r>
            <a:r>
              <a:rPr lang="en-US" altLang="ko-KR" dirty="0"/>
              <a:t>Stockfish</a:t>
            </a:r>
            <a:r>
              <a:rPr lang="ko-KR" altLang="en-US" dirty="0"/>
              <a:t>와 통신하여 </a:t>
            </a:r>
            <a:r>
              <a:rPr lang="en-US" altLang="ko-KR" dirty="0"/>
              <a:t>AI</a:t>
            </a:r>
            <a:r>
              <a:rPr lang="ko-KR" altLang="en-US" dirty="0"/>
              <a:t>의 수를 받아오는 전체 과정을 나타낸다</a:t>
            </a:r>
            <a:r>
              <a:rPr lang="en-US" altLang="ko-KR" dirty="0"/>
              <a:t>. </a:t>
            </a:r>
            <a:r>
              <a:rPr lang="ko-KR" altLang="en-US" dirty="0"/>
              <a:t>먼저 </a:t>
            </a:r>
            <a:r>
              <a:rPr lang="en-US" altLang="ko-KR" dirty="0"/>
              <a:t>Board()</a:t>
            </a:r>
            <a:r>
              <a:rPr lang="ko-KR" altLang="en-US" dirty="0"/>
              <a:t>를 이용하여 체스판을 생성한 후</a:t>
            </a:r>
            <a:r>
              <a:rPr lang="en-US" altLang="ko-KR" dirty="0"/>
              <a:t>, </a:t>
            </a:r>
            <a:r>
              <a:rPr lang="en-US" altLang="ko-KR" dirty="0" err="1"/>
              <a:t>popen_uci</a:t>
            </a:r>
            <a:r>
              <a:rPr lang="en-US" altLang="ko-KR" dirty="0"/>
              <a:t>()</a:t>
            </a:r>
            <a:r>
              <a:rPr lang="ko-KR" altLang="en-US" dirty="0"/>
              <a:t>로 </a:t>
            </a:r>
            <a:r>
              <a:rPr lang="en-US" altLang="ko-KR" dirty="0"/>
              <a:t>Stockfish </a:t>
            </a:r>
            <a:r>
              <a:rPr lang="ko-KR" altLang="en-US" dirty="0"/>
              <a:t>엔진을 실행한다</a:t>
            </a:r>
            <a:r>
              <a:rPr lang="en-US" altLang="ko-KR" dirty="0"/>
              <a:t>. </a:t>
            </a:r>
            <a:r>
              <a:rPr lang="ko-KR" altLang="en-US" dirty="0"/>
              <a:t>이후 현재 </a:t>
            </a:r>
            <a:r>
              <a:rPr lang="ko-KR" altLang="en-US" dirty="0" err="1"/>
              <a:t>체스판</a:t>
            </a:r>
            <a:r>
              <a:rPr lang="ko-KR" altLang="en-US" dirty="0"/>
              <a:t> 상태를 엔진에 전달하면 </a:t>
            </a:r>
            <a:r>
              <a:rPr lang="en-US" altLang="ko-KR" dirty="0"/>
              <a:t>Stockfish</a:t>
            </a:r>
            <a:r>
              <a:rPr lang="ko-KR" altLang="en-US" dirty="0"/>
              <a:t>가 최적의 수를 계산하고</a:t>
            </a:r>
            <a:r>
              <a:rPr lang="en-US" altLang="ko-KR" dirty="0"/>
              <a:t>, </a:t>
            </a:r>
            <a:r>
              <a:rPr lang="ko-KR" altLang="en-US" dirty="0"/>
              <a:t>그 결과를 </a:t>
            </a:r>
            <a:r>
              <a:rPr lang="en-US" altLang="ko-KR" dirty="0" err="1"/>
              <a:t>result.move</a:t>
            </a:r>
            <a:r>
              <a:rPr lang="ko-KR" altLang="en-US" dirty="0"/>
              <a:t>로 반환한다</a:t>
            </a:r>
            <a:r>
              <a:rPr lang="en-US" altLang="ko-KR" dirty="0"/>
              <a:t>. </a:t>
            </a:r>
            <a:r>
              <a:rPr lang="ko-KR" altLang="en-US" dirty="0"/>
              <a:t>반환된 수는 </a:t>
            </a:r>
            <a:r>
              <a:rPr lang="en-US" altLang="ko-KR" dirty="0" err="1"/>
              <a:t>board.push</a:t>
            </a:r>
            <a:r>
              <a:rPr lang="en-US" altLang="ko-KR" dirty="0"/>
              <a:t>()</a:t>
            </a:r>
            <a:r>
              <a:rPr lang="ko-KR" altLang="en-US" dirty="0"/>
              <a:t>를 통해 실제 </a:t>
            </a:r>
            <a:r>
              <a:rPr lang="ko-KR" altLang="en-US" dirty="0" err="1"/>
              <a:t>체스판</a:t>
            </a:r>
            <a:r>
              <a:rPr lang="ko-KR" altLang="en-US" dirty="0"/>
              <a:t> 상태에 반영되며</a:t>
            </a:r>
            <a:r>
              <a:rPr lang="en-US" altLang="ko-KR" dirty="0"/>
              <a:t>, </a:t>
            </a:r>
            <a:r>
              <a:rPr lang="ko-KR" altLang="en-US" dirty="0"/>
              <a:t>마지막으로 </a:t>
            </a:r>
            <a:r>
              <a:rPr lang="en-US" altLang="ko-KR" dirty="0" err="1"/>
              <a:t>engine.quit</a:t>
            </a:r>
            <a:r>
              <a:rPr lang="en-US" altLang="ko-KR" dirty="0"/>
              <a:t>()</a:t>
            </a:r>
            <a:r>
              <a:rPr lang="ko-KR" altLang="en-US" dirty="0"/>
              <a:t>을 호출하여 실행 중인 </a:t>
            </a:r>
            <a:r>
              <a:rPr lang="en-US" altLang="ko-KR" dirty="0"/>
              <a:t>Stockfish </a:t>
            </a:r>
            <a:r>
              <a:rPr lang="ko-KR" altLang="en-US" dirty="0"/>
              <a:t>엔진을 종료한다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지금까지는 </a:t>
            </a:r>
            <a:r>
              <a:rPr lang="en-US" altLang="ko-KR" dirty="0"/>
              <a:t>Stockfish</a:t>
            </a:r>
            <a:r>
              <a:rPr lang="ko-KR" altLang="en-US" dirty="0"/>
              <a:t>가 현재 체스 상태를 분석하여 최적의 수를 계산하는 방법을 살펴보았다</a:t>
            </a:r>
            <a:r>
              <a:rPr lang="en-US" altLang="ko-KR" dirty="0"/>
              <a:t>. </a:t>
            </a:r>
            <a:r>
              <a:rPr lang="ko-KR" altLang="en-US" dirty="0"/>
              <a:t>하지만 실제 체스 프로그램에서는 사용자가 수를 둔 뒤 </a:t>
            </a:r>
            <a:r>
              <a:rPr lang="en-US" altLang="ko-KR" dirty="0"/>
              <a:t>AI</a:t>
            </a:r>
            <a:r>
              <a:rPr lang="ko-KR" altLang="en-US" dirty="0"/>
              <a:t>가 자동으로 응수해야 한다</a:t>
            </a:r>
            <a:r>
              <a:rPr lang="en-US" altLang="ko-KR" dirty="0"/>
              <a:t>. </a:t>
            </a:r>
            <a:r>
              <a:rPr lang="ko-KR" altLang="en-US" dirty="0"/>
              <a:t>이를 위해서는 사용자의 수를 체스판에 적용한 후 현재 체스 상태를 </a:t>
            </a:r>
            <a:r>
              <a:rPr lang="en-US" altLang="ko-KR" dirty="0"/>
              <a:t>Stockfish</a:t>
            </a:r>
            <a:r>
              <a:rPr lang="ko-KR" altLang="en-US" dirty="0"/>
              <a:t>에게 전달하고</a:t>
            </a:r>
            <a:r>
              <a:rPr lang="en-US" altLang="ko-KR" dirty="0"/>
              <a:t>, AI</a:t>
            </a:r>
            <a:r>
              <a:rPr lang="ko-KR" altLang="en-US" dirty="0"/>
              <a:t>가 계산한 수를 다시 체스판에 적용하는 과정이 필요하다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① 사용자 수 적용하기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예를 들어 사용자가 </a:t>
            </a:r>
            <a:r>
              <a:rPr lang="en-US" altLang="ko-KR" dirty="0"/>
              <a:t>e2 → e4</a:t>
            </a:r>
            <a:r>
              <a:rPr lang="ko-KR" altLang="en-US" dirty="0"/>
              <a:t>를 선택했다고 가정해보자</a:t>
            </a:r>
            <a:r>
              <a:rPr lang="en-US" altLang="ko-KR" dirty="0"/>
              <a:t>. </a:t>
            </a:r>
            <a:r>
              <a:rPr lang="ko-KR" altLang="en-US" dirty="0"/>
              <a:t>다음 코드를 사용하면 체스판에 사용자의 수를 적용할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② AI </a:t>
            </a:r>
            <a:r>
              <a:rPr lang="ko-KR" altLang="en-US" dirty="0"/>
              <a:t>수 계산하기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사용자의 수가 적용된 후 현재 체스 상태를 </a:t>
            </a:r>
            <a:r>
              <a:rPr lang="en-US" altLang="ko-KR" dirty="0"/>
              <a:t>Stockfish</a:t>
            </a:r>
            <a:r>
              <a:rPr lang="ko-KR" altLang="en-US" dirty="0"/>
              <a:t>에게 전달한다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③ AI </a:t>
            </a:r>
            <a:r>
              <a:rPr lang="ko-KR" altLang="en-US" dirty="0"/>
              <a:t>수 적용하기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Stockfish</a:t>
            </a:r>
            <a:r>
              <a:rPr lang="ko-KR" altLang="en-US" dirty="0"/>
              <a:t>가 계산한 수를 체스판에 반영한다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478E474F-EFE5-0662-1675-C7EE58352658}"/>
              </a:ext>
            </a:extLst>
          </p:cNvPr>
          <p:cNvSpPr txBox="1">
            <a:spLocks/>
          </p:cNvSpPr>
          <p:nvPr/>
        </p:nvSpPr>
        <p:spPr>
          <a:xfrm>
            <a:off x="482462" y="2599635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ko-KR" sz="1100" dirty="0"/>
              <a:t>사람과 </a:t>
            </a:r>
            <a:r>
              <a:rPr lang="ko-KR" altLang="ko-KR" sz="1100" dirty="0" err="1"/>
              <a:t>AI가</a:t>
            </a:r>
            <a:r>
              <a:rPr lang="ko-KR" altLang="ko-KR" sz="1100" dirty="0"/>
              <a:t> 번갈아 두기</a:t>
            </a:r>
            <a:endParaRPr lang="ko-KR" alt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43E592-C896-E2DC-52FE-50F2B61D2499}"/>
              </a:ext>
            </a:extLst>
          </p:cNvPr>
          <p:cNvSpPr txBox="1"/>
          <p:nvPr/>
        </p:nvSpPr>
        <p:spPr>
          <a:xfrm>
            <a:off x="1071224" y="4811820"/>
            <a:ext cx="3378200" cy="439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push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result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A53F2-DA8F-62B8-DE3D-909DBE40483E}"/>
              </a:ext>
            </a:extLst>
          </p:cNvPr>
          <p:cNvSpPr txBox="1"/>
          <p:nvPr/>
        </p:nvSpPr>
        <p:spPr>
          <a:xfrm>
            <a:off x="1071224" y="5829916"/>
            <a:ext cx="3378200" cy="79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result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play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Limit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time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1.0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E68340-9258-8791-FCE3-5C987EB972A7}"/>
              </a:ext>
            </a:extLst>
          </p:cNvPr>
          <p:cNvSpPr txBox="1"/>
          <p:nvPr/>
        </p:nvSpPr>
        <p:spPr>
          <a:xfrm>
            <a:off x="1071224" y="7527972"/>
            <a:ext cx="3378200" cy="439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push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result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9018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62EBC-63CE-A4B4-7472-19500F841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C84186-EA1F-3027-6F5C-4D67DB863C4E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sz="1200" dirty="0"/>
              <a:t>GUI 체스 프로그램과 </a:t>
            </a:r>
            <a:r>
              <a:rPr lang="ko-KR" altLang="ko-KR" sz="1200" dirty="0" err="1"/>
              <a:t>Stockfish</a:t>
            </a:r>
            <a:r>
              <a:rPr lang="ko-KR" altLang="ko-KR" sz="1200" dirty="0"/>
              <a:t> 연결</a:t>
            </a:r>
            <a:endParaRPr lang="ko-KR" altLang="en-US" sz="1200" dirty="0"/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56BB3F9E-D9D8-7BB1-A52B-BF70D071083D}"/>
              </a:ext>
            </a:extLst>
          </p:cNvPr>
          <p:cNvSpPr txBox="1">
            <a:spLocks/>
          </p:cNvSpPr>
          <p:nvPr/>
        </p:nvSpPr>
        <p:spPr>
          <a:xfrm>
            <a:off x="1009677" y="1308101"/>
            <a:ext cx="5076798" cy="730904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지금까지 우리는 </a:t>
            </a:r>
            <a:r>
              <a:rPr lang="en-US" altLang="ko-KR" dirty="0" err="1"/>
              <a:t>Tkinter</a:t>
            </a:r>
            <a:r>
              <a:rPr lang="ko-KR" altLang="en-US" dirty="0"/>
              <a:t>를 이용하여 </a:t>
            </a:r>
            <a:r>
              <a:rPr lang="en-US" altLang="ko-KR" dirty="0"/>
              <a:t>GUI </a:t>
            </a:r>
            <a:r>
              <a:rPr lang="ko-KR" altLang="en-US" dirty="0"/>
              <a:t>체스 프로그램을 구현하였고</a:t>
            </a:r>
            <a:r>
              <a:rPr lang="en-US" altLang="ko-KR" dirty="0"/>
              <a:t>, Stockfish </a:t>
            </a:r>
            <a:r>
              <a:rPr lang="ko-KR" altLang="en-US" dirty="0"/>
              <a:t>엔진을 사용하여 </a:t>
            </a:r>
            <a:r>
              <a:rPr lang="en-US" altLang="ko-KR" dirty="0"/>
              <a:t>AI</a:t>
            </a:r>
            <a:r>
              <a:rPr lang="ko-KR" altLang="en-US" dirty="0"/>
              <a:t>가 최적의 수를 계산하는 방법도 살펴보았다</a:t>
            </a:r>
            <a:r>
              <a:rPr lang="en-US" altLang="ko-KR" dirty="0"/>
              <a:t>. </a:t>
            </a:r>
            <a:r>
              <a:rPr lang="ko-KR" altLang="en-US" dirty="0"/>
              <a:t>이제 마지막으로 </a:t>
            </a:r>
            <a:r>
              <a:rPr lang="en-US" altLang="ko-KR" dirty="0"/>
              <a:t>GUI </a:t>
            </a:r>
            <a:r>
              <a:rPr lang="ko-KR" altLang="en-US" dirty="0"/>
              <a:t>체스 프로그램과 </a:t>
            </a:r>
            <a:r>
              <a:rPr lang="en-US" altLang="ko-KR" dirty="0"/>
              <a:t>Stockfish</a:t>
            </a:r>
            <a:r>
              <a:rPr lang="ko-KR" altLang="en-US" dirty="0"/>
              <a:t>를 연결하여 사용자가 수를 두면 </a:t>
            </a:r>
            <a:r>
              <a:rPr lang="en-US" altLang="ko-KR" dirty="0"/>
              <a:t>AI</a:t>
            </a:r>
            <a:r>
              <a:rPr lang="ko-KR" altLang="en-US" dirty="0"/>
              <a:t>가 자동으로 응수하는 체스 프로그램을 완성해보자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예제 코드 작성</a:t>
            </a:r>
            <a:r>
              <a:rPr lang="en-US" altLang="ko-KR" b="1" dirty="0"/>
              <a:t> ]</a:t>
            </a: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C248BB79-A675-1F4D-E79D-3E7A7425F297}"/>
              </a:ext>
            </a:extLst>
          </p:cNvPr>
          <p:cNvSpPr txBox="1">
            <a:spLocks/>
          </p:cNvSpPr>
          <p:nvPr/>
        </p:nvSpPr>
        <p:spPr>
          <a:xfrm>
            <a:off x="921743" y="1023468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ko-KR" sz="1100" dirty="0"/>
              <a:t>GUI 체스 프로그램과 </a:t>
            </a:r>
            <a:r>
              <a:rPr lang="ko-KR" altLang="ko-KR" sz="1100" dirty="0" err="1"/>
              <a:t>Stockfish</a:t>
            </a:r>
            <a:r>
              <a:rPr lang="ko-KR" altLang="ko-KR" sz="1100" dirty="0"/>
              <a:t> 연결</a:t>
            </a:r>
            <a:endParaRPr lang="ko-KR" alt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C80EE8-3A6A-33FB-857F-8E99871902E9}"/>
              </a:ext>
            </a:extLst>
          </p:cNvPr>
          <p:cNvSpPr txBox="1"/>
          <p:nvPr/>
        </p:nvSpPr>
        <p:spPr>
          <a:xfrm>
            <a:off x="1009677" y="2609771"/>
            <a:ext cx="4907554" cy="6366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import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tkinter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as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tk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from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tkinter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import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messagebox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import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import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</a:b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class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ChessGUI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def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__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init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__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root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root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root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root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title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Tkinter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vs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Stockfish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</a:b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None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square_size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72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</a:b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SimpleEngine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popen_uci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/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stockfish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/stockfish-windows-x86-64-</a:t>
            </a:r>
            <a:endParaRPr lang="en-US" altLang="ko-KR" sz="1050" b="0" dirty="0">
              <a:solidFill>
                <a:srgbClr val="B31412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50" dirty="0">
                <a:solidFill>
                  <a:srgbClr val="B31412"/>
                </a:solidFill>
                <a:latin typeface="Roboto Mono" panose="00000009000000000000" pitchFamily="49" charset="0"/>
              </a:rPr>
              <a:t>                                                 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avx2.exe"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)</a:t>
            </a:r>
          </a:p>
          <a:p>
            <a:pPr>
              <a:lnSpc>
                <a:spcPts val="1350"/>
              </a:lnSpc>
              <a:buNone/>
            </a:pP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light_color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"#F0D9B5"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dark_color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"#B58863"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select_color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"#F6F669"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move_color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"#A9D18E"</a:t>
            </a:r>
            <a:b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</a:b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piece_symbols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{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80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P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"♙"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80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N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"♘"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80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B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"♗"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80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R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"♖"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80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Q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"♕"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"K"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"♔"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80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p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"♟"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80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n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"♞"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80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b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"♝"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80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r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"♜"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80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q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"♛"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"k"</a:t>
            </a:r>
            <a:r>
              <a:rPr lang="ko-KR" altLang="ko-KR" sz="80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 </a:t>
            </a:r>
            <a:r>
              <a:rPr lang="ko-KR" altLang="ko-KR" sz="80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"♚"</a:t>
            </a:r>
            <a:endParaRPr lang="ko-KR" altLang="ko-KR" sz="80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}</a:t>
            </a:r>
            <a:endParaRPr lang="en-US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status_label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tk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Label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root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text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White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to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font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=(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Arial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14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bold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pady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10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)</a:t>
            </a:r>
            <a:endParaRPr lang="ko-KR" altLang="en-US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ko-KR" altLang="ko-KR" sz="1050" b="1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8729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692DD-9D6F-8855-BA0C-F83D844C9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EF7DC-2D23-B7BD-2595-29B8D8B301F7}"/>
              </a:ext>
            </a:extLst>
          </p:cNvPr>
          <p:cNvSpPr txBox="1">
            <a:spLocks/>
          </p:cNvSpPr>
          <p:nvPr/>
        </p:nvSpPr>
        <p:spPr>
          <a:xfrm>
            <a:off x="689208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sz="1200" dirty="0"/>
              <a:t>GUI 체스 프로그램과 </a:t>
            </a:r>
            <a:r>
              <a:rPr lang="ko-KR" altLang="ko-KR" sz="1200" dirty="0" err="1"/>
              <a:t>Stockfish</a:t>
            </a:r>
            <a:r>
              <a:rPr lang="ko-KR" altLang="ko-KR" sz="1200" dirty="0"/>
              <a:t> 연결</a:t>
            </a:r>
            <a:endParaRPr lang="ko-KR" alt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9B53D-1B8B-E0EF-1A56-DCE38151A043}"/>
              </a:ext>
            </a:extLst>
          </p:cNvPr>
          <p:cNvSpPr txBox="1"/>
          <p:nvPr/>
        </p:nvSpPr>
        <p:spPr>
          <a:xfrm>
            <a:off x="689208" y="971372"/>
            <a:ext cx="4873392" cy="7800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status_label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pack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board_pixel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square_size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* 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8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canvas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tk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Canvas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root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width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board_pixel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height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board_pixel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highlightthickness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0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canvas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pack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canvas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bind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"&lt;Button-1&gt;"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on_click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draw_board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update_status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def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draw_board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canvas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delete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all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legal_targets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set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  <a:b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</a:b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is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not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None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for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in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legal_moves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from_square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legal_targets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add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to_square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for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row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in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range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8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for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in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range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8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x1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*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square_size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y1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row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*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square_size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x2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x1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+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square_size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y2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y1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+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square_size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7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-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row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color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light_color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row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+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 % 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2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endParaRPr lang="en-US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50" dirty="0">
                <a:solidFill>
                  <a:srgbClr val="3C4043"/>
                </a:solidFill>
                <a:latin typeface="Roboto Mono" panose="00000009000000000000" pitchFamily="49" charset="0"/>
              </a:rPr>
              <a:t>                                 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== 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else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dark_color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color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select_color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elif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in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legal_targets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color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move_color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canvas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create_rectangle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x1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y1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x2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y2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fill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color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outline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black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)</a:t>
            </a:r>
          </a:p>
          <a:p>
            <a:pPr>
              <a:lnSpc>
                <a:spcPts val="1350"/>
              </a:lnSpc>
              <a:buNone/>
            </a:pP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83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79CE6-7E04-33E4-31CE-E7ED9A913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A053E30-4183-DD5E-F549-E3CB78C958C2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sz="1200" dirty="0"/>
              <a:t>GUI 체스 프로그램과 </a:t>
            </a:r>
            <a:r>
              <a:rPr lang="ko-KR" altLang="ko-KR" sz="1200" dirty="0" err="1"/>
              <a:t>Stockfish</a:t>
            </a:r>
            <a:r>
              <a:rPr lang="ko-KR" altLang="ko-KR" sz="1200" dirty="0"/>
              <a:t> 연결</a:t>
            </a:r>
            <a:endParaRPr lang="ko-KR" alt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D93C21-60C7-023B-41FB-1576EEA361E6}"/>
              </a:ext>
            </a:extLst>
          </p:cNvPr>
          <p:cNvSpPr txBox="1"/>
          <p:nvPr/>
        </p:nvSpPr>
        <p:spPr>
          <a:xfrm>
            <a:off x="1009677" y="996871"/>
            <a:ext cx="4907554" cy="7621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piece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piece_at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piece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symbol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piece_symbols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[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piece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en-US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altLang="ko-KR" sz="1050" dirty="0">
                <a:solidFill>
                  <a:srgbClr val="3C4043"/>
                </a:solidFill>
                <a:latin typeface="Roboto Mono" panose="00000009000000000000" pitchFamily="49" charset="0"/>
              </a:rPr>
              <a:t>                                                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symbol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()]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canvas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create_text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    (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x1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+ 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x2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 </a:t>
            </a:r>
            <a:r>
              <a:rPr lang="ko-KR" altLang="ko-KR" sz="1050" b="0" dirty="0">
                <a:solidFill>
                  <a:srgbClr val="5F6368"/>
                </a:solidFill>
                <a:effectLst/>
                <a:latin typeface="Roboto Mono" panose="00000009000000000000" pitchFamily="49" charset="0"/>
              </a:rPr>
              <a:t>// 2,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    (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y1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+ 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y2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 </a:t>
            </a:r>
            <a:r>
              <a:rPr lang="ko-KR" altLang="ko-KR" sz="1050" b="0" dirty="0">
                <a:solidFill>
                  <a:srgbClr val="5F6368"/>
                </a:solidFill>
                <a:effectLst/>
                <a:latin typeface="Roboto Mono" panose="00000009000000000000" pitchFamily="49" charset="0"/>
              </a:rPr>
              <a:t>// 2,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text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symbol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font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=(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Arial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34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    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def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on_click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event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turn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BLACK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return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is_game_over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return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event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x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>
                <a:solidFill>
                  <a:srgbClr val="5F6368"/>
                </a:solidFill>
                <a:effectLst/>
                <a:latin typeface="Roboto Mono" panose="00000009000000000000" pitchFamily="49" charset="0"/>
              </a:rPr>
              <a:t>// </a:t>
            </a:r>
            <a:r>
              <a:rPr lang="ko-KR" altLang="ko-KR" sz="1050" b="0" dirty="0" err="1">
                <a:solidFill>
                  <a:srgbClr val="5F6368"/>
                </a:solidFill>
                <a:effectLst/>
                <a:latin typeface="Roboto Mono" panose="00000009000000000000" pitchFamily="49" charset="0"/>
              </a:rPr>
              <a:t>self.square_size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row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event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y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>
                <a:solidFill>
                  <a:srgbClr val="5F6368"/>
                </a:solidFill>
                <a:effectLst/>
                <a:latin typeface="Roboto Mono" panose="00000009000000000000" pitchFamily="49" charset="0"/>
              </a:rPr>
              <a:t>// </a:t>
            </a:r>
            <a:r>
              <a:rPr lang="ko-KR" altLang="ko-KR" sz="1050" b="0" dirty="0" err="1">
                <a:solidFill>
                  <a:srgbClr val="5F6368"/>
                </a:solidFill>
                <a:effectLst/>
                <a:latin typeface="Roboto Mono" panose="00000009000000000000" pitchFamily="49" charset="0"/>
              </a:rPr>
              <a:t>self.square_size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not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&lt;=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&lt; 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8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and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&lt;=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row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&lt; 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8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return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7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-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row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clicked_piece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piece_at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is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None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clicked_piece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and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clicked_piece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color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== </a:t>
            </a:r>
            <a:endParaRPr lang="en-US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50" dirty="0">
                <a:solidFill>
                  <a:srgbClr val="3C4043"/>
                </a:solidFill>
                <a:latin typeface="Roboto Mono" panose="00000009000000000000" pitchFamily="49" charset="0"/>
              </a:rPr>
              <a:t>                                               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WHITE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clicked_square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draw_board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return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None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draw_board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return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clicked_piece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and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clicked_piece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color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WHITE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clicked_square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draw_board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return</a:t>
            </a:r>
            <a:endParaRPr lang="en-US" altLang="ko-KR" sz="1050" b="0" dirty="0">
              <a:solidFill>
                <a:srgbClr val="185ABC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</a:t>
            </a:r>
            <a:endParaRPr lang="en-US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50" dirty="0">
                <a:solidFill>
                  <a:srgbClr val="3C4043"/>
                </a:solidFill>
                <a:latin typeface="Roboto Mono" panose="00000009000000000000" pitchFamily="49" charset="0"/>
              </a:rPr>
              <a:t>                                            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in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legal_moves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player_move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return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3290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3B741-0BBA-BDB3-33B2-1D57D7053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C022A-9476-8EC6-FC68-8697F092F5AE}"/>
              </a:ext>
            </a:extLst>
          </p:cNvPr>
          <p:cNvSpPr txBox="1">
            <a:spLocks/>
          </p:cNvSpPr>
          <p:nvPr/>
        </p:nvSpPr>
        <p:spPr>
          <a:xfrm>
            <a:off x="689208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sz="1200" dirty="0"/>
              <a:t>GUI 체스 프로그램과 </a:t>
            </a:r>
            <a:r>
              <a:rPr lang="ko-KR" altLang="ko-KR" sz="1200" dirty="0" err="1"/>
              <a:t>Stockfish</a:t>
            </a:r>
            <a:r>
              <a:rPr lang="ko-KR" altLang="ko-KR" sz="1200" dirty="0"/>
              <a:t> 연결</a:t>
            </a:r>
            <a:endParaRPr lang="ko-KR" alt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443997-7650-2DD0-1B32-6742434E4848}"/>
              </a:ext>
            </a:extLst>
          </p:cNvPr>
          <p:cNvSpPr txBox="1"/>
          <p:nvPr/>
        </p:nvSpPr>
        <p:spPr>
          <a:xfrm>
            <a:off x="689208" y="971372"/>
            <a:ext cx="4873392" cy="7800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is_pawn_promotion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endParaRPr lang="en-US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50" dirty="0">
                <a:solidFill>
                  <a:srgbClr val="3C4043"/>
                </a:solidFill>
                <a:latin typeface="Roboto Mono" panose="00000009000000000000" pitchFamily="49" charset="0"/>
              </a:rPr>
              <a:t>                                           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promotion_move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clicked_square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promotion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QUEEN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promotion_move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in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legal_moves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player_move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promotion_move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return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None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draw_board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def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player_move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push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selected_square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None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draw_board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update_status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check_game_over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not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is_game_over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root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after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300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ai_move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def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ai_move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is_game_over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return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result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play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Limit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time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0.5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push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result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draw_board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update_status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check_game_over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def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is_pawn_promotion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from_sq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to_sq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piece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piece_at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from_sq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not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piece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or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piece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piece_type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!=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PAWN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False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rank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square_rank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to_sq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rank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== 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or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rank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== </a:t>
            </a:r>
            <a:r>
              <a:rPr lang="ko-KR" altLang="ko-KR" sz="1050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7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def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update_status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turn_text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White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to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turn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WHITE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else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Stockfish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thinking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..."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is_check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turn_text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+=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  |  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Check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!"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1258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E35E7-F02C-2DBD-96DE-F729B152E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F79070A-592A-3D2C-FF64-B5074DC284B4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sz="1200" dirty="0"/>
              <a:t>GUI 체스 프로그램과 </a:t>
            </a:r>
            <a:r>
              <a:rPr lang="ko-KR" altLang="ko-KR" sz="1200" dirty="0" err="1"/>
              <a:t>Stockfish</a:t>
            </a:r>
            <a:r>
              <a:rPr lang="ko-KR" altLang="ko-KR" sz="1200" dirty="0"/>
              <a:t> 연결</a:t>
            </a:r>
            <a:endParaRPr lang="ko-KR" alt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AB30F3-1EAA-4C60-EA1F-375682B4C4DE}"/>
              </a:ext>
            </a:extLst>
          </p:cNvPr>
          <p:cNvSpPr txBox="1"/>
          <p:nvPr/>
        </p:nvSpPr>
        <p:spPr>
          <a:xfrm>
            <a:off x="1009677" y="996871"/>
            <a:ext cx="4907554" cy="5287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status_label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config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text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turn_text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def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check_game_over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is_checkmate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winner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Stockfish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turn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== </a:t>
            </a:r>
            <a:endParaRPr lang="en-US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50" dirty="0">
                <a:solidFill>
                  <a:srgbClr val="3C4043"/>
                </a:solidFill>
                <a:latin typeface="Roboto Mono" panose="00000009000000000000" pitchFamily="49" charset="0"/>
              </a:rPr>
              <a:t>                                  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WHITE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else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White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endParaRPr lang="ko-KR" altLang="ko-KR" sz="1050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messagebox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showinfo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Game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Over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f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"Checkmate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! </a:t>
            </a:r>
            <a:endParaRPr lang="en-US" altLang="ko-KR" sz="1050" b="0" dirty="0">
              <a:solidFill>
                <a:srgbClr val="B31412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50" dirty="0">
                <a:solidFill>
                  <a:srgbClr val="B31412"/>
                </a:solidFill>
                <a:latin typeface="Roboto Mono" panose="00000009000000000000" pitchFamily="49" charset="0"/>
              </a:rPr>
              <a:t>                                          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{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winner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}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wins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."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elif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is_stalemate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messagebox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showinfo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Game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Over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Stalemate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!"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elif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is_insufficient_material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messagebox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showinfo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Game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Over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Draw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by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endParaRPr lang="en-US" altLang="ko-KR" sz="1050" b="0" dirty="0">
              <a:solidFill>
                <a:srgbClr val="B31412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50" dirty="0">
                <a:solidFill>
                  <a:srgbClr val="B31412"/>
                </a:solidFill>
                <a:latin typeface="Roboto Mono" panose="00000009000000000000" pitchFamily="49" charset="0"/>
              </a:rPr>
              <a:t>                                   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insufficient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material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!"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elif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is_seventyfive_moves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messagebox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showinfo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Game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Over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Draw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by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endParaRPr lang="en-US" altLang="ko-KR" sz="1050" b="0" dirty="0">
              <a:solidFill>
                <a:srgbClr val="B31412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50" dirty="0">
                <a:solidFill>
                  <a:srgbClr val="B31412"/>
                </a:solidFill>
                <a:latin typeface="Roboto Mono" panose="00000009000000000000" pitchFamily="49" charset="0"/>
              </a:rPr>
              <a:t>                                  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seventy-five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rule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!"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elif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is_fivefold_repetition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messagebox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showinfo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Game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Over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Draw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by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endParaRPr lang="en-US" altLang="ko-KR" sz="1050" b="0" dirty="0">
              <a:solidFill>
                <a:srgbClr val="B31412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sz="1050" dirty="0">
                <a:solidFill>
                  <a:srgbClr val="B31412"/>
                </a:solidFill>
                <a:latin typeface="Roboto Mono" panose="00000009000000000000" pitchFamily="49" charset="0"/>
              </a:rPr>
              <a:t>                                     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fivefold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repetition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!"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def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on_close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quit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root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destroy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def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root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tk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Tk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app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sz="1050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ChessGUI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root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root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protocol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"WM_DELETE_WINDOW"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app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on_close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root</a:t>
            </a:r>
            <a:r>
              <a:rPr lang="ko-KR" altLang="ko-KR" sz="1050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mainloop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__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name</a:t>
            </a:r>
            <a:r>
              <a:rPr lang="ko-KR" altLang="ko-KR" sz="1050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__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== 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"__</a:t>
            </a:r>
            <a:r>
              <a:rPr lang="ko-KR" altLang="ko-KR" sz="1050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ko-KR" altLang="ko-KR" sz="1050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__"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sz="1050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ko-KR" altLang="ko-KR" sz="1050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4C32085-748E-86AF-02F1-5E6450F84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77" y="6690489"/>
            <a:ext cx="1384661" cy="156451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BB7658B-B062-854F-3496-9E1D50331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438" y="6690488"/>
            <a:ext cx="1386422" cy="156451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4DD264A-6994-EA2B-993C-445464718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6660" y="6690488"/>
            <a:ext cx="1384661" cy="15642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50DE02-0637-C9E2-7D7F-4FE063593BAF}"/>
              </a:ext>
            </a:extLst>
          </p:cNvPr>
          <p:cNvSpPr txBox="1"/>
          <p:nvPr/>
        </p:nvSpPr>
        <p:spPr>
          <a:xfrm>
            <a:off x="1009677" y="6275277"/>
            <a:ext cx="33845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000" b="1" dirty="0">
                <a:latin typeface="+mn-ea"/>
              </a:rPr>
              <a:t>[</a:t>
            </a:r>
            <a:r>
              <a:rPr lang="ko-KR" altLang="en-US" sz="1000" b="1" dirty="0">
                <a:latin typeface="+mn-ea"/>
              </a:rPr>
              <a:t>코드 실행 결과</a:t>
            </a:r>
            <a:r>
              <a:rPr lang="en-US" altLang="ko-KR" sz="1000" b="1" dirty="0">
                <a:latin typeface="+mn-ea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7388369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3B60F-C3B3-C441-F932-1522F9AD4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8C539-3364-B7BC-B5B2-288387CEA0FF}"/>
              </a:ext>
            </a:extLst>
          </p:cNvPr>
          <p:cNvSpPr txBox="1">
            <a:spLocks/>
          </p:cNvSpPr>
          <p:nvPr/>
        </p:nvSpPr>
        <p:spPr>
          <a:xfrm>
            <a:off x="689208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sz="1200" dirty="0"/>
              <a:t>GUI 체스 프로그램과 </a:t>
            </a:r>
            <a:r>
              <a:rPr lang="ko-KR" altLang="ko-KR" sz="1200" dirty="0" err="1"/>
              <a:t>Stockfish</a:t>
            </a:r>
            <a:r>
              <a:rPr lang="ko-KR" altLang="ko-KR" sz="1200" dirty="0"/>
              <a:t> 연결</a:t>
            </a:r>
            <a:endParaRPr lang="ko-KR" altLang="en-US" sz="1200" dirty="0"/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C8523966-3E15-1F9A-A135-7A0B716201DC}"/>
              </a:ext>
            </a:extLst>
          </p:cNvPr>
          <p:cNvSpPr txBox="1">
            <a:spLocks/>
          </p:cNvSpPr>
          <p:nvPr/>
        </p:nvSpPr>
        <p:spPr>
          <a:xfrm>
            <a:off x="603277" y="1080981"/>
            <a:ext cx="5076798" cy="767440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en-US" altLang="ko-KR" b="1" dirty="0"/>
              <a:t> [</a:t>
            </a:r>
            <a:r>
              <a:rPr lang="ko-KR" altLang="en-US" b="1" dirty="0"/>
              <a:t>예제 코드 설명</a:t>
            </a:r>
            <a:r>
              <a:rPr lang="en-US" altLang="ko-KR" b="1" dirty="0"/>
              <a:t> ]</a:t>
            </a:r>
          </a:p>
          <a:p>
            <a:pPr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ko-KR" altLang="ko-KR" dirty="0" err="1">
                <a:solidFill>
                  <a:srgbClr val="185ABC"/>
                </a:solidFill>
                <a:latin typeface="Roboto Mono" panose="00000009000000000000" pitchFamily="49" charset="0"/>
              </a:rPr>
              <a:t>import</a:t>
            </a:r>
            <a:r>
              <a:rPr lang="ko-KR" altLang="ko-KR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dirty="0" err="1">
                <a:solidFill>
                  <a:srgbClr val="000000"/>
                </a:solidFill>
                <a:latin typeface="Roboto Mono" panose="00000009000000000000" pitchFamily="49" charset="0"/>
              </a:rPr>
              <a:t>chess</a:t>
            </a:r>
            <a:r>
              <a:rPr lang="ko-KR" altLang="ko-KR" dirty="0" err="1">
                <a:solidFill>
                  <a:srgbClr val="3C4043"/>
                </a:solidFill>
                <a:latin typeface="Roboto Mono" panose="00000009000000000000" pitchFamily="49" charset="0"/>
              </a:rPr>
              <a:t>.</a:t>
            </a:r>
            <a:r>
              <a:rPr lang="ko-KR" altLang="ko-KR" dirty="0" err="1">
                <a:solidFill>
                  <a:srgbClr val="000000"/>
                </a:solidFill>
                <a:latin typeface="Roboto Mono" panose="00000009000000000000" pitchFamily="49" charset="0"/>
              </a:rPr>
              <a:t>engine</a:t>
            </a:r>
            <a:r>
              <a:rPr lang="en-US" altLang="ko-KR" dirty="0">
                <a:solidFill>
                  <a:srgbClr val="000000"/>
                </a:solidFill>
                <a:latin typeface="Roboto Mono" panose="00000009000000000000" pitchFamily="49" charset="0"/>
              </a:rPr>
              <a:t> : </a:t>
            </a:r>
            <a:r>
              <a:rPr lang="en-US" altLang="ko-KR" sz="100" dirty="0">
                <a:solidFill>
                  <a:srgbClr val="3C3836"/>
                </a:solidFill>
                <a:latin typeface="Consolas" panose="020B0609020204030204" pitchFamily="49" charset="0"/>
              </a:rPr>
              <a:t>: </a:t>
            </a:r>
            <a:r>
              <a:rPr lang="en-US" altLang="ko-KR" dirty="0" err="1">
                <a:solidFill>
                  <a:srgbClr val="3C3836"/>
                </a:solidFill>
                <a:latin typeface="Consolas" panose="020B0609020204030204" pitchFamily="49" charset="0"/>
              </a:rPr>
              <a:t>chess.engine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모듈은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Python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프로그램과 체스 엔진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(Stockfish)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을 연결하기 위해 사용된다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기존의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python-chess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가 </a:t>
            </a:r>
            <a:r>
              <a:rPr lang="ko-KR" altLang="en-US" dirty="0" err="1">
                <a:solidFill>
                  <a:srgbClr val="3C3836"/>
                </a:solidFill>
                <a:latin typeface="Consolas" panose="020B0609020204030204" pitchFamily="49" charset="0"/>
              </a:rPr>
              <a:t>체스판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 상태를 관리했다면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 err="1">
                <a:solidFill>
                  <a:srgbClr val="3C3836"/>
                </a:solidFill>
                <a:latin typeface="Consolas" panose="020B0609020204030204" pitchFamily="49" charset="0"/>
              </a:rPr>
              <a:t>chess.engine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은 체스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AI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와 통신하는 역할을 수행한다</a:t>
            </a:r>
            <a:r>
              <a:rPr lang="en-US" altLang="ko-KR" dirty="0"/>
              <a:t>.</a:t>
            </a:r>
          </a:p>
          <a:p>
            <a:pPr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Stockfish </a:t>
            </a:r>
            <a:r>
              <a:rPr lang="ko-KR" altLang="en-US" dirty="0">
                <a:solidFill>
                  <a:srgbClr val="000000"/>
                </a:solidFill>
              </a:rPr>
              <a:t>엔진 연결</a:t>
            </a:r>
            <a:endParaRPr lang="en-US" altLang="ko-KR" dirty="0">
              <a:solidFill>
                <a:srgbClr val="000000"/>
              </a:solidFill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SimpleEngine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popen_uci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</a:t>
            </a:r>
            <a:r>
              <a:rPr lang="ko-KR" altLang="ko-KR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ko-KR" altLang="ko-KR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/</a:t>
            </a:r>
            <a:r>
              <a:rPr lang="ko-KR" altLang="ko-KR" b="0" dirty="0" err="1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stockfish</a:t>
            </a:r>
            <a:r>
              <a:rPr lang="ko-KR" altLang="ko-KR" b="0" dirty="0">
                <a:solidFill>
                  <a:srgbClr val="B31412"/>
                </a:solidFill>
                <a:effectLst/>
                <a:latin typeface="Roboto Mono" panose="00000009000000000000" pitchFamily="49" charset="0"/>
              </a:rPr>
              <a:t>/stockfish-windows-x86-64-avx2.exe"</a:t>
            </a:r>
            <a:endParaRPr lang="ko-KR" altLang="ko-KR" b="0" dirty="0">
              <a:solidFill>
                <a:srgbClr val="3C4043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)</a:t>
            </a:r>
            <a:endParaRPr lang="en-US" altLang="ko-KR" dirty="0">
              <a:solidFill>
                <a:srgbClr val="000000"/>
              </a:solidFill>
              <a:latin typeface="Roboto Mono" panose="00000009000000000000" pitchFamily="49" charset="0"/>
            </a:endParaRPr>
          </a:p>
          <a:p>
            <a:pPr marL="0" indent="0">
              <a:lnSpc>
                <a:spcPts val="1350"/>
              </a:lnSpc>
              <a:buNone/>
            </a:pPr>
            <a:r>
              <a:rPr lang="en-US" altLang="ko-KR" dirty="0">
                <a:solidFill>
                  <a:srgbClr val="000000"/>
                </a:solidFill>
                <a:latin typeface="Roboto Mono" panose="00000009000000000000" pitchFamily="49" charset="0"/>
              </a:rPr>
              <a:t>: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Stockfish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엔진을 실행하고 프로그램과 연결한다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이후부터는 현재 체스 상태를 엔진에게 전달하여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AI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가 계산한 최적의 수를 받을 수 있다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</a:t>
            </a:r>
            <a:endParaRPr lang="en-US" altLang="ko-KR" dirty="0"/>
          </a:p>
          <a:p>
            <a:pPr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  <a:latin typeface="Roboto Mono" panose="00000009000000000000" pitchFamily="49" charset="0"/>
              </a:rPr>
              <a:t>AI </a:t>
            </a:r>
            <a:r>
              <a:rPr lang="ko-KR" alt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차례 제한</a:t>
            </a:r>
            <a:endParaRPr lang="en-US" altLang="ko-KR" dirty="0">
              <a:solidFill>
                <a:srgbClr val="000000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b="0" dirty="0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     </a:t>
            </a:r>
            <a:r>
              <a:rPr lang="ko-KR" altLang="ko-KR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turn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BLACK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b="0" dirty="0" err="1">
                <a:solidFill>
                  <a:srgbClr val="185ABC"/>
                </a:solidFill>
                <a:effectLst/>
                <a:latin typeface="Roboto Mono" panose="00000009000000000000" pitchFamily="49" charset="0"/>
              </a:rPr>
              <a:t>return</a:t>
            </a:r>
            <a:endParaRPr lang="en-US" altLang="ko-KR" dirty="0">
              <a:solidFill>
                <a:srgbClr val="000000"/>
              </a:solidFill>
              <a:latin typeface="Roboto Mono" panose="00000009000000000000" pitchFamily="49" charset="0"/>
            </a:endParaRPr>
          </a:p>
          <a:p>
            <a:pPr marL="0" indent="0">
              <a:lnSpc>
                <a:spcPts val="1350"/>
              </a:lnSpc>
              <a:buNone/>
            </a:pPr>
            <a:r>
              <a:rPr lang="en-US" altLang="ko-KR" dirty="0">
                <a:solidFill>
                  <a:srgbClr val="000000"/>
                </a:solidFill>
                <a:latin typeface="Roboto Mono" panose="00000009000000000000" pitchFamily="49" charset="0"/>
              </a:rPr>
              <a:t>: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현재 예제에서는 사용자가 백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(White)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을 플레이하고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Stockfish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가 흑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(Black)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을 플레이한다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따라서 흑 차례에는 사용자의 입력을 받지 않도록 설정하였다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사용자 수 처리 함수</a:t>
            </a:r>
            <a:endParaRPr lang="en-US" altLang="ko-KR" dirty="0">
              <a:solidFill>
                <a:srgbClr val="000000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dirty="0">
                <a:solidFill>
                  <a:srgbClr val="185ABC"/>
                </a:solidFill>
                <a:latin typeface="Roboto Mono" panose="00000009000000000000" pitchFamily="49" charset="0"/>
              </a:rPr>
              <a:t>    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def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player_move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):</a:t>
            </a:r>
          </a:p>
          <a:p>
            <a:pPr marL="0" indent="0">
              <a:lnSpc>
                <a:spcPts val="1350"/>
              </a:lnSpc>
              <a:buNone/>
            </a:pPr>
            <a:r>
              <a:rPr lang="en-US" altLang="ko-KR" dirty="0">
                <a:solidFill>
                  <a:srgbClr val="000000"/>
                </a:solidFill>
                <a:latin typeface="Roboto Mono" panose="00000009000000000000" pitchFamily="49" charset="0"/>
              </a:rPr>
              <a:t>: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사용자가 수를 두었을 때 실행되는 함수이다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 err="1">
                <a:solidFill>
                  <a:srgbClr val="3C3836"/>
                </a:solidFill>
                <a:latin typeface="Consolas" panose="020B0609020204030204" pitchFamily="49" charset="0"/>
              </a:rPr>
              <a:t>체스판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 상태를 변경하고 화면을 갱신한 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, AI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가 자동으로 응수하도록 호출한다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</a:t>
            </a:r>
            <a:endParaRPr lang="en-US" altLang="ko-KR" b="1" dirty="0"/>
          </a:p>
          <a:p>
            <a:pPr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  <a:latin typeface="Roboto Mono" panose="00000009000000000000" pitchFamily="49" charset="0"/>
              </a:rPr>
              <a:t>AI </a:t>
            </a:r>
            <a:r>
              <a:rPr lang="ko-KR" alt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호출</a:t>
            </a:r>
            <a:endParaRPr lang="en-US" altLang="ko-KR" dirty="0">
              <a:solidFill>
                <a:srgbClr val="000000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 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root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after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300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ai_move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lnSpc>
                <a:spcPts val="1350"/>
              </a:lnSpc>
              <a:buNone/>
            </a:pPr>
            <a:r>
              <a:rPr lang="en-US" altLang="ko-KR" dirty="0">
                <a:solidFill>
                  <a:srgbClr val="000000"/>
                </a:solidFill>
                <a:latin typeface="Roboto Mono" panose="00000009000000000000" pitchFamily="49" charset="0"/>
              </a:rPr>
              <a:t>: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사용자의 수가 적용된 후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0.3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초 뒤에 </a:t>
            </a:r>
            <a:r>
              <a:rPr lang="en-US" altLang="ko-KR" dirty="0" err="1">
                <a:solidFill>
                  <a:srgbClr val="3C3836"/>
                </a:solidFill>
                <a:latin typeface="Consolas" panose="020B0609020204030204" pitchFamily="49" charset="0"/>
              </a:rPr>
              <a:t>ai_move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()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함수를 실행한다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즉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,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사람이 수를 두면 잠시 후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Stockfish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가 자동으로 응수하게 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</a:t>
            </a:r>
            <a:endParaRPr lang="en-US" altLang="ko-KR" b="1" dirty="0"/>
          </a:p>
          <a:p>
            <a:pPr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  <a:latin typeface="Roboto Mono" panose="00000009000000000000" pitchFamily="49" charset="0"/>
              </a:rPr>
              <a:t>AI </a:t>
            </a:r>
            <a:r>
              <a:rPr lang="ko-KR" altLang="en-US" dirty="0">
                <a:solidFill>
                  <a:srgbClr val="000000"/>
                </a:solidFill>
                <a:latin typeface="Roboto Mono" panose="00000009000000000000" pitchFamily="49" charset="0"/>
              </a:rPr>
              <a:t>수 계산</a:t>
            </a:r>
            <a:endParaRPr lang="en-US" altLang="ko-KR" dirty="0">
              <a:solidFill>
                <a:srgbClr val="000000"/>
              </a:solidFill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ko-KR" dirty="0">
                <a:solidFill>
                  <a:srgbClr val="185ABC"/>
                </a:solidFill>
                <a:latin typeface="Roboto Mono" panose="00000009000000000000" pitchFamily="49" charset="0"/>
              </a:rPr>
              <a:t>     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result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play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chess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C92786"/>
                </a:solidFill>
                <a:effectLst/>
                <a:latin typeface="Roboto Mono" panose="00000009000000000000" pitchFamily="49" charset="0"/>
              </a:rPr>
              <a:t>Limit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time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=</a:t>
            </a:r>
            <a:r>
              <a:rPr lang="ko-KR" altLang="ko-KR" b="0" dirty="0">
                <a:solidFill>
                  <a:srgbClr val="098591"/>
                </a:solidFill>
                <a:effectLst/>
                <a:latin typeface="Roboto Mono" panose="00000009000000000000" pitchFamily="49" charset="0"/>
              </a:rPr>
              <a:t>0.5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)</a:t>
            </a:r>
          </a:p>
          <a:p>
            <a:pPr marL="0" indent="0">
              <a:lnSpc>
                <a:spcPts val="1350"/>
              </a:lnSpc>
              <a:buNone/>
            </a:pP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5388081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F29ED-14C4-1CE6-6F17-1B64A0ADA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F1C5ED6-CE7A-E8DB-69A4-AF01B1A6906F}"/>
              </a:ext>
            </a:extLst>
          </p:cNvPr>
          <p:cNvSpPr txBox="1">
            <a:spLocks/>
          </p:cNvSpPr>
          <p:nvPr/>
        </p:nvSpPr>
        <p:spPr>
          <a:xfrm>
            <a:off x="1009677" y="685601"/>
            <a:ext cx="3733114" cy="248967"/>
          </a:xfrm>
          <a:prstGeom prst="rect">
            <a:avLst/>
          </a:prstGeom>
          <a:solidFill>
            <a:srgbClr val="1B8F4D"/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sz="1200" dirty="0"/>
              <a:t>GUI 체스 프로그램과 </a:t>
            </a:r>
            <a:r>
              <a:rPr lang="ko-KR" altLang="ko-KR" sz="1200" dirty="0" err="1"/>
              <a:t>Stockfish</a:t>
            </a:r>
            <a:r>
              <a:rPr lang="ko-KR" altLang="ko-KR" sz="1200" dirty="0"/>
              <a:t> 연결</a:t>
            </a:r>
            <a:endParaRPr lang="ko-KR" altLang="en-US" sz="1200" dirty="0"/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2CD288ED-60D6-6396-877D-68118248E9BB}"/>
              </a:ext>
            </a:extLst>
          </p:cNvPr>
          <p:cNvSpPr txBox="1">
            <a:spLocks/>
          </p:cNvSpPr>
          <p:nvPr/>
        </p:nvSpPr>
        <p:spPr>
          <a:xfrm>
            <a:off x="1009677" y="1054101"/>
            <a:ext cx="5076798" cy="751225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350"/>
              </a:lnSpc>
              <a:buNone/>
            </a:pPr>
            <a:r>
              <a:rPr lang="en-US" altLang="ko-KR" sz="800" dirty="0">
                <a:solidFill>
                  <a:srgbClr val="3C3836"/>
                </a:solidFill>
                <a:latin typeface="Consolas" panose="020B0609020204030204" pitchFamily="49" charset="0"/>
              </a:rPr>
              <a:t>: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현재 체스 상태를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Stockfish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에게 전달하고 최적의 수를 계산하도록 요청한다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여기서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time=0.5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는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AI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가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0.5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초 동안 탐색하도록 설정한 것이다</a:t>
            </a:r>
            <a:r>
              <a:rPr lang="en-US" altLang="ko-KR" dirty="0"/>
              <a:t>.</a:t>
            </a:r>
          </a:p>
          <a:p>
            <a:pPr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ko-KR" altLang="ko-KR" dirty="0"/>
              <a:t>AI 수 적용</a:t>
            </a:r>
            <a:endParaRPr lang="en-US" altLang="ko-KR" dirty="0"/>
          </a:p>
          <a:p>
            <a:pPr>
              <a:lnSpc>
                <a:spcPts val="1350"/>
              </a:lnSpc>
              <a:buNone/>
            </a:pPr>
            <a:r>
              <a:rPr lang="en-US" altLang="ko-KR" dirty="0">
                <a:solidFill>
                  <a:srgbClr val="185ABC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dirty="0">
                <a:solidFill>
                  <a:srgbClr val="3C4043"/>
                </a:solidFill>
                <a:latin typeface="Roboto Mono" panose="00000009000000000000" pitchFamily="49" charset="0"/>
              </a:rPr>
              <a:t> </a:t>
            </a:r>
            <a:r>
              <a:rPr lang="en-US" altLang="ko-KR" dirty="0">
                <a:solidFill>
                  <a:srgbClr val="3C4043"/>
                </a:solidFill>
                <a:latin typeface="Roboto Mono" panose="00000009000000000000" pitchFamily="49" charset="0"/>
              </a:rPr>
              <a:t>  </a:t>
            </a:r>
            <a:r>
              <a:rPr lang="ko-KR" altLang="ko-KR" dirty="0">
                <a:solidFill>
                  <a:srgbClr val="3C4043"/>
                </a:solidFill>
                <a:latin typeface="Roboto Mono" panose="00000009000000000000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board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push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result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move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lnSpc>
                <a:spcPts val="1350"/>
              </a:lnSpc>
              <a:buNone/>
            </a:pP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en-US" altLang="ko-KR" dirty="0">
                <a:solidFill>
                  <a:srgbClr val="3C3836"/>
                </a:solidFill>
              </a:rPr>
              <a:t>Stockfish</a:t>
            </a:r>
            <a:r>
              <a:rPr lang="ko-KR" altLang="en-US" dirty="0">
                <a:solidFill>
                  <a:srgbClr val="3C3836"/>
                </a:solidFill>
              </a:rPr>
              <a:t>가 선택한 최적의 수를 실제 </a:t>
            </a:r>
            <a:r>
              <a:rPr lang="ko-KR" altLang="en-US" dirty="0" err="1">
                <a:solidFill>
                  <a:srgbClr val="3C3836"/>
                </a:solidFill>
              </a:rPr>
              <a:t>체스판</a:t>
            </a:r>
            <a:r>
              <a:rPr lang="ko-KR" altLang="en-US" dirty="0">
                <a:solidFill>
                  <a:srgbClr val="3C3836"/>
                </a:solidFill>
              </a:rPr>
              <a:t> 상태에 반영한다</a:t>
            </a:r>
            <a:r>
              <a:rPr lang="en-US" altLang="ko-KR" dirty="0">
                <a:solidFill>
                  <a:srgbClr val="3C3836"/>
                </a:solidFill>
              </a:rPr>
              <a:t>. </a:t>
            </a:r>
            <a:r>
              <a:rPr lang="ko-KR" altLang="en-US" dirty="0">
                <a:solidFill>
                  <a:srgbClr val="3C3836"/>
                </a:solidFill>
              </a:rPr>
              <a:t>이를 통해 </a:t>
            </a:r>
            <a:r>
              <a:rPr lang="en-US" altLang="ko-KR" dirty="0">
                <a:solidFill>
                  <a:srgbClr val="3C3836"/>
                </a:solidFill>
              </a:rPr>
              <a:t>AI</a:t>
            </a:r>
            <a:r>
              <a:rPr lang="ko-KR" altLang="en-US" dirty="0">
                <a:solidFill>
                  <a:srgbClr val="3C3836"/>
                </a:solidFill>
              </a:rPr>
              <a:t>가 실제로 체스를 두게 된다</a:t>
            </a:r>
            <a:r>
              <a:rPr lang="en-US" altLang="ko-KR" dirty="0"/>
              <a:t>.</a:t>
            </a:r>
          </a:p>
          <a:p>
            <a:pPr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ko-KR" alt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프로그램 종료 시 엔진 정리</a:t>
            </a:r>
            <a:endParaRPr lang="en-US" altLang="ko-KR" b="0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def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on_close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engine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quit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self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root</a:t>
            </a:r>
            <a:r>
              <a:rPr lang="ko-KR" altLang="ko-KR" b="0" dirty="0" err="1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.</a:t>
            </a:r>
            <a:r>
              <a:rPr lang="ko-KR" altLang="ko-KR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destroy</a:t>
            </a:r>
            <a:r>
              <a:rPr lang="ko-KR" altLang="ko-KR" b="0" dirty="0">
                <a:solidFill>
                  <a:srgbClr val="3C4043"/>
                </a:solidFill>
                <a:effectLst/>
                <a:latin typeface="Roboto Mono" panose="00000009000000000000" pitchFamily="49" charset="0"/>
              </a:rPr>
              <a:t>()</a:t>
            </a:r>
            <a:endParaRPr lang="en-US" altLang="ko-KR" dirty="0">
              <a:solidFill>
                <a:srgbClr val="000000"/>
              </a:solidFill>
              <a:latin typeface="Roboto Mono" panose="00000009000000000000" pitchFamily="49" charset="0"/>
            </a:endParaRPr>
          </a:p>
          <a:p>
            <a:pPr marL="0" indent="0">
              <a:lnSpc>
                <a:spcPts val="1350"/>
              </a:lnSpc>
              <a:buNone/>
            </a:pPr>
            <a:r>
              <a:rPr lang="en-US" altLang="ko-KR" dirty="0">
                <a:solidFill>
                  <a:srgbClr val="000000"/>
                </a:solidFill>
                <a:latin typeface="Roboto Mono" panose="00000009000000000000" pitchFamily="49" charset="0"/>
              </a:rPr>
              <a:t>: 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Stockfish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는 별도의 프로세스로 실행되므로 프로그램 종료 시 반드시 엔진도 함께 종료해야 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 </a:t>
            </a:r>
            <a:r>
              <a:rPr lang="en-US" altLang="ko-KR" dirty="0" err="1">
                <a:solidFill>
                  <a:srgbClr val="3C3836"/>
                </a:solidFill>
                <a:latin typeface="Consolas" panose="020B0609020204030204" pitchFamily="49" charset="0"/>
              </a:rPr>
              <a:t>engine.quit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()</a:t>
            </a:r>
            <a:r>
              <a:rPr lang="ko-KR" altLang="en-US" dirty="0">
                <a:solidFill>
                  <a:srgbClr val="3C3836"/>
                </a:solidFill>
                <a:latin typeface="Consolas" panose="020B0609020204030204" pitchFamily="49" charset="0"/>
              </a:rPr>
              <a:t>을 호출하여 메모리와 프로세스를 정리한다</a:t>
            </a:r>
            <a:r>
              <a:rPr lang="en-US" altLang="ko-KR" dirty="0">
                <a:solidFill>
                  <a:srgbClr val="3C3836"/>
                </a:solidFill>
                <a:latin typeface="Consolas" panose="020B0609020204030204" pitchFamily="49" charset="0"/>
              </a:rPr>
              <a:t>.</a:t>
            </a:r>
          </a:p>
          <a:p>
            <a:pPr marL="0" indent="0">
              <a:lnSpc>
                <a:spcPts val="1350"/>
              </a:lnSpc>
              <a:buNone/>
            </a:pPr>
            <a:endParaRPr lang="en-US" altLang="ko-KR" dirty="0">
              <a:solidFill>
                <a:srgbClr val="3C3836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1350"/>
              </a:lnSpc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940908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57FF4-C66E-B645-C51E-9AD751F0F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35BFA-3448-22F7-F1C8-3216C5ADE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344" y="672476"/>
            <a:ext cx="3738771" cy="338272"/>
          </a:xfrm>
        </p:spPr>
        <p:txBody>
          <a:bodyPr>
            <a:normAutofit/>
          </a:bodyPr>
          <a:lstStyle/>
          <a:p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8F4E"/>
                </a:solidFill>
                <a:effectLst/>
                <a:uLnTx/>
                <a:uFillTx/>
                <a:latin typeface="Calibri Light" panose="020F0302020204030204"/>
                <a:ea typeface="맑은 고딕" panose="020B0503020000020004" pitchFamily="50" charset="-127"/>
                <a:cs typeface="+mj-cs"/>
              </a:rPr>
              <a:t>마무리</a:t>
            </a:r>
            <a:endParaRPr lang="ko-KR" altLang="en-US" sz="1200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F1B6405-A531-E298-DC79-7BDA107D3CDE}"/>
              </a:ext>
            </a:extLst>
          </p:cNvPr>
          <p:cNvSpPr txBox="1">
            <a:spLocks/>
          </p:cNvSpPr>
          <p:nvPr/>
        </p:nvSpPr>
        <p:spPr>
          <a:xfrm>
            <a:off x="885991" y="1231900"/>
            <a:ext cx="4831475" cy="7513320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이번 장에서는 </a:t>
            </a:r>
            <a:r>
              <a:rPr lang="en-US" altLang="ko-KR" dirty="0"/>
              <a:t>Stockfish </a:t>
            </a:r>
            <a:r>
              <a:rPr lang="ko-KR" altLang="en-US" dirty="0"/>
              <a:t>체스 엔진을 </a:t>
            </a:r>
            <a:r>
              <a:rPr lang="en-US" altLang="ko-KR" dirty="0"/>
              <a:t>Python </a:t>
            </a:r>
            <a:r>
              <a:rPr lang="ko-KR" altLang="en-US" dirty="0"/>
              <a:t>프로그램과 연결하여 실제 인공지능</a:t>
            </a:r>
            <a:r>
              <a:rPr lang="en-US" altLang="ko-KR" dirty="0"/>
              <a:t>(AI)</a:t>
            </a:r>
            <a:r>
              <a:rPr lang="ko-KR" altLang="en-US" dirty="0"/>
              <a:t>과 대국할 수 있는 체스 프로그램을 완성하였다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처음에는 체스판과 말의 이동 규칙을 이해하는 것에서 시작하여</a:t>
            </a:r>
            <a:r>
              <a:rPr lang="en-US" altLang="ko-KR" dirty="0"/>
              <a:t>, </a:t>
            </a:r>
            <a:r>
              <a:rPr lang="ko-KR" altLang="en-US" dirty="0"/>
              <a:t>게임 상태</a:t>
            </a:r>
            <a:r>
              <a:rPr lang="en-US" altLang="ko-KR" dirty="0"/>
              <a:t>(State)</a:t>
            </a:r>
            <a:r>
              <a:rPr lang="ko-KR" altLang="en-US" dirty="0"/>
              <a:t>를 표현하고 관리하는 방법을 학습하였다</a:t>
            </a:r>
            <a:r>
              <a:rPr lang="en-US" altLang="ko-KR" dirty="0"/>
              <a:t>. </a:t>
            </a:r>
            <a:r>
              <a:rPr lang="ko-KR" altLang="en-US" dirty="0"/>
              <a:t>이후 게임 트리</a:t>
            </a:r>
            <a:r>
              <a:rPr lang="en-US" altLang="ko-KR" dirty="0"/>
              <a:t>(Game Tree), Minimax </a:t>
            </a:r>
            <a:r>
              <a:rPr lang="ko-KR" altLang="en-US" dirty="0"/>
              <a:t>알고리즘</a:t>
            </a:r>
            <a:r>
              <a:rPr lang="en-US" altLang="ko-KR" dirty="0"/>
              <a:t>, Alpha-Beta Pruning</a:t>
            </a:r>
            <a:r>
              <a:rPr lang="ko-KR" altLang="en-US" dirty="0"/>
              <a:t>을 통해 인공지능이 어떻게 미래의 수를 탐색하고 최적의 선택을 결정하는지 살펴보았다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또한 콘솔 기반 체스 프로그램을 구현하고</a:t>
            </a:r>
            <a:r>
              <a:rPr lang="en-US" altLang="ko-KR" dirty="0"/>
              <a:t>, </a:t>
            </a:r>
            <a:r>
              <a:rPr lang="en-US" altLang="ko-KR" dirty="0" err="1"/>
              <a:t>Tkinter</a:t>
            </a:r>
            <a:r>
              <a:rPr lang="ko-KR" altLang="en-US" dirty="0"/>
              <a:t>를 이용한 </a:t>
            </a:r>
            <a:r>
              <a:rPr lang="en-US" altLang="ko-KR" dirty="0"/>
              <a:t>GUI </a:t>
            </a:r>
            <a:r>
              <a:rPr lang="ko-KR" altLang="en-US" dirty="0"/>
              <a:t>프로그램으로 확장하였으며</a:t>
            </a:r>
            <a:r>
              <a:rPr lang="en-US" altLang="ko-KR" dirty="0"/>
              <a:t>, </a:t>
            </a:r>
            <a:r>
              <a:rPr lang="ko-KR" altLang="en-US" dirty="0"/>
              <a:t>이벤트</a:t>
            </a:r>
            <a:r>
              <a:rPr lang="en-US" altLang="ko-KR" dirty="0"/>
              <a:t>(Event) </a:t>
            </a:r>
            <a:r>
              <a:rPr lang="ko-KR" altLang="en-US" dirty="0"/>
              <a:t>기반 프로그래밍을 통해 사용자의 입력을 처리하는 방법도 학습하였다</a:t>
            </a:r>
            <a:r>
              <a:rPr lang="en-US" altLang="ko-KR" dirty="0"/>
              <a:t>. </a:t>
            </a:r>
            <a:r>
              <a:rPr lang="ko-KR" altLang="en-US" dirty="0"/>
              <a:t>마지막으로 세계 최고 수준의 체스 엔진인 </a:t>
            </a:r>
            <a:r>
              <a:rPr lang="en-US" altLang="ko-KR" dirty="0"/>
              <a:t>Stockfish</a:t>
            </a:r>
            <a:r>
              <a:rPr lang="ko-KR" altLang="en-US" dirty="0"/>
              <a:t>를 연동하여 실제 </a:t>
            </a:r>
            <a:r>
              <a:rPr lang="en-US" altLang="ko-KR" dirty="0"/>
              <a:t>AI</a:t>
            </a:r>
            <a:r>
              <a:rPr lang="ko-KR" altLang="en-US" dirty="0"/>
              <a:t>와 대국할 수 있는 체스 프로그램을 완성하였다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이 과정은 단순히 체스 게임 하나를 만드는 활동이 아니다</a:t>
            </a:r>
            <a:r>
              <a:rPr lang="en-US" altLang="ko-KR" dirty="0"/>
              <a:t>. </a:t>
            </a:r>
            <a:r>
              <a:rPr lang="ko-KR" altLang="en-US" dirty="0"/>
              <a:t>하나의 소프트웨어를 설계하고 구현하는 과정 속에서 자료구조</a:t>
            </a:r>
            <a:r>
              <a:rPr lang="en-US" altLang="ko-KR" dirty="0"/>
              <a:t>, </a:t>
            </a:r>
            <a:r>
              <a:rPr lang="ko-KR" altLang="en-US" dirty="0"/>
              <a:t>알고리즘</a:t>
            </a:r>
            <a:r>
              <a:rPr lang="en-US" altLang="ko-KR" dirty="0"/>
              <a:t>, </a:t>
            </a:r>
            <a:r>
              <a:rPr lang="ko-KR" altLang="en-US" dirty="0"/>
              <a:t>객체지향 프로그래밍</a:t>
            </a:r>
            <a:r>
              <a:rPr lang="en-US" altLang="ko-KR" dirty="0"/>
              <a:t>, </a:t>
            </a:r>
            <a:r>
              <a:rPr lang="ko-KR" altLang="en-US" dirty="0"/>
              <a:t>재귀 함수</a:t>
            </a:r>
            <a:r>
              <a:rPr lang="en-US" altLang="ko-KR" dirty="0"/>
              <a:t>, </a:t>
            </a:r>
            <a:r>
              <a:rPr lang="ko-KR" altLang="en-US" dirty="0"/>
              <a:t>탐색 알고리즘</a:t>
            </a:r>
            <a:r>
              <a:rPr lang="en-US" altLang="ko-KR" dirty="0"/>
              <a:t>, GUI </a:t>
            </a:r>
            <a:r>
              <a:rPr lang="ko-KR" altLang="en-US" dirty="0"/>
              <a:t>프로그래밍</a:t>
            </a:r>
            <a:r>
              <a:rPr lang="en-US" altLang="ko-KR" dirty="0"/>
              <a:t>, </a:t>
            </a:r>
            <a:r>
              <a:rPr lang="ko-KR" altLang="en-US" dirty="0"/>
              <a:t>그리고 외부 라이브러리 활용까지 다양한 컴퓨터 과학 개념들이 어떻게 실제 프로그램 안에서 동작하는지를 경험하는 과정이었다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오늘날의 인공지능은 단순히 모델을 사용하는 것만으로 만들어지지 않는다</a:t>
            </a:r>
            <a:r>
              <a:rPr lang="en-US" altLang="ko-KR" dirty="0"/>
              <a:t>. </a:t>
            </a:r>
            <a:r>
              <a:rPr lang="ko-KR" altLang="en-US" dirty="0"/>
              <a:t>문제를 상태로 표현하고</a:t>
            </a:r>
            <a:r>
              <a:rPr lang="en-US" altLang="ko-KR" dirty="0"/>
              <a:t>, </a:t>
            </a:r>
            <a:r>
              <a:rPr lang="ko-KR" altLang="en-US" dirty="0"/>
              <a:t>데이터를 </a:t>
            </a:r>
            <a:r>
              <a:rPr lang="ko-KR" altLang="en-US" dirty="0" err="1"/>
              <a:t>구조화하며</a:t>
            </a:r>
            <a:r>
              <a:rPr lang="en-US" altLang="ko-KR" dirty="0"/>
              <a:t>, </a:t>
            </a:r>
            <a:r>
              <a:rPr lang="ko-KR" altLang="en-US" dirty="0"/>
              <a:t>알고리즘을 설계하고</a:t>
            </a:r>
            <a:r>
              <a:rPr lang="en-US" altLang="ko-KR" dirty="0"/>
              <a:t>, </a:t>
            </a:r>
            <a:r>
              <a:rPr lang="ko-KR" altLang="en-US" dirty="0"/>
              <a:t>사용자와 상호작용할 수 있는 시스템으로 구현하는 능력이 함께 요구된다</a:t>
            </a:r>
            <a:r>
              <a:rPr lang="en-US" altLang="ko-KR" dirty="0"/>
              <a:t>. </a:t>
            </a:r>
            <a:r>
              <a:rPr lang="ko-KR" altLang="en-US" dirty="0"/>
              <a:t>체스 </a:t>
            </a:r>
            <a:r>
              <a:rPr lang="en-US" altLang="ko-KR" dirty="0"/>
              <a:t>AI </a:t>
            </a:r>
            <a:r>
              <a:rPr lang="ko-KR" altLang="en-US" dirty="0"/>
              <a:t>프로젝트는 이러한 컴퓨터 과학과 인공지능의 핵심 원리를 하나의 완성된 프로그램으로 경험할 수 있는 좋은 사례이다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이 책을 통해 학습한 내용들은 체스 프로그램에만 활용되는 것이 아니라 게임 개발</a:t>
            </a:r>
            <a:r>
              <a:rPr lang="en-US" altLang="ko-KR" dirty="0"/>
              <a:t>, </a:t>
            </a:r>
            <a:r>
              <a:rPr lang="ko-KR" altLang="en-US" dirty="0"/>
              <a:t>데이터 분석</a:t>
            </a:r>
            <a:r>
              <a:rPr lang="en-US" altLang="ko-KR" dirty="0"/>
              <a:t>, </a:t>
            </a:r>
            <a:r>
              <a:rPr lang="ko-KR" altLang="en-US" dirty="0"/>
              <a:t>인공지능</a:t>
            </a:r>
            <a:r>
              <a:rPr lang="en-US" altLang="ko-KR" dirty="0"/>
              <a:t>, </a:t>
            </a:r>
            <a:r>
              <a:rPr lang="ko-KR" altLang="en-US" dirty="0"/>
              <a:t>로봇 제어</a:t>
            </a:r>
            <a:r>
              <a:rPr lang="en-US" altLang="ko-KR" dirty="0"/>
              <a:t>, </a:t>
            </a:r>
            <a:r>
              <a:rPr lang="ko-KR" altLang="en-US" dirty="0"/>
              <a:t>컴퓨터 비전</a:t>
            </a:r>
            <a:r>
              <a:rPr lang="en-US" altLang="ko-KR" dirty="0"/>
              <a:t>, </a:t>
            </a:r>
            <a:r>
              <a:rPr lang="ko-KR" altLang="en-US" dirty="0"/>
              <a:t>웹 서비스 개발 등 다양한 분야의 기초가 된다</a:t>
            </a:r>
            <a:r>
              <a:rPr lang="en-US" altLang="ko-KR" dirty="0"/>
              <a:t>. </a:t>
            </a:r>
            <a:r>
              <a:rPr lang="ko-KR" altLang="en-US" dirty="0"/>
              <a:t>앞으로 여러분이 만들 더 큰 프로젝트에서도 이번에 배운 문제 해결 과정과 프로그래밍 사고가 중요한 밑거름이 되기를 바란다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코드는 컴퓨터에게 명령을 내리는 도구이지만</a:t>
            </a:r>
            <a:r>
              <a:rPr lang="en-US" altLang="ko-KR" dirty="0"/>
              <a:t>, </a:t>
            </a:r>
            <a:r>
              <a:rPr lang="ko-KR" altLang="en-US" dirty="0"/>
              <a:t>알고리즘은 문제를 해결하는 사고 과정이다</a:t>
            </a:r>
            <a:r>
              <a:rPr lang="en-US" altLang="ko-KR" dirty="0"/>
              <a:t>. </a:t>
            </a:r>
            <a:r>
              <a:rPr lang="ko-KR" altLang="en-US" dirty="0"/>
              <a:t>그리고 인공지능은 그 사고 과정을 확장하는 기술이다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지금 여러분은 하나의 체스 </a:t>
            </a:r>
            <a:r>
              <a:rPr lang="en-US" altLang="ko-KR" dirty="0"/>
              <a:t>AI</a:t>
            </a:r>
            <a:r>
              <a:rPr lang="ko-KR" altLang="en-US" dirty="0"/>
              <a:t>를 완성하며 컴퓨터 과학의 중요한 첫걸음을 내디뎠다</a:t>
            </a:r>
            <a:r>
              <a:rPr lang="en-US" altLang="ko-KR" dirty="0"/>
              <a:t>. </a:t>
            </a:r>
            <a:r>
              <a:rPr lang="ko-KR" altLang="en-US" dirty="0"/>
              <a:t>앞으로도 스스로 문제를 정의하고 해결하는 개발자로 성장하기를 응원한다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35986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6D731-D302-1D45-9A0D-BA9C1B35C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BD556721-7482-FD17-F7E9-48130B780A7A}"/>
              </a:ext>
            </a:extLst>
          </p:cNvPr>
          <p:cNvSpPr txBox="1">
            <a:spLocks/>
          </p:cNvSpPr>
          <p:nvPr/>
        </p:nvSpPr>
        <p:spPr>
          <a:xfrm>
            <a:off x="1659135" y="789663"/>
            <a:ext cx="3738771" cy="33827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55168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15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200" b="1" dirty="0">
                <a:solidFill>
                  <a:srgbClr val="1A8F4E"/>
                </a:solidFill>
              </a:rPr>
              <a:t>프로젝트 과제</a:t>
            </a:r>
            <a:endParaRPr lang="ko-KR" altLang="en-US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51157CBD-DD2D-71DC-F44C-FF6313EF85E9}"/>
              </a:ext>
            </a:extLst>
          </p:cNvPr>
          <p:cNvSpPr txBox="1">
            <a:spLocks/>
          </p:cNvSpPr>
          <p:nvPr/>
        </p:nvSpPr>
        <p:spPr>
          <a:xfrm>
            <a:off x="976453" y="1349832"/>
            <a:ext cx="5040299" cy="1553388"/>
          </a:xfrm>
          <a:prstGeom prst="rect">
            <a:avLst/>
          </a:prstGeom>
        </p:spPr>
        <p:txBody>
          <a:bodyPr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1376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7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8960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 dirty="0"/>
              <a:t>이번 프로젝트에서는 지금까지 작성한 체스 프로그램을 직접 확장하여 새로운 기능을 추가해보자</a:t>
            </a:r>
            <a:r>
              <a:rPr lang="en-US" altLang="ko-KR" sz="1100" dirty="0"/>
              <a:t>.</a:t>
            </a:r>
          </a:p>
        </p:txBody>
      </p:sp>
      <p:sp>
        <p:nvSpPr>
          <p:cNvPr id="23" name="내용 개체 틀 3">
            <a:extLst>
              <a:ext uri="{FF2B5EF4-FFF2-40B4-BE49-F238E27FC236}">
                <a16:creationId xmlns:a16="http://schemas.microsoft.com/office/drawing/2014/main" id="{E8F19997-B744-E8C8-F41A-4AC2C940768F}"/>
              </a:ext>
            </a:extLst>
          </p:cNvPr>
          <p:cNvSpPr txBox="1">
            <a:spLocks/>
          </p:cNvSpPr>
          <p:nvPr/>
        </p:nvSpPr>
        <p:spPr>
          <a:xfrm>
            <a:off x="1171431" y="1940264"/>
            <a:ext cx="4944798" cy="6898936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① </a:t>
            </a:r>
            <a:r>
              <a:rPr lang="ko-KR" altLang="en-US" dirty="0"/>
              <a:t>아이디어 구체화하기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다음과 같이 </a:t>
            </a:r>
            <a:r>
              <a:rPr lang="en-US" altLang="ko-KR" dirty="0"/>
              <a:t>GPT</a:t>
            </a:r>
            <a:r>
              <a:rPr lang="ko-KR" altLang="en-US" dirty="0"/>
              <a:t>에게 질문해보세요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85750" lvl="1" indent="-171450">
              <a:buFontTx/>
              <a:buChar char="-"/>
            </a:pPr>
            <a:r>
              <a:rPr lang="ko-KR" altLang="en-US" dirty="0"/>
              <a:t>체스 </a:t>
            </a:r>
            <a:r>
              <a:rPr lang="ko-KR" altLang="en-US" dirty="0" err="1"/>
              <a:t>기보</a:t>
            </a:r>
            <a:r>
              <a:rPr lang="ko-KR" altLang="en-US" dirty="0"/>
              <a:t> 저장</a:t>
            </a:r>
            <a:r>
              <a:rPr lang="en-US" altLang="ko-KR" dirty="0"/>
              <a:t>(PGN)</a:t>
            </a:r>
          </a:p>
          <a:p>
            <a:pPr marL="285750" lvl="1" indent="-171450">
              <a:buFontTx/>
              <a:buChar char="-"/>
            </a:pPr>
            <a:r>
              <a:rPr lang="ko-KR" altLang="en-US" dirty="0"/>
              <a:t>체스 시계</a:t>
            </a:r>
            <a:r>
              <a:rPr lang="en-US" altLang="ko-KR" dirty="0"/>
              <a:t>(Chess Clock)</a:t>
            </a:r>
          </a:p>
          <a:p>
            <a:pPr marL="285750" lvl="1" indent="-171450">
              <a:buFontTx/>
              <a:buChar char="-"/>
            </a:pPr>
            <a:r>
              <a:rPr lang="ko-KR" altLang="ko-KR" dirty="0"/>
              <a:t>AI 난이도 조절</a:t>
            </a:r>
            <a:endParaRPr lang="en-US" altLang="ko-KR" dirty="0"/>
          </a:p>
          <a:p>
            <a:pPr marL="285750" lvl="1" indent="-171450">
              <a:buFontTx/>
              <a:buChar char="-"/>
            </a:pPr>
            <a:r>
              <a:rPr lang="ko-KR" altLang="ko-KR" dirty="0"/>
              <a:t>수 추천 기능(</a:t>
            </a:r>
            <a:r>
              <a:rPr lang="ko-KR" altLang="ko-KR" dirty="0" err="1"/>
              <a:t>Hint</a:t>
            </a:r>
            <a:r>
              <a:rPr lang="ko-KR" altLang="ko-KR" dirty="0"/>
              <a:t>)</a:t>
            </a:r>
            <a:endParaRPr lang="en-US" altLang="ko-KR" dirty="0"/>
          </a:p>
          <a:p>
            <a:pPr marL="285750" lvl="1" indent="-171450">
              <a:buFontTx/>
              <a:buChar char="-"/>
            </a:pPr>
            <a:r>
              <a:rPr lang="ko-KR" altLang="en-US" dirty="0"/>
              <a:t>체크</a:t>
            </a:r>
            <a:r>
              <a:rPr lang="en-US" altLang="ko-KR" dirty="0"/>
              <a:t>(Check) </a:t>
            </a:r>
            <a:r>
              <a:rPr lang="ko-KR" altLang="en-US" dirty="0"/>
              <a:t>경고 표시</a:t>
            </a:r>
            <a:endParaRPr lang="en-US" altLang="ko-KR" dirty="0"/>
          </a:p>
          <a:p>
            <a:pPr marL="285750" lvl="1" indent="-171450">
              <a:buFontTx/>
              <a:buChar char="-"/>
            </a:pPr>
            <a:r>
              <a:rPr lang="ko-KR" altLang="ko-KR" dirty="0"/>
              <a:t>마지막 이동 칸 강조</a:t>
            </a:r>
            <a:endParaRPr lang="en-US" altLang="ko-KR" dirty="0"/>
          </a:p>
          <a:p>
            <a:pPr marL="285750" lvl="1" indent="-171450">
              <a:buFontTx/>
              <a:buChar char="-"/>
            </a:pPr>
            <a:r>
              <a:rPr lang="ko-KR" altLang="ko-KR" dirty="0"/>
              <a:t>이동 기록 표시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② </a:t>
            </a:r>
            <a:r>
              <a:rPr lang="ko-KR" altLang="ko-KR" dirty="0"/>
              <a:t>기능 설계하기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다음과 같이 </a:t>
            </a:r>
            <a:r>
              <a:rPr lang="en-US" altLang="ko-KR" dirty="0"/>
              <a:t>GPT</a:t>
            </a:r>
            <a:r>
              <a:rPr lang="ko-KR" altLang="en-US" dirty="0"/>
              <a:t>에게 질문해보세요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85750" lvl="1" indent="-171450">
              <a:lnSpc>
                <a:spcPct val="150000"/>
              </a:lnSpc>
              <a:buFontTx/>
              <a:buChar char="-"/>
            </a:pPr>
            <a:r>
              <a:rPr lang="en-US" altLang="ko-KR" dirty="0"/>
              <a:t>Easy : </a:t>
            </a:r>
            <a:r>
              <a:rPr lang="ko-KR" altLang="en-US" dirty="0"/>
              <a:t>탐색 시간 </a:t>
            </a:r>
            <a:r>
              <a:rPr lang="en-US" altLang="ko-KR" dirty="0"/>
              <a:t>0.1</a:t>
            </a:r>
            <a:r>
              <a:rPr lang="ko-KR" altLang="en-US" dirty="0"/>
              <a:t>초</a:t>
            </a:r>
            <a:endParaRPr lang="en-US" altLang="ko-KR" dirty="0"/>
          </a:p>
          <a:p>
            <a:pPr marL="285750" lvl="1" indent="-171450">
              <a:lnSpc>
                <a:spcPct val="150000"/>
              </a:lnSpc>
              <a:buFontTx/>
              <a:buChar char="-"/>
            </a:pPr>
            <a:r>
              <a:rPr lang="ko-KR" altLang="ko-KR" dirty="0" err="1"/>
              <a:t>Normal</a:t>
            </a:r>
            <a:r>
              <a:rPr lang="ko-KR" altLang="ko-KR" dirty="0"/>
              <a:t> : 탐색 시간 0.5초</a:t>
            </a:r>
            <a:endParaRPr lang="en-US" altLang="ko-KR" dirty="0"/>
          </a:p>
          <a:p>
            <a:pPr marL="285750" lvl="1" indent="-171450">
              <a:lnSpc>
                <a:spcPct val="150000"/>
              </a:lnSpc>
              <a:buFontTx/>
              <a:buChar char="-"/>
            </a:pPr>
            <a:r>
              <a:rPr lang="ko-KR" altLang="ko-KR" dirty="0" err="1"/>
              <a:t>Hard</a:t>
            </a:r>
            <a:r>
              <a:rPr lang="ko-KR" altLang="ko-KR" dirty="0"/>
              <a:t> : 탐색 시간 2초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③ </a:t>
            </a:r>
            <a:r>
              <a:rPr lang="ko-KR" altLang="en-US" dirty="0"/>
              <a:t>프로그램 구조 설계하기</a:t>
            </a:r>
            <a:endParaRPr lang="en-US" altLang="ko-KR" dirty="0"/>
          </a:p>
          <a:p>
            <a:pPr marL="114300" lvl="1">
              <a:lnSpc>
                <a:spcPct val="150000"/>
              </a:lnSpc>
            </a:pPr>
            <a:r>
              <a:rPr lang="ko-KR" altLang="ko-KR" dirty="0"/>
              <a:t>현재 작성한 체스 프로그램의 구조를 확장해보세요</a:t>
            </a:r>
            <a:r>
              <a:rPr lang="en-US" altLang="ko-KR" dirty="0"/>
              <a:t>.</a:t>
            </a:r>
          </a:p>
          <a:p>
            <a:pPr marL="285750" lvl="1" indent="-171450">
              <a:lnSpc>
                <a:spcPct val="150000"/>
              </a:lnSpc>
              <a:buFontTx/>
              <a:buChar char="-"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CA6DAC-E31C-C6F7-F315-FA17370AC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9" y="2626315"/>
            <a:ext cx="4374191" cy="104224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E5FB9E5-8807-6DE1-0601-F59435990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179" y="5966079"/>
            <a:ext cx="4374191" cy="106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613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2ED41-3C52-E47F-2F0B-E7DE8EC3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FE74309-D940-4D13-C7F5-CF89C115407A}"/>
              </a:ext>
            </a:extLst>
          </p:cNvPr>
          <p:cNvSpPr txBox="1">
            <a:spLocks/>
          </p:cNvSpPr>
          <p:nvPr/>
        </p:nvSpPr>
        <p:spPr>
          <a:xfrm>
            <a:off x="1312770" y="789663"/>
            <a:ext cx="3738771" cy="33827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55168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15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200" b="1" dirty="0">
                <a:solidFill>
                  <a:srgbClr val="1A8F4E"/>
                </a:solidFill>
              </a:rPr>
              <a:t>프로젝트 과제</a:t>
            </a:r>
            <a:endParaRPr lang="ko-KR" altLang="en-US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59A05A15-DD19-A9B5-C3EA-F34BD73B36BD}"/>
              </a:ext>
            </a:extLst>
          </p:cNvPr>
          <p:cNvSpPr txBox="1">
            <a:spLocks/>
          </p:cNvSpPr>
          <p:nvPr/>
        </p:nvSpPr>
        <p:spPr>
          <a:xfrm>
            <a:off x="822018" y="1270973"/>
            <a:ext cx="4944798" cy="7358677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</a:endParaRPr>
          </a:p>
          <a:p>
            <a:pPr marL="2857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</a:endParaRPr>
          </a:p>
          <a:p>
            <a:pPr marL="2857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</a:endParaRPr>
          </a:p>
          <a:p>
            <a:pPr marL="2857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</a:endParaRPr>
          </a:p>
          <a:p>
            <a:pPr marL="2857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</a:endParaRPr>
          </a:p>
          <a:p>
            <a:pPr marL="2857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</a:endParaRPr>
          </a:p>
          <a:p>
            <a:pPr marL="2857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</a:endParaRPr>
          </a:p>
          <a:p>
            <a:pPr marL="2857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</a:endParaRPr>
          </a:p>
          <a:p>
            <a:pPr marL="2857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</a:endParaRPr>
          </a:p>
          <a:p>
            <a:pPr marL="2857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</a:endParaRPr>
          </a:p>
          <a:p>
            <a:pPr marL="2857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/>
              <a:t>추가 기능을 넣으려면 어느 위치에 코드를 추가해야 하는지 생각해보자</a:t>
            </a:r>
            <a:endParaRPr lang="en-US" altLang="ko-KR" dirty="0">
              <a:latin typeface="+mn-ea"/>
            </a:endParaRPr>
          </a:p>
          <a:p>
            <a:pPr marL="2857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/>
              <a:t>예시</a:t>
            </a:r>
            <a:endParaRPr lang="en-US" altLang="ko-KR" dirty="0">
              <a:latin typeface="+mn-ea"/>
            </a:endParaRPr>
          </a:p>
          <a:p>
            <a:pPr marL="114300" lvl="1"/>
            <a:r>
              <a:rPr lang="en-US" altLang="ko-KR" dirty="0">
                <a:latin typeface="+mn-ea"/>
              </a:rPr>
              <a:t> - </a:t>
            </a:r>
            <a:r>
              <a:rPr lang="ko-KR" altLang="ko-KR" dirty="0" err="1"/>
              <a:t>기보</a:t>
            </a:r>
            <a:r>
              <a:rPr lang="ko-KR" altLang="ko-KR" dirty="0"/>
              <a:t> 저장 → 체스 상태 변경 직</a:t>
            </a:r>
            <a:r>
              <a:rPr lang="ko-KR" altLang="en-US" dirty="0"/>
              <a:t>후</a:t>
            </a:r>
            <a:endParaRPr lang="en-US" altLang="ko-KR" dirty="0"/>
          </a:p>
          <a:p>
            <a:pPr marL="114300" lvl="1"/>
            <a:r>
              <a:rPr lang="en-US" altLang="ko-KR" dirty="0">
                <a:latin typeface="+mn-ea"/>
              </a:rPr>
              <a:t> - </a:t>
            </a:r>
            <a:r>
              <a:rPr lang="ko-KR" altLang="ko-KR" dirty="0"/>
              <a:t>체스 시계 → 턴 변경 </a:t>
            </a:r>
            <a:r>
              <a:rPr lang="ko-KR" altLang="en-US" dirty="0"/>
              <a:t>시</a:t>
            </a:r>
            <a:endParaRPr lang="en-US" altLang="ko-KR" dirty="0"/>
          </a:p>
          <a:p>
            <a:pPr marL="114300" lvl="1"/>
            <a:r>
              <a:rPr lang="en-US" altLang="ko-KR" dirty="0"/>
              <a:t>  - </a:t>
            </a:r>
            <a:r>
              <a:rPr lang="ko-KR" altLang="ko-KR" dirty="0"/>
              <a:t>수 추천 → 사용자 차례 시작 </a:t>
            </a:r>
            <a:r>
              <a:rPr lang="en-US" altLang="ko-KR" dirty="0"/>
              <a:t> </a:t>
            </a:r>
            <a:r>
              <a:rPr lang="ko-KR" altLang="en-US" dirty="0"/>
              <a:t>시</a:t>
            </a:r>
            <a:endParaRPr lang="en-US" altLang="ko-KR" dirty="0">
              <a:latin typeface="+mn-ea"/>
            </a:endParaRPr>
          </a:p>
          <a:p>
            <a:pPr marL="114300" lvl="1"/>
            <a:endParaRPr lang="en-US" altLang="ko-KR" dirty="0">
              <a:latin typeface="+mn-ea"/>
            </a:endParaRPr>
          </a:p>
          <a:p>
            <a:pPr marL="0" indent="0">
              <a:buNone/>
            </a:pPr>
            <a:r>
              <a:rPr lang="en-US" altLang="ko-KR" dirty="0"/>
              <a:t>④ </a:t>
            </a:r>
            <a:r>
              <a:rPr lang="ko-KR" altLang="ko-KR" dirty="0"/>
              <a:t>UI/UX 개선하기</a:t>
            </a:r>
            <a:endParaRPr lang="en-US" altLang="ko-KR" dirty="0"/>
          </a:p>
          <a:p>
            <a:pPr marL="285750" lvl="1" indent="-171450">
              <a:buFont typeface="Arial" panose="020B0604020202020204" pitchFamily="34" charset="0"/>
              <a:buChar char="•"/>
            </a:pPr>
            <a:r>
              <a:rPr lang="ko-KR" altLang="en-US" dirty="0"/>
              <a:t>다음과 같이 </a:t>
            </a:r>
            <a:r>
              <a:rPr lang="en-US" altLang="ko-KR" dirty="0"/>
              <a:t>GPT</a:t>
            </a:r>
            <a:r>
              <a:rPr lang="ko-KR" altLang="en-US" dirty="0"/>
              <a:t>에게 질문해보세요</a:t>
            </a:r>
            <a:r>
              <a:rPr lang="en-US" altLang="ko-KR" dirty="0"/>
              <a:t>.</a:t>
            </a:r>
          </a:p>
          <a:p>
            <a:pPr marL="285750" lvl="1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lvl="1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lvl="1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lvl="1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lvl="1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lvl="1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lvl="1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/>
              <a:t>예시</a:t>
            </a:r>
            <a:endParaRPr lang="en-US" altLang="ko-KR" dirty="0">
              <a:latin typeface="+mn-ea"/>
            </a:endParaRPr>
          </a:p>
          <a:p>
            <a:pPr marL="114300" lvl="1"/>
            <a:r>
              <a:rPr lang="en-US" altLang="ko-KR" dirty="0">
                <a:latin typeface="+mn-ea"/>
              </a:rPr>
              <a:t> - </a:t>
            </a:r>
            <a:r>
              <a:rPr lang="ko-KR" altLang="ko-KR" dirty="0" err="1"/>
              <a:t>다크</a:t>
            </a:r>
            <a:r>
              <a:rPr lang="ko-KR" altLang="ko-KR" dirty="0"/>
              <a:t> 모드 적용</a:t>
            </a:r>
            <a:endParaRPr lang="en-US" altLang="ko-KR" dirty="0"/>
          </a:p>
          <a:p>
            <a:pPr marL="114300" lvl="1"/>
            <a:r>
              <a:rPr lang="en-US" altLang="ko-KR" dirty="0">
                <a:latin typeface="+mn-ea"/>
              </a:rPr>
              <a:t> - </a:t>
            </a:r>
            <a:r>
              <a:rPr lang="ko-KR" altLang="en-US" dirty="0"/>
              <a:t>사용자 프로필 표시</a:t>
            </a:r>
            <a:endParaRPr lang="en-US" altLang="ko-KR" dirty="0"/>
          </a:p>
          <a:p>
            <a:pPr marL="114300" lvl="1"/>
            <a:r>
              <a:rPr lang="en-US" altLang="ko-KR" dirty="0"/>
              <a:t>  -  </a:t>
            </a:r>
            <a:r>
              <a:rPr lang="ko-KR" altLang="ko-KR" dirty="0"/>
              <a:t>AI 난이도 표시</a:t>
            </a:r>
            <a:endParaRPr lang="en-US" altLang="ko-KR" dirty="0"/>
          </a:p>
          <a:p>
            <a:pPr marL="114300" lvl="1"/>
            <a:r>
              <a:rPr lang="en-US" altLang="ko-KR" dirty="0"/>
              <a:t>  - </a:t>
            </a:r>
            <a:r>
              <a:rPr lang="ko-KR" altLang="ko-KR" dirty="0"/>
              <a:t>이동 기록 창 추가</a:t>
            </a:r>
            <a:endParaRPr lang="en-US" altLang="ko-KR" dirty="0"/>
          </a:p>
          <a:p>
            <a:pPr marL="114300" lvl="1"/>
            <a:r>
              <a:rPr lang="en-US" altLang="ko-KR" dirty="0"/>
              <a:t>  - </a:t>
            </a:r>
            <a:r>
              <a:rPr lang="ko-KR" altLang="ko-KR" dirty="0"/>
              <a:t>현재 차례 강조</a:t>
            </a:r>
            <a:endParaRPr lang="en-US" altLang="ko-KR" dirty="0"/>
          </a:p>
          <a:p>
            <a:pPr marL="2857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</a:endParaRPr>
          </a:p>
          <a:p>
            <a:pPr marL="285750" lvl="1" indent="-171450">
              <a:buFont typeface="Arial" panose="020B0604020202020204" pitchFamily="34" charset="0"/>
              <a:buChar char="•"/>
            </a:pPr>
            <a:endParaRPr lang="ko-KR" altLang="en-US" dirty="0">
              <a:latin typeface="+mn-ea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931988C4-982C-9744-0DC2-C76F4E7621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24" y="1138664"/>
            <a:ext cx="4636925" cy="403210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00F408D-0FC3-E05C-B052-ECC7BB6A9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35" y="6044672"/>
            <a:ext cx="4323702" cy="106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9089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DCEB7-71BD-1BB9-28B8-17B3ADCC3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407AA4CE-0CB2-764B-35D0-72AA7212528F}"/>
              </a:ext>
            </a:extLst>
          </p:cNvPr>
          <p:cNvSpPr txBox="1">
            <a:spLocks/>
          </p:cNvSpPr>
          <p:nvPr/>
        </p:nvSpPr>
        <p:spPr>
          <a:xfrm>
            <a:off x="1659135" y="789663"/>
            <a:ext cx="3738771" cy="33827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55168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15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200" b="1" dirty="0">
                <a:solidFill>
                  <a:srgbClr val="1A8F4E"/>
                </a:solidFill>
              </a:rPr>
              <a:t>프로젝트 과제</a:t>
            </a:r>
            <a:endParaRPr lang="ko-KR" altLang="en-US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내용 개체 틀 3">
            <a:extLst>
              <a:ext uri="{FF2B5EF4-FFF2-40B4-BE49-F238E27FC236}">
                <a16:creationId xmlns:a16="http://schemas.microsoft.com/office/drawing/2014/main" id="{DEB40683-E8BB-D3B0-A957-9BE808F5EF32}"/>
              </a:ext>
            </a:extLst>
          </p:cNvPr>
          <p:cNvSpPr txBox="1">
            <a:spLocks/>
          </p:cNvSpPr>
          <p:nvPr/>
        </p:nvSpPr>
        <p:spPr>
          <a:xfrm>
            <a:off x="1171431" y="1273514"/>
            <a:ext cx="4944798" cy="6898936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ko-KR" dirty="0"/>
              <a:t>⑤ 기능 확장하기 (심화)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다음과 같이 </a:t>
            </a:r>
            <a:r>
              <a:rPr lang="en-US" altLang="ko-KR" dirty="0"/>
              <a:t>GPT</a:t>
            </a:r>
            <a:r>
              <a:rPr lang="ko-KR" altLang="en-US" dirty="0"/>
              <a:t>에게 질문해보세요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857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/>
              <a:t>예시</a:t>
            </a:r>
            <a:endParaRPr lang="en-US" altLang="ko-KR" dirty="0">
              <a:latin typeface="+mn-ea"/>
            </a:endParaRPr>
          </a:p>
          <a:p>
            <a:pPr marL="114300" lvl="1"/>
            <a:r>
              <a:rPr lang="en-US" altLang="ko-KR" dirty="0">
                <a:latin typeface="+mn-ea"/>
              </a:rPr>
              <a:t> - </a:t>
            </a:r>
            <a:r>
              <a:rPr lang="ko-KR" altLang="ko-KR" dirty="0" err="1"/>
              <a:t>기보</a:t>
            </a:r>
            <a:r>
              <a:rPr lang="ko-KR" altLang="ko-KR" dirty="0"/>
              <a:t> 저장 기능</a:t>
            </a:r>
            <a:endParaRPr lang="en-US" altLang="ko-KR" dirty="0"/>
          </a:p>
          <a:p>
            <a:pPr marL="114300" lvl="1"/>
            <a:r>
              <a:rPr lang="en-US" altLang="ko-KR" dirty="0">
                <a:latin typeface="+mn-ea"/>
              </a:rPr>
              <a:t> - </a:t>
            </a:r>
            <a:r>
              <a:rPr lang="ko-KR" altLang="ko-KR" dirty="0"/>
              <a:t>체스 분석 기능</a:t>
            </a:r>
            <a:endParaRPr lang="en-US" altLang="ko-KR" dirty="0"/>
          </a:p>
          <a:p>
            <a:pPr marL="114300" lvl="1"/>
            <a:r>
              <a:rPr lang="en-US" altLang="ko-KR" dirty="0"/>
              <a:t>  -  </a:t>
            </a:r>
            <a:r>
              <a:rPr lang="ko-KR" altLang="ko-KR" dirty="0"/>
              <a:t>AI 추천 수 기능</a:t>
            </a:r>
            <a:endParaRPr lang="en-US" altLang="ko-KR" dirty="0"/>
          </a:p>
          <a:p>
            <a:pPr marL="114300" lvl="1"/>
            <a:r>
              <a:rPr lang="en-US" altLang="ko-KR" dirty="0"/>
              <a:t>  - </a:t>
            </a:r>
            <a:r>
              <a:rPr lang="ko-KR" altLang="ko-KR" dirty="0"/>
              <a:t>승률 예측 기능</a:t>
            </a:r>
            <a:endParaRPr lang="en-US" altLang="ko-KR" dirty="0"/>
          </a:p>
          <a:p>
            <a:pPr marL="114300" lvl="1"/>
            <a:r>
              <a:rPr lang="en-US" altLang="ko-KR" dirty="0"/>
              <a:t>  - </a:t>
            </a:r>
            <a:r>
              <a:rPr lang="ko-KR" altLang="ko-KR" dirty="0"/>
              <a:t>체스 퍼즐 모드 </a:t>
            </a:r>
          </a:p>
          <a:p>
            <a:pPr marL="114300" lvl="1"/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87EAB4-B3B1-0D31-74B6-A56577E45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9" y="1942494"/>
            <a:ext cx="4507281" cy="106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293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녹색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39069</TotalTime>
  <Words>11760</Words>
  <Application>Microsoft Office PowerPoint</Application>
  <PresentationFormat>사용자 지정</PresentationFormat>
  <Paragraphs>1154</Paragraphs>
  <Slides>52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62" baseType="lpstr">
      <vt:lpstr>맑은 고딕</vt:lpstr>
      <vt:lpstr>휴먼모음T</vt:lpstr>
      <vt:lpstr>휴먼편지체</vt:lpstr>
      <vt:lpstr>Arial</vt:lpstr>
      <vt:lpstr>Calibri</vt:lpstr>
      <vt:lpstr>Calibri Light</vt:lpstr>
      <vt:lpstr>Consolas</vt:lpstr>
      <vt:lpstr>Roboto Mono</vt:lpstr>
      <vt:lpstr>Wingdings</vt:lpstr>
      <vt:lpstr>Office 2013 - 2022 테마</vt:lpstr>
      <vt:lpstr>체스 엔진 구조 이해</vt:lpstr>
      <vt:lpstr>PowerPoint 프레젠테이션</vt:lpstr>
      <vt:lpstr>python-chess와 체스 상태 처리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콘솔 기반 체스 상태 처리 프로그램</vt:lpstr>
      <vt:lpstr>PowerPoint 프레젠테이션</vt:lpstr>
      <vt:lpstr>PowerPoint 프레젠테이션</vt:lpstr>
      <vt:lpstr>GUI 체스 구현하기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Stockfish를 이용한 체스 AI 프로그램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마무리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김보미</dc:creator>
  <cp:lastModifiedBy>은진 이</cp:lastModifiedBy>
  <cp:revision>206</cp:revision>
  <cp:lastPrinted>2026-04-26T06:16:36Z</cp:lastPrinted>
  <dcterms:created xsi:type="dcterms:W3CDTF">2023-06-21T09:07:53Z</dcterms:created>
  <dcterms:modified xsi:type="dcterms:W3CDTF">2026-06-03T16:00:05Z</dcterms:modified>
</cp:coreProperties>
</file>