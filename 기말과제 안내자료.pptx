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6" r:id="rId9"/>
    <p:sldId id="267" r:id="rId10"/>
    <p:sldId id="270" r:id="rId11"/>
    <p:sldId id="272" r:id="rId12"/>
    <p:sldId id="274" r:id="rId13"/>
    <p:sldId id="27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7" y="13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923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B268B-2F7C-5EBA-D292-9FD302F18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C672F-C13E-5ED8-E6A4-5E44F4D60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9AF68-CC04-D9A7-607C-1B83E4FF1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C3B42-4A65-E1B0-71EE-3B77E15279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789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274320"/>
          </a:xfrm>
          <a:prstGeom prst="rect">
            <a:avLst/>
          </a:prstGeom>
          <a:solidFill>
            <a:srgbClr val="D1D9E6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457200" cy="274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457200" cy="274320"/>
          </a:xfrm>
          <a:prstGeom prst="rect">
            <a:avLst/>
          </a:prstGeom>
          <a:solidFill>
            <a:srgbClr val="D1D9E6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457200" cy="274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457200" cy="274320"/>
          </a:xfrm>
          <a:prstGeom prst="rect">
            <a:avLst/>
          </a:prstGeom>
          <a:solidFill>
            <a:srgbClr val="D1D9E6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457200" cy="274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457200" cy="274320"/>
          </a:xfrm>
          <a:prstGeom prst="rect">
            <a:avLst/>
          </a:prstGeom>
          <a:solidFill>
            <a:srgbClr val="D1D9E6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457200" cy="274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457200" cy="274320"/>
          </a:xfrm>
          <a:prstGeom prst="rect">
            <a:avLst/>
          </a:prstGeom>
          <a:solidFill>
            <a:srgbClr val="D1D9E6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457200" cy="274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457200" cy="274320"/>
          </a:xfrm>
          <a:prstGeom prst="rect">
            <a:avLst/>
          </a:prstGeom>
          <a:solidFill>
            <a:srgbClr val="D1D9E6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457200" cy="274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457200" cy="274320"/>
          </a:xfrm>
          <a:prstGeom prst="rect">
            <a:avLst/>
          </a:prstGeom>
          <a:solidFill>
            <a:srgbClr val="D1D9E6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457200" cy="274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457200" cy="274320"/>
          </a:xfrm>
          <a:prstGeom prst="rect">
            <a:avLst/>
          </a:prstGeom>
          <a:solidFill>
            <a:srgbClr val="D1D9E6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457200" cy="274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457200" cy="274320"/>
          </a:xfrm>
          <a:prstGeom prst="rect">
            <a:avLst/>
          </a:prstGeom>
          <a:solidFill>
            <a:srgbClr val="D1D9E6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457200" cy="274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457200" cy="274320"/>
          </a:xfrm>
          <a:prstGeom prst="rect">
            <a:avLst/>
          </a:prstGeom>
          <a:solidFill>
            <a:srgbClr val="D1D9E6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686800" y="0"/>
            <a:ext cx="457200" cy="274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85482" y="2146151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400" dirty="0">
                <a:solidFill>
                  <a:srgbClr val="1E293B"/>
                </a:solidFill>
              </a:rPr>
              <a:t>체스 프로젝트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385482" y="2870499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200" dirty="0">
                <a:solidFill>
                  <a:srgbClr val="334155"/>
                </a:solidFill>
              </a:rPr>
              <a:t>학생별 평가 기준표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457200" cy="292608"/>
          </a:xfrm>
          <a:prstGeom prst="rect">
            <a:avLst/>
          </a:prstGeom>
          <a:solidFill>
            <a:srgbClr val="D1D9E6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57200" y="4846320"/>
            <a:ext cx="457200" cy="29260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14400" y="4846320"/>
            <a:ext cx="457200" cy="292608"/>
          </a:xfrm>
          <a:prstGeom prst="rect">
            <a:avLst/>
          </a:prstGeom>
          <a:solidFill>
            <a:srgbClr val="D1D9E6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371600" y="4846320"/>
            <a:ext cx="457200" cy="29260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828800" y="4846320"/>
            <a:ext cx="457200" cy="292608"/>
          </a:xfrm>
          <a:prstGeom prst="rect">
            <a:avLst/>
          </a:prstGeom>
          <a:solidFill>
            <a:srgbClr val="D1D9E6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2286000" y="4846320"/>
            <a:ext cx="457200" cy="29260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2743200" y="4846320"/>
            <a:ext cx="457200" cy="292608"/>
          </a:xfrm>
          <a:prstGeom prst="rect">
            <a:avLst/>
          </a:prstGeom>
          <a:solidFill>
            <a:srgbClr val="D1D9E6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200400" y="4846320"/>
            <a:ext cx="457200" cy="29260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657600" y="4846320"/>
            <a:ext cx="457200" cy="292608"/>
          </a:xfrm>
          <a:prstGeom prst="rect">
            <a:avLst/>
          </a:prstGeom>
          <a:solidFill>
            <a:srgbClr val="D1D9E6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114800" y="4846320"/>
            <a:ext cx="457200" cy="29260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572000" y="4846320"/>
            <a:ext cx="457200" cy="292608"/>
          </a:xfrm>
          <a:prstGeom prst="rect">
            <a:avLst/>
          </a:prstGeom>
          <a:solidFill>
            <a:srgbClr val="D1D9E6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029200" y="4846320"/>
            <a:ext cx="457200" cy="29260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486400" y="4846320"/>
            <a:ext cx="457200" cy="292608"/>
          </a:xfrm>
          <a:prstGeom prst="rect">
            <a:avLst/>
          </a:prstGeom>
          <a:solidFill>
            <a:srgbClr val="D1D9E6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5943600" y="4846320"/>
            <a:ext cx="457200" cy="29260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6400800" y="4846320"/>
            <a:ext cx="457200" cy="292608"/>
          </a:xfrm>
          <a:prstGeom prst="rect">
            <a:avLst/>
          </a:prstGeom>
          <a:solidFill>
            <a:srgbClr val="D1D9E6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6858000" y="4846320"/>
            <a:ext cx="457200" cy="29260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7315200" y="4846320"/>
            <a:ext cx="457200" cy="292608"/>
          </a:xfrm>
          <a:prstGeom prst="rect">
            <a:avLst/>
          </a:prstGeom>
          <a:solidFill>
            <a:srgbClr val="D1D9E6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7772400" y="4846320"/>
            <a:ext cx="457200" cy="29260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8229600" y="4846320"/>
            <a:ext cx="457200" cy="292608"/>
          </a:xfrm>
          <a:prstGeom prst="rect">
            <a:avLst/>
          </a:prstGeom>
          <a:solidFill>
            <a:srgbClr val="D1D9E6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8686800" y="4846320"/>
            <a:ext cx="457200" cy="29260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메인 페이지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2A3A5E"/>
          </a:solidFill>
          <a:ln w="1270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34747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347472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구현 내용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527048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14813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프로젝트 소개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3108960" cy="0"/>
          </a:xfrm>
          <a:prstGeom prst="line">
            <a:avLst/>
          </a:prstGeom>
          <a:noFill/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2093976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2960" y="20482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시작 버튼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487168"/>
            <a:ext cx="3108960" cy="0"/>
          </a:xfrm>
          <a:prstGeom prst="line">
            <a:avLst/>
          </a:prstGeom>
          <a:noFill/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2660904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26151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메뉴 연결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06240" y="868680"/>
            <a:ext cx="4572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206240" y="868680"/>
            <a:ext cx="457200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343400" y="868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📝  평가 기준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97680" y="1389888"/>
            <a:ext cx="4389120" cy="3200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29768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항목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배점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17647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297680" y="20391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297680" y="2039112"/>
            <a:ext cx="877824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3891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UI 디자인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237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20점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97680" y="22219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297680" y="24963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297680" y="2496312"/>
            <a:ext cx="877824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38912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메뉴 연결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2376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20점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297680" y="26791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297680" y="29535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297680" y="2953512"/>
            <a:ext cx="877824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38912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반응형 구성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2376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20점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297680" y="31363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4297680" y="34107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297680" y="3410712"/>
            <a:ext cx="877824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38912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코드 구조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2376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20점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297680" y="35935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4297680" y="38679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4297680" y="3867912"/>
            <a:ext cx="877824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38912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E293B"/>
                </a:solidFill>
              </a:rPr>
              <a:t>기능 완성도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22376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20점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297680" y="4050792"/>
            <a:ext cx="4389120" cy="384048"/>
          </a:xfrm>
          <a:prstGeom prst="rect">
            <a:avLst/>
          </a:prstGeom>
          <a:solidFill>
            <a:srgbClr val="FFF8E7"/>
          </a:solidFill>
          <a:ln w="12700">
            <a:solidFill>
              <a:srgbClr val="C47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4389120" y="40507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7F00"/>
                </a:solidFill>
              </a:rPr>
              <a:t>합  계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223760" y="4050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7F00"/>
                </a:solidFill>
              </a:rPr>
              <a:t>100점</a:t>
            </a:r>
            <a:endParaRPr lang="en-US" sz="1500" dirty="0"/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07A4BD4A-0176-DA6C-9A06-A01DE9D5BC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564" b="18830"/>
          <a:stretch>
            <a:fillRect/>
          </a:stretch>
        </p:blipFill>
        <p:spPr>
          <a:xfrm>
            <a:off x="749808" y="3026664"/>
            <a:ext cx="2706053" cy="17763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로그인/회원가입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2A3A5E"/>
          </a:solidFill>
          <a:ln w="1270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34747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347472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구현 내용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527048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14813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회원가입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3108960" cy="0"/>
          </a:xfrm>
          <a:prstGeom prst="line">
            <a:avLst/>
          </a:prstGeom>
          <a:noFill/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2093976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2960" y="20482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로그인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487168"/>
            <a:ext cx="3108960" cy="0"/>
          </a:xfrm>
          <a:prstGeom prst="line">
            <a:avLst/>
          </a:prstGeom>
          <a:noFill/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2660904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26151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로그아웃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06240" y="868680"/>
            <a:ext cx="4572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206240" y="868680"/>
            <a:ext cx="457200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343400" y="868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📝  평가 기준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97680" y="1389888"/>
            <a:ext cx="4389120" cy="3200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29768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항목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배점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17647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297680" y="20391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297680" y="2039112"/>
            <a:ext cx="1316736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3891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회원가입 기능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237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30점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97680" y="22219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297680" y="24963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297680" y="2496312"/>
            <a:ext cx="1316736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38912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로그인 기능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2376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30점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297680" y="26791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297680" y="29535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297680" y="2953512"/>
            <a:ext cx="877824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38912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Firebase 활용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2376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20점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297680" y="31363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4297680" y="34107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297680" y="3410712"/>
            <a:ext cx="438912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38912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UI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2376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10점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297680" y="35935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4297680" y="38679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4297680" y="3867912"/>
            <a:ext cx="438912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38912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E293B"/>
                </a:solidFill>
              </a:rPr>
              <a:t>예외 처리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22376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10점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297680" y="4050792"/>
            <a:ext cx="4389120" cy="384048"/>
          </a:xfrm>
          <a:prstGeom prst="rect">
            <a:avLst/>
          </a:prstGeom>
          <a:solidFill>
            <a:srgbClr val="FFF8E7"/>
          </a:solidFill>
          <a:ln w="12700">
            <a:solidFill>
              <a:srgbClr val="C47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4389120" y="40507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7F00"/>
                </a:solidFill>
              </a:rPr>
              <a:t>합  계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223760" y="4050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7F00"/>
                </a:solidFill>
              </a:rPr>
              <a:t>100점</a:t>
            </a:r>
            <a:endParaRPr lang="en-US" sz="1500" dirty="0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736B4726-0DCD-9949-7AA3-C49F3CDCF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515" y="2702052"/>
            <a:ext cx="2211779" cy="21899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플레이어 프로필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2A3A5E"/>
          </a:solidFill>
          <a:ln w="1270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34747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347472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구현 내용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527048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14813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사용자 정보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3108960" cy="0"/>
          </a:xfrm>
          <a:prstGeom prst="line">
            <a:avLst/>
          </a:prstGeom>
          <a:noFill/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2093976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2960" y="20482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전적 표시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868680"/>
            <a:ext cx="4572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206240" y="868680"/>
            <a:ext cx="457200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343400" y="868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📝  평가 기준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1389888"/>
            <a:ext cx="4389120" cy="3200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29768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항목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2376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배점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17647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297680" y="20391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297680" y="2039112"/>
            <a:ext cx="1316736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3891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프로필 표시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30점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97680" y="22219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297680" y="24963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297680" y="2496312"/>
            <a:ext cx="1316736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38912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전적 관리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2376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30점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297680" y="26791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297680" y="29535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297680" y="2953512"/>
            <a:ext cx="877824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38912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디자인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2376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20점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297680" y="31363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297680" y="34107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297680" y="3410712"/>
            <a:ext cx="877824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38912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200" dirty="0"/>
              <a:t>통계 시각화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2376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20점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297680" y="3593592"/>
            <a:ext cx="4389120" cy="384048"/>
          </a:xfrm>
          <a:prstGeom prst="rect">
            <a:avLst/>
          </a:prstGeom>
          <a:solidFill>
            <a:srgbClr val="FFF8E7"/>
          </a:solidFill>
          <a:ln w="12700">
            <a:solidFill>
              <a:srgbClr val="C47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389120" y="3593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7F00"/>
                </a:solidFill>
              </a:rPr>
              <a:t>합  계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223760" y="3593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7F00"/>
                </a:solidFill>
              </a:rPr>
              <a:t>100점</a:t>
            </a:r>
            <a:endParaRPr lang="en-US" sz="1500" dirty="0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F1B85956-E120-8F83-C4BC-E2B025724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40" y="2482108"/>
            <a:ext cx="2762923" cy="24099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온라인 대국 화면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2A3A5E"/>
          </a:solidFill>
          <a:ln w="1270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34747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347472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구현 내용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527048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14813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체스판 출력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3108960" cy="0"/>
          </a:xfrm>
          <a:prstGeom prst="line">
            <a:avLst/>
          </a:prstGeom>
          <a:noFill/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2093976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2960" y="20482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말 이동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868680"/>
            <a:ext cx="4572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206240" y="868680"/>
            <a:ext cx="457200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343400" y="868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📝  평가 기준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1389888"/>
            <a:ext cx="4389120" cy="3200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29768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항목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2376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배점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17647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297680" y="20391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297680" y="2039112"/>
            <a:ext cx="1755648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3891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체스판 구현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40점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97680" y="22219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297680" y="24963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297680" y="2496312"/>
            <a:ext cx="1316736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38912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이동 기능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2376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30점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297680" y="26791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Shape 30"/>
          <p:cNvSpPr/>
          <p:nvPr/>
        </p:nvSpPr>
        <p:spPr>
          <a:xfrm>
            <a:off x="4297680" y="29535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297680" y="2953512"/>
            <a:ext cx="438912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38912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E293B"/>
                </a:solidFill>
              </a:rPr>
              <a:t>실시간 카메라 기능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2376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10점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297680" y="31363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297680" y="34107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297680" y="3410712"/>
            <a:ext cx="877824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38912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E293B"/>
                </a:solidFill>
              </a:rPr>
              <a:t>채팅 기능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2376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20점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297680" y="3593592"/>
            <a:ext cx="4389120" cy="384048"/>
          </a:xfrm>
          <a:prstGeom prst="rect">
            <a:avLst/>
          </a:prstGeom>
          <a:solidFill>
            <a:srgbClr val="FFF8E7"/>
          </a:solidFill>
          <a:ln w="12700">
            <a:solidFill>
              <a:srgbClr val="C47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389120" y="3593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7F00"/>
                </a:solidFill>
              </a:rPr>
              <a:t>합  계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223760" y="3593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7F00"/>
                </a:solidFill>
              </a:rPr>
              <a:t>100점</a:t>
            </a:r>
            <a:endParaRPr lang="en-US" sz="1500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9F7E008A-B030-81B7-A19C-F93FCFF3D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32222"/>
            <a:ext cx="3282769" cy="16650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체스 기보 저장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2A3A5E"/>
          </a:solidFill>
          <a:ln w="1270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34747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347472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구현 내용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527048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14813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PGN 저장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3108960" cy="0"/>
          </a:xfrm>
          <a:prstGeom prst="line">
            <a:avLst/>
          </a:prstGeom>
          <a:noFill/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2093976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2960" y="20482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기보 불러오기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868680"/>
            <a:ext cx="4572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206240" y="868680"/>
            <a:ext cx="457200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343400" y="868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📝  평가 기준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1389888"/>
            <a:ext cx="4389120" cy="3200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29768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항목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2376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배점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17647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297680" y="20391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297680" y="2039112"/>
            <a:ext cx="1755648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3891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저장 기능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40점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97680" y="22219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297680" y="24963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297680" y="2496312"/>
            <a:ext cx="1316736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38912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불러오기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2376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30점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297680" y="26791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297680" y="29535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297680" y="2953512"/>
            <a:ext cx="438912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38912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UI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2376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10점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297680" y="31363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297680" y="34107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297680" y="3410712"/>
            <a:ext cx="877824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38912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E293B"/>
                </a:solidFill>
              </a:rPr>
              <a:t>데이터 관리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2376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20점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297680" y="3593592"/>
            <a:ext cx="4389120" cy="384048"/>
          </a:xfrm>
          <a:prstGeom prst="rect">
            <a:avLst/>
          </a:prstGeom>
          <a:solidFill>
            <a:srgbClr val="FFF8E7"/>
          </a:solidFill>
          <a:ln w="12700">
            <a:solidFill>
              <a:srgbClr val="C47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389120" y="3593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7F00"/>
                </a:solidFill>
              </a:rPr>
              <a:t>합  계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223760" y="3593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7F00"/>
                </a:solidFill>
              </a:rPr>
              <a:t>100점</a:t>
            </a:r>
            <a:endParaRPr lang="en-US" sz="150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25B8D4A3-EC7E-ED00-178C-7E058C26F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783" y="2386583"/>
            <a:ext cx="2682294" cy="26609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경기 관전 페이지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2A3A5E"/>
          </a:solidFill>
          <a:ln w="1270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34747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347472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구현 내용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527048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14813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실시간 관전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06240" y="868680"/>
            <a:ext cx="4572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206240" y="868680"/>
            <a:ext cx="457200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343400" y="868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📝  평가 기준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1389888"/>
            <a:ext cx="4389120" cy="3200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29768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항목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2376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배점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17647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297680" y="20391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297680" y="2039112"/>
            <a:ext cx="1755648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3891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실시간 갱신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40점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97680" y="22219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297680" y="24963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297680" y="2496312"/>
            <a:ext cx="877824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38912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UI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20점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97680" y="26791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297680" y="29535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297680" y="2953512"/>
            <a:ext cx="877824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38912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데이터 처리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20점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297680" y="31363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297680" y="34107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297680" y="3410712"/>
            <a:ext cx="877824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38912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E293B"/>
                </a:solidFill>
              </a:rPr>
              <a:t>반응성 및 안정성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2376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20점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297680" y="3593592"/>
            <a:ext cx="4389120" cy="384048"/>
          </a:xfrm>
          <a:prstGeom prst="rect">
            <a:avLst/>
          </a:prstGeom>
          <a:solidFill>
            <a:srgbClr val="FFF8E7"/>
          </a:solidFill>
          <a:ln w="12700">
            <a:solidFill>
              <a:srgbClr val="C47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389120" y="3593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7F00"/>
                </a:solidFill>
              </a:rPr>
              <a:t>합  계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223760" y="3593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7F00"/>
                </a:solidFill>
              </a:rPr>
              <a:t>100점</a:t>
            </a:r>
            <a:endParaRPr lang="en-US" sz="1500" dirty="0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C6723611-3F26-2ED1-B5CD-83AAB528E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32222"/>
            <a:ext cx="3282769" cy="1665081"/>
          </a:xfrm>
          <a:prstGeom prst="rect">
            <a:avLst/>
          </a:prstGeom>
        </p:spPr>
      </p:pic>
      <p:sp>
        <p:nvSpPr>
          <p:cNvPr id="44" name="Shape 10">
            <a:extLst>
              <a:ext uri="{FF2B5EF4-FFF2-40B4-BE49-F238E27FC236}">
                <a16:creationId xmlns:a16="http://schemas.microsoft.com/office/drawing/2014/main" id="{217645A7-9C70-B6F7-931D-571A1628C8F3}"/>
              </a:ext>
            </a:extLst>
          </p:cNvPr>
          <p:cNvSpPr/>
          <p:nvPr/>
        </p:nvSpPr>
        <p:spPr>
          <a:xfrm>
            <a:off x="548640" y="1920240"/>
            <a:ext cx="3108960" cy="0"/>
          </a:xfrm>
          <a:prstGeom prst="line">
            <a:avLst/>
          </a:prstGeom>
          <a:noFill/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11">
            <a:extLst>
              <a:ext uri="{FF2B5EF4-FFF2-40B4-BE49-F238E27FC236}">
                <a16:creationId xmlns:a16="http://schemas.microsoft.com/office/drawing/2014/main" id="{C4DEF195-F7E9-486F-D496-DD6A3EDC157E}"/>
              </a:ext>
            </a:extLst>
          </p:cNvPr>
          <p:cNvSpPr/>
          <p:nvPr/>
        </p:nvSpPr>
        <p:spPr>
          <a:xfrm>
            <a:off x="548640" y="2093976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86DF5573-118A-29AF-30B0-22D97B668C8E}"/>
              </a:ext>
            </a:extLst>
          </p:cNvPr>
          <p:cNvSpPr/>
          <p:nvPr/>
        </p:nvSpPr>
        <p:spPr>
          <a:xfrm>
            <a:off x="822960" y="20482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E293B"/>
                </a:solidFill>
              </a:rPr>
              <a:t>채팅기능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랭킹 시스템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2A3A5E"/>
          </a:solidFill>
          <a:ln w="1270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34747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347472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구현 내용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527048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14813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승률 계산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3108960" cy="0"/>
          </a:xfrm>
          <a:prstGeom prst="line">
            <a:avLst/>
          </a:prstGeom>
          <a:noFill/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2093976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2960" y="20482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랭킹 표시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868680"/>
            <a:ext cx="4572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206240" y="868680"/>
            <a:ext cx="457200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343400" y="868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📝  평가 기준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1389888"/>
            <a:ext cx="4389120" cy="3200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29768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항목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2376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배점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17647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297680" y="20391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297680" y="2039112"/>
            <a:ext cx="1755648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3891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랭킹 알고리즘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40점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97680" y="22219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297680" y="24963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297680" y="2496312"/>
            <a:ext cx="1316736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38912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데이터 처리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2376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30점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297680" y="26791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297680" y="29535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297680" y="2953512"/>
            <a:ext cx="438912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38912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UI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2376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10점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297680" y="31363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297680" y="34107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297680" y="3410712"/>
            <a:ext cx="877824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38912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200" dirty="0"/>
              <a:t>데이터 분석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2376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20점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297680" y="3593592"/>
            <a:ext cx="4389120" cy="384048"/>
          </a:xfrm>
          <a:prstGeom prst="rect">
            <a:avLst/>
          </a:prstGeom>
          <a:solidFill>
            <a:srgbClr val="FFF8E7"/>
          </a:solidFill>
          <a:ln w="12700">
            <a:solidFill>
              <a:srgbClr val="C47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389120" y="3593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7F00"/>
                </a:solidFill>
              </a:rPr>
              <a:t>합  계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223760" y="3593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7F00"/>
                </a:solidFill>
              </a:rPr>
              <a:t>100점</a:t>
            </a:r>
            <a:endParaRPr lang="en-US" sz="150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D66866EC-2E4F-0A69-90ED-51F8441F6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448242"/>
            <a:ext cx="2743200" cy="24895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Firebase 동기화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2A3A5E"/>
          </a:solidFill>
          <a:ln w="1270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34747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347472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구현 내용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527048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14813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실시간 DB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06240" y="868680"/>
            <a:ext cx="4572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206240" y="868680"/>
            <a:ext cx="457200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343400" y="868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📝  평가 기준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1389888"/>
            <a:ext cx="4389120" cy="3200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29768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항목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2376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배점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17647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297680" y="20391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297680" y="2039112"/>
            <a:ext cx="1316736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3891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데이터 저장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30점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97680" y="22219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297680" y="24963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297680" y="2496312"/>
            <a:ext cx="1755648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38912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실시간 동기화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40점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97680" y="26791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297680" y="29535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297680" y="2953512"/>
            <a:ext cx="438912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38912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안정성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10점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297680" y="31363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297680" y="34107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297680" y="3410712"/>
            <a:ext cx="877824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38912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200" dirty="0"/>
              <a:t>데이터 구조 설계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2376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20점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297680" y="3593592"/>
            <a:ext cx="4389120" cy="384048"/>
          </a:xfrm>
          <a:prstGeom prst="rect">
            <a:avLst/>
          </a:prstGeom>
          <a:solidFill>
            <a:srgbClr val="FFF8E7"/>
          </a:solidFill>
          <a:ln w="12700">
            <a:solidFill>
              <a:srgbClr val="C47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389120" y="3593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7F00"/>
                </a:solidFill>
              </a:rPr>
              <a:t>합  계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223760" y="3593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7F00"/>
                </a:solidFill>
              </a:rPr>
              <a:t>100점</a:t>
            </a:r>
            <a:endParaRPr lang="en-US" sz="150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9E31C1A1-B1E1-E93C-02C0-C0AA70EBA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87" y="2350092"/>
            <a:ext cx="3359254" cy="24138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VR 체스 연동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2A3A5E"/>
          </a:solidFill>
          <a:ln w="1270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34747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347472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구현 내용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527048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14813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Unity 데이터 연동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06240" y="868680"/>
            <a:ext cx="4572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206240" y="868680"/>
            <a:ext cx="457200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343400" y="868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📝  평가 기준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1389888"/>
            <a:ext cx="4389120" cy="3200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29768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항목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2376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배점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17647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297680" y="20391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297680" y="2039112"/>
            <a:ext cx="1755648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3891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Unity 연동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40점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97680" y="22219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297680" y="24963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297680" y="2496312"/>
            <a:ext cx="1316736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38912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데이터 송수신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30점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97680" y="26791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297680" y="29535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297680" y="2953512"/>
            <a:ext cx="1316736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38912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시연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30점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297680" y="3136392"/>
            <a:ext cx="4389120" cy="384048"/>
          </a:xfrm>
          <a:prstGeom prst="rect">
            <a:avLst/>
          </a:prstGeom>
          <a:solidFill>
            <a:srgbClr val="FFF8E7"/>
          </a:solidFill>
          <a:ln w="12700">
            <a:solidFill>
              <a:srgbClr val="C47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389120" y="31363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7F00"/>
                </a:solidFill>
              </a:rPr>
              <a:t>합  계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23760" y="31363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7F00"/>
                </a:solidFill>
              </a:rPr>
              <a:t>100점</a:t>
            </a:r>
            <a:endParaRPr lang="en-US" sz="1500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CCCFB23F-6411-1C12-98D3-28EB441E9E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20" t="43411" r="31199" b="25164"/>
          <a:stretch>
            <a:fillRect/>
          </a:stretch>
        </p:blipFill>
        <p:spPr>
          <a:xfrm>
            <a:off x="590231" y="2167307"/>
            <a:ext cx="3025777" cy="25272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관리자 페이지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2A3A5E"/>
          </a:solidFill>
          <a:ln w="1270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34747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347472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구현 내용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527048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14813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회원 관리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3108960" cy="0"/>
          </a:xfrm>
          <a:prstGeom prst="line">
            <a:avLst/>
          </a:prstGeom>
          <a:noFill/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2093976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2960" y="20482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경기 관리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868680"/>
            <a:ext cx="4572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206240" y="868680"/>
            <a:ext cx="457200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343400" y="868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📝  평가 기준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1389888"/>
            <a:ext cx="4389120" cy="3200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29768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항목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2376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배점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17647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297680" y="20391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297680" y="2039112"/>
            <a:ext cx="1755648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3891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관리 기능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40점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97680" y="22219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297680" y="24963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297680" y="2496312"/>
            <a:ext cx="1316736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38912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데이터 처리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2376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30점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297680" y="26791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297680" y="29535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297680" y="2953512"/>
            <a:ext cx="438912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38912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UI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2376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10점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297680" y="31363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297680" y="34107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297680" y="3410712"/>
            <a:ext cx="877824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38912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200" dirty="0"/>
              <a:t>권한 관리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2376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20점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297680" y="3593592"/>
            <a:ext cx="4389120" cy="384048"/>
          </a:xfrm>
          <a:prstGeom prst="rect">
            <a:avLst/>
          </a:prstGeom>
          <a:solidFill>
            <a:srgbClr val="FFF8E7"/>
          </a:solidFill>
          <a:ln w="12700">
            <a:solidFill>
              <a:srgbClr val="C47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389120" y="3593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7F00"/>
                </a:solidFill>
              </a:rPr>
              <a:t>합  계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223760" y="3593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7F00"/>
                </a:solidFill>
              </a:rPr>
              <a:t>100점</a:t>
            </a:r>
            <a:endParaRPr lang="en-US" sz="1500" dirty="0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4F24F5C5-F780-19BB-E8B9-DC44E6DBE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79" y="2374616"/>
            <a:ext cx="2942101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A65081A-FFB3-59ED-3250-572EE1623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6" y="150126"/>
            <a:ext cx="7176046" cy="27307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81061BA-E8C6-AA6C-6E89-2A60E9301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845" y="2880834"/>
            <a:ext cx="2889387" cy="225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109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0EBCC-9124-FBA8-C085-8957B6C21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0BC7AB-0E7D-E8F9-3D6E-88C7A2F5E1CF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86035F5-F963-8592-8B19-ABF2C86DCF1A}"/>
              </a:ext>
            </a:extLst>
          </p:cNvPr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8EA395C-4BE5-21C9-0BC5-D507C9D2DD21}"/>
              </a:ext>
            </a:extLst>
          </p:cNvPr>
          <p:cNvSpPr/>
          <p:nvPr/>
        </p:nvSpPr>
        <p:spPr>
          <a:xfrm>
            <a:off x="365760" y="20116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00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4C5BC49-8D1B-CDFC-8AB3-0D4CA4257230}"/>
              </a:ext>
            </a:extLst>
          </p:cNvPr>
          <p:cNvSpPr/>
          <p:nvPr/>
        </p:nvSpPr>
        <p:spPr>
          <a:xfrm>
            <a:off x="1097280" y="182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E293B"/>
                </a:solidFill>
              </a:rPr>
              <a:t>체스 </a:t>
            </a:r>
            <a:r>
              <a:rPr lang="en-US" altLang="ko-KR" sz="2600" b="1" dirty="0">
                <a:solidFill>
                  <a:srgbClr val="1E293B"/>
                </a:solidFill>
              </a:rPr>
              <a:t>+ </a:t>
            </a:r>
            <a:r>
              <a:rPr lang="ko-KR" altLang="en-US" sz="2600" b="1" dirty="0">
                <a:solidFill>
                  <a:srgbClr val="1E293B"/>
                </a:solidFill>
              </a:rPr>
              <a:t>제스처 프로젝트 평가 기준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B24FE65-17E5-0DB9-384E-B48829126210}"/>
              </a:ext>
            </a:extLst>
          </p:cNvPr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2A3A5E"/>
          </a:solidFill>
          <a:ln w="1270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C9D30A5-2176-DD2C-7C54-4CD1D8AE8B73}"/>
              </a:ext>
            </a:extLst>
          </p:cNvPr>
          <p:cNvSpPr/>
          <p:nvPr/>
        </p:nvSpPr>
        <p:spPr>
          <a:xfrm>
            <a:off x="365760" y="868680"/>
            <a:ext cx="34747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4512542-27B9-2A7A-D0E8-6047349B7DE2}"/>
              </a:ext>
            </a:extLst>
          </p:cNvPr>
          <p:cNvSpPr/>
          <p:nvPr/>
        </p:nvSpPr>
        <p:spPr>
          <a:xfrm>
            <a:off x="365760" y="868680"/>
            <a:ext cx="347472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812BA8F-9A30-F694-0E3D-7C5A32F19CED}"/>
              </a:ext>
            </a:extLst>
          </p:cNvPr>
          <p:cNvSpPr/>
          <p:nvPr/>
        </p:nvSpPr>
        <p:spPr>
          <a:xfrm>
            <a:off x="502920" y="868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구현 내용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8526506-571A-A19D-8003-FCF86A161EF0}"/>
              </a:ext>
            </a:extLst>
          </p:cNvPr>
          <p:cNvSpPr/>
          <p:nvPr/>
        </p:nvSpPr>
        <p:spPr>
          <a:xfrm>
            <a:off x="548640" y="1527048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4848539-5424-723A-9BFC-A6DE96D567B1}"/>
              </a:ext>
            </a:extLst>
          </p:cNvPr>
          <p:cNvSpPr/>
          <p:nvPr/>
        </p:nvSpPr>
        <p:spPr>
          <a:xfrm>
            <a:off x="822960" y="14813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1400" dirty="0"/>
              <a:t>손 검출 성공 여부</a:t>
            </a:r>
            <a:endParaRPr lang="en-US" sz="13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052490E-0937-1E09-DE69-AF150717A4E6}"/>
              </a:ext>
            </a:extLst>
          </p:cNvPr>
          <p:cNvSpPr/>
          <p:nvPr/>
        </p:nvSpPr>
        <p:spPr>
          <a:xfrm>
            <a:off x="548640" y="1920240"/>
            <a:ext cx="3108960" cy="0"/>
          </a:xfrm>
          <a:prstGeom prst="line">
            <a:avLst/>
          </a:prstGeom>
          <a:noFill/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F33BCC7-F847-043B-BF59-04FEA87EA656}"/>
              </a:ext>
            </a:extLst>
          </p:cNvPr>
          <p:cNvSpPr/>
          <p:nvPr/>
        </p:nvSpPr>
        <p:spPr>
          <a:xfrm>
            <a:off x="548640" y="2093976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A135DFB-1A56-7A12-B1A1-5C7D890DE8CC}"/>
              </a:ext>
            </a:extLst>
          </p:cNvPr>
          <p:cNvSpPr/>
          <p:nvPr/>
        </p:nvSpPr>
        <p:spPr>
          <a:xfrm>
            <a:off x="822960" y="20482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1400" dirty="0"/>
              <a:t>양손 인식 여부</a:t>
            </a:r>
            <a:endParaRPr lang="en-US" sz="13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9D02039-BA4A-BA02-5AB7-FA93B6369E6D}"/>
              </a:ext>
            </a:extLst>
          </p:cNvPr>
          <p:cNvSpPr/>
          <p:nvPr/>
        </p:nvSpPr>
        <p:spPr>
          <a:xfrm>
            <a:off x="548640" y="2487168"/>
            <a:ext cx="3108960" cy="0"/>
          </a:xfrm>
          <a:prstGeom prst="line">
            <a:avLst/>
          </a:prstGeom>
          <a:noFill/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62E1740-9DA3-46E9-F495-1A95FCC59180}"/>
              </a:ext>
            </a:extLst>
          </p:cNvPr>
          <p:cNvSpPr/>
          <p:nvPr/>
        </p:nvSpPr>
        <p:spPr>
          <a:xfrm>
            <a:off x="548640" y="2660904"/>
            <a:ext cx="201168" cy="201168"/>
          </a:xfrm>
          <a:prstGeom prst="ellipse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FC36B0E-4880-C1BA-05ED-1D83BB0FDBFF}"/>
              </a:ext>
            </a:extLst>
          </p:cNvPr>
          <p:cNvSpPr/>
          <p:nvPr/>
        </p:nvSpPr>
        <p:spPr>
          <a:xfrm>
            <a:off x="822960" y="26151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1400" dirty="0"/>
              <a:t>AI 체스 연동 가능</a:t>
            </a:r>
            <a:endParaRPr lang="en-US" sz="13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EBAC34D-C583-D9BE-230A-960D629069FA}"/>
              </a:ext>
            </a:extLst>
          </p:cNvPr>
          <p:cNvSpPr/>
          <p:nvPr/>
        </p:nvSpPr>
        <p:spPr>
          <a:xfrm>
            <a:off x="4206240" y="868680"/>
            <a:ext cx="4572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7325258-CC6B-CE8A-0AC0-F04EE87733AE}"/>
              </a:ext>
            </a:extLst>
          </p:cNvPr>
          <p:cNvSpPr/>
          <p:nvPr/>
        </p:nvSpPr>
        <p:spPr>
          <a:xfrm>
            <a:off x="4206240" y="868680"/>
            <a:ext cx="457200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4653603-A14F-E611-97CC-CC72693319F9}"/>
              </a:ext>
            </a:extLst>
          </p:cNvPr>
          <p:cNvSpPr/>
          <p:nvPr/>
        </p:nvSpPr>
        <p:spPr>
          <a:xfrm>
            <a:off x="4343400" y="868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📝  평가 기준</a:t>
            </a:r>
            <a:endParaRPr lang="en-US" sz="14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3F2D6EF-8914-B86C-3AC3-83B8C40A80AD}"/>
              </a:ext>
            </a:extLst>
          </p:cNvPr>
          <p:cNvSpPr/>
          <p:nvPr/>
        </p:nvSpPr>
        <p:spPr>
          <a:xfrm>
            <a:off x="4297680" y="1389888"/>
            <a:ext cx="4389120" cy="3200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D327C3B-985E-CA78-B529-6690C18448BE}"/>
              </a:ext>
            </a:extLst>
          </p:cNvPr>
          <p:cNvSpPr/>
          <p:nvPr/>
        </p:nvSpPr>
        <p:spPr>
          <a:xfrm>
            <a:off x="429768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항목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90BC14C-27CE-AD0F-3819-1600EA1736FB}"/>
              </a:ext>
            </a:extLst>
          </p:cNvPr>
          <p:cNvSpPr/>
          <p:nvPr/>
        </p:nvSpPr>
        <p:spPr>
          <a:xfrm>
            <a:off x="722376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배점</a:t>
            </a:r>
            <a:endParaRPr lang="en-US" sz="11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837C387-FF25-9C8A-0D1A-76585B102F1A}"/>
              </a:ext>
            </a:extLst>
          </p:cNvPr>
          <p:cNvSpPr/>
          <p:nvPr/>
        </p:nvSpPr>
        <p:spPr>
          <a:xfrm>
            <a:off x="4297680" y="17647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1D72B61-F7FE-DBA1-63B7-978A7E4336F0}"/>
              </a:ext>
            </a:extLst>
          </p:cNvPr>
          <p:cNvSpPr/>
          <p:nvPr/>
        </p:nvSpPr>
        <p:spPr>
          <a:xfrm>
            <a:off x="4297680" y="20391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C89B6D0-BAEC-369D-89C6-EFE199CC2ABA}"/>
              </a:ext>
            </a:extLst>
          </p:cNvPr>
          <p:cNvSpPr/>
          <p:nvPr/>
        </p:nvSpPr>
        <p:spPr>
          <a:xfrm>
            <a:off x="4297680" y="2039112"/>
            <a:ext cx="877824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7D92174-56E9-8C9A-B87F-6DF3C76A61CF}"/>
              </a:ext>
            </a:extLst>
          </p:cNvPr>
          <p:cNvSpPr/>
          <p:nvPr/>
        </p:nvSpPr>
        <p:spPr>
          <a:xfrm>
            <a:off x="43891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200" dirty="0"/>
              <a:t>제스처 인식 정확도</a:t>
            </a:r>
            <a:endParaRPr lang="en-US" sz="1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7BDBB3A-EFD2-6642-F46D-C3FE8A407C56}"/>
              </a:ext>
            </a:extLst>
          </p:cNvPr>
          <p:cNvSpPr/>
          <p:nvPr/>
        </p:nvSpPr>
        <p:spPr>
          <a:xfrm>
            <a:off x="72237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20점</a:t>
            </a:r>
            <a:endParaRPr lang="en-US" sz="13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6534EEA-5B11-0FE1-B122-B92997EE4471}"/>
              </a:ext>
            </a:extLst>
          </p:cNvPr>
          <p:cNvSpPr/>
          <p:nvPr/>
        </p:nvSpPr>
        <p:spPr>
          <a:xfrm>
            <a:off x="4297680" y="22219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DE4844B7-EA79-775D-61D6-1C688910854B}"/>
              </a:ext>
            </a:extLst>
          </p:cNvPr>
          <p:cNvSpPr/>
          <p:nvPr/>
        </p:nvSpPr>
        <p:spPr>
          <a:xfrm>
            <a:off x="4297680" y="24963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18DEC9D-56E6-0F4B-8D6A-4268901C1C7A}"/>
              </a:ext>
            </a:extLst>
          </p:cNvPr>
          <p:cNvSpPr/>
          <p:nvPr/>
        </p:nvSpPr>
        <p:spPr>
          <a:xfrm>
            <a:off x="4297680" y="2496312"/>
            <a:ext cx="877824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1510192-BDC7-3DB4-5BAD-AC91DD8D7539}"/>
              </a:ext>
            </a:extLst>
          </p:cNvPr>
          <p:cNvSpPr/>
          <p:nvPr/>
        </p:nvSpPr>
        <p:spPr>
          <a:xfrm>
            <a:off x="438912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200" dirty="0"/>
              <a:t>체스 말 선택 및 이동 기능</a:t>
            </a:r>
            <a:endParaRPr lang="en-US" sz="12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B5CCF32-072E-860D-2532-F807A80E7515}"/>
              </a:ext>
            </a:extLst>
          </p:cNvPr>
          <p:cNvSpPr/>
          <p:nvPr/>
        </p:nvSpPr>
        <p:spPr>
          <a:xfrm>
            <a:off x="722376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20점</a:t>
            </a:r>
            <a:endParaRPr lang="en-US" sz="13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09EE2A1C-B098-0365-03C5-CB6FABDD0719}"/>
              </a:ext>
            </a:extLst>
          </p:cNvPr>
          <p:cNvSpPr/>
          <p:nvPr/>
        </p:nvSpPr>
        <p:spPr>
          <a:xfrm>
            <a:off x="4297680" y="26791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19ADE48-8EB0-9294-214F-9FBCFBC935F6}"/>
              </a:ext>
            </a:extLst>
          </p:cNvPr>
          <p:cNvSpPr/>
          <p:nvPr/>
        </p:nvSpPr>
        <p:spPr>
          <a:xfrm>
            <a:off x="4297680" y="29535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57F39BF-9A6E-41A4-CCC1-CFB95A964B71}"/>
              </a:ext>
            </a:extLst>
          </p:cNvPr>
          <p:cNvSpPr/>
          <p:nvPr/>
        </p:nvSpPr>
        <p:spPr>
          <a:xfrm>
            <a:off x="4297680" y="2953512"/>
            <a:ext cx="877824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4289FA9-AE52-9C20-D1DC-4F5C3973370D}"/>
              </a:ext>
            </a:extLst>
          </p:cNvPr>
          <p:cNvSpPr/>
          <p:nvPr/>
        </p:nvSpPr>
        <p:spPr>
          <a:xfrm>
            <a:off x="438912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200" dirty="0"/>
              <a:t>사용자 인터페이스(UI)</a:t>
            </a:r>
            <a:endParaRPr lang="en-US" sz="12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9DB38150-BDD7-4F4B-41CB-526F9BCD4E16}"/>
              </a:ext>
            </a:extLst>
          </p:cNvPr>
          <p:cNvSpPr/>
          <p:nvPr/>
        </p:nvSpPr>
        <p:spPr>
          <a:xfrm>
            <a:off x="722376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20점</a:t>
            </a:r>
            <a:endParaRPr lang="en-US" sz="13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232A349-BEAB-5090-5BDB-38626E1356DD}"/>
              </a:ext>
            </a:extLst>
          </p:cNvPr>
          <p:cNvSpPr/>
          <p:nvPr/>
        </p:nvSpPr>
        <p:spPr>
          <a:xfrm>
            <a:off x="4297680" y="3136392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6F64E2BA-ECC0-BACE-4109-5247E785C1A2}"/>
              </a:ext>
            </a:extLst>
          </p:cNvPr>
          <p:cNvSpPr/>
          <p:nvPr/>
        </p:nvSpPr>
        <p:spPr>
          <a:xfrm>
            <a:off x="4297680" y="34107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39504BF0-F59C-EAB1-14D5-F5366261FEFD}"/>
              </a:ext>
            </a:extLst>
          </p:cNvPr>
          <p:cNvSpPr/>
          <p:nvPr/>
        </p:nvSpPr>
        <p:spPr>
          <a:xfrm>
            <a:off x="4297680" y="3410712"/>
            <a:ext cx="877824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50694DA-FAE8-0E29-3715-12D9CBC9B940}"/>
              </a:ext>
            </a:extLst>
          </p:cNvPr>
          <p:cNvSpPr/>
          <p:nvPr/>
        </p:nvSpPr>
        <p:spPr>
          <a:xfrm>
            <a:off x="438912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200" dirty="0"/>
              <a:t>실시간 데이터 처리</a:t>
            </a:r>
            <a:endParaRPr lang="en-US" sz="12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895E5844-1115-6EC6-A5A4-A37851051BAC}"/>
              </a:ext>
            </a:extLst>
          </p:cNvPr>
          <p:cNvSpPr/>
          <p:nvPr/>
        </p:nvSpPr>
        <p:spPr>
          <a:xfrm>
            <a:off x="722376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20점</a:t>
            </a:r>
            <a:endParaRPr lang="en-US" sz="13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D32C454A-8B49-5DC1-F517-2C00B0F4653D}"/>
              </a:ext>
            </a:extLst>
          </p:cNvPr>
          <p:cNvSpPr/>
          <p:nvPr/>
        </p:nvSpPr>
        <p:spPr>
          <a:xfrm>
            <a:off x="4297680" y="3593592"/>
            <a:ext cx="4389120" cy="420624"/>
          </a:xfrm>
          <a:prstGeom prst="rect">
            <a:avLst/>
          </a:prstGeom>
          <a:solidFill>
            <a:srgbClr val="F8FAFD"/>
          </a:solidFill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4710B41D-DA22-EFC2-3EB4-E0B5E66C2B9F}"/>
              </a:ext>
            </a:extLst>
          </p:cNvPr>
          <p:cNvSpPr/>
          <p:nvPr/>
        </p:nvSpPr>
        <p:spPr>
          <a:xfrm>
            <a:off x="4297680" y="3867912"/>
            <a:ext cx="4389120" cy="7315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823BE571-7A7C-C070-A0BA-6CF88B2F764D}"/>
              </a:ext>
            </a:extLst>
          </p:cNvPr>
          <p:cNvSpPr/>
          <p:nvPr/>
        </p:nvSpPr>
        <p:spPr>
          <a:xfrm>
            <a:off x="4297680" y="3867912"/>
            <a:ext cx="877824" cy="73152"/>
          </a:xfrm>
          <a:prstGeom prst="rect">
            <a:avLst/>
          </a:prstGeom>
          <a:solidFill>
            <a:srgbClr val="D63651"/>
          </a:solidFill>
          <a:ln w="12700">
            <a:solidFill>
              <a:srgbClr val="D63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BC621F04-98DE-4300-52B5-ECEEB2BBB54A}"/>
              </a:ext>
            </a:extLst>
          </p:cNvPr>
          <p:cNvSpPr/>
          <p:nvPr/>
        </p:nvSpPr>
        <p:spPr>
          <a:xfrm>
            <a:off x="438912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200"/>
              <a:t>오류 처리 및 안정성</a:t>
            </a:r>
            <a:endParaRPr lang="en-US" sz="12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C0C7CEF6-9FE0-4C8F-3FEC-E2EEC85956AA}"/>
              </a:ext>
            </a:extLst>
          </p:cNvPr>
          <p:cNvSpPr/>
          <p:nvPr/>
        </p:nvSpPr>
        <p:spPr>
          <a:xfrm>
            <a:off x="722376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</a:rPr>
              <a:t>20점</a:t>
            </a:r>
            <a:endParaRPr lang="en-US" sz="130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12C394B7-3E70-409B-9AEE-F666EB9D8C24}"/>
              </a:ext>
            </a:extLst>
          </p:cNvPr>
          <p:cNvSpPr/>
          <p:nvPr/>
        </p:nvSpPr>
        <p:spPr>
          <a:xfrm>
            <a:off x="4297680" y="4050792"/>
            <a:ext cx="4389120" cy="384048"/>
          </a:xfrm>
          <a:prstGeom prst="rect">
            <a:avLst/>
          </a:prstGeom>
          <a:solidFill>
            <a:srgbClr val="FFF8E7"/>
          </a:solidFill>
          <a:ln w="12700">
            <a:solidFill>
              <a:srgbClr val="C47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D7D7FB4D-969F-74B0-B85E-6F48B0F5703A}"/>
              </a:ext>
            </a:extLst>
          </p:cNvPr>
          <p:cNvSpPr/>
          <p:nvPr/>
        </p:nvSpPr>
        <p:spPr>
          <a:xfrm>
            <a:off x="4389120" y="40507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7F00"/>
                </a:solidFill>
              </a:rPr>
              <a:t>합  계</a:t>
            </a:r>
            <a:endParaRPr lang="en-US" sz="13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D0765B92-AD1E-93C8-C1F4-8C87009F7956}"/>
              </a:ext>
            </a:extLst>
          </p:cNvPr>
          <p:cNvSpPr/>
          <p:nvPr/>
        </p:nvSpPr>
        <p:spPr>
          <a:xfrm>
            <a:off x="7223760" y="4050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7F00"/>
                </a:solidFill>
              </a:rPr>
              <a:t>100점</a:t>
            </a:r>
            <a:endParaRPr lang="en-US" sz="1500" dirty="0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A6809850-9761-AB4F-6085-710BC62B4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45" y="3223260"/>
            <a:ext cx="2202559" cy="1719071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D57DE8C3-F0C7-94ED-1C4C-DF7A899F8C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284" t="3710" b="17765"/>
          <a:stretch>
            <a:fillRect/>
          </a:stretch>
        </p:blipFill>
        <p:spPr>
          <a:xfrm>
            <a:off x="2400232" y="3246120"/>
            <a:ext cx="1704761" cy="183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138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428</Words>
  <Application>Microsoft Office PowerPoint</Application>
  <PresentationFormat>화면 슬라이드 쇼(16:9)</PresentationFormat>
  <Paragraphs>217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학생별 평가 기준</dc:title>
  <dc:subject>PptxGenJS Presentation</dc:subject>
  <dc:creator>PptxGenJS</dc:creator>
  <cp:lastModifiedBy>은진 이</cp:lastModifiedBy>
  <cp:revision>2</cp:revision>
  <dcterms:created xsi:type="dcterms:W3CDTF">2026-06-03T15:07:22Z</dcterms:created>
  <dcterms:modified xsi:type="dcterms:W3CDTF">2026-06-03T15:50:39Z</dcterms:modified>
</cp:coreProperties>
</file>